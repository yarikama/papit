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IBM Plex Mon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BMPlexMono-bold.fntdata"/><Relationship Id="rId11" Type="http://schemas.openxmlformats.org/officeDocument/2006/relationships/slide" Target="slides/slide5.xml"/><Relationship Id="rId22" Type="http://schemas.openxmlformats.org/officeDocument/2006/relationships/font" Target="fonts/IBMPlexMono-boldItalic.fntdata"/><Relationship Id="rId10" Type="http://schemas.openxmlformats.org/officeDocument/2006/relationships/slide" Target="slides/slide4.xml"/><Relationship Id="rId21" Type="http://schemas.openxmlformats.org/officeDocument/2006/relationships/font" Target="fonts/IBMPlexMono-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IBMPlexMono-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e6cdf3e858_2_2: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e6cdf3e858_2_2: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Hi everyone — this is PAPIT, joint work with Heng-Jui and Kerstin. The premise is simple: when you ask a vision-language model a question, it shouldn't have to look at every patch of the image. The model already knows what you're asking — surely the prompt is enough to decide which patches matter. We set out to test that intuition. What we found surprised us, and the talk is the story of what happened when the obvious idea didn't work, and what we did about it.</a:t>
            </a:r>
            <a:endParaRPr sz="900"/>
          </a:p>
        </p:txBody>
      </p:sp>
      <p:sp>
        <p:nvSpPr>
          <p:cNvPr id="55" name="Google Shape;55;g3e6cdf3e858_2_2: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6cdf3e858_2_21: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g3e6cdf3e858_2_21: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Here's the cost. LLaVA cuts every image into a 24-by-24 grid — 576 patches, 576 tokens — and every single one rides through every layer of a 7-billion-parameter language model. Self-attention is quadratic in sequence length, so those 576 tokens dominate the bill. Yet for a typical question, fewer than half of them are actually relevant. The rest is wallpaper. So the question is: can we drop them — cheaply, before the LLM ever sees them — without losing the answer.</a:t>
            </a:r>
            <a:endParaRPr sz="900"/>
          </a:p>
        </p:txBody>
      </p:sp>
      <p:sp>
        <p:nvSpPr>
          <p:cNvPr id="73" name="Google Shape;73;g3e6cdf3e858_2_21: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e6cdf3e858_2_613: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g3e6cdf3e858_2_613: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The natural place to ask is the vision tower itself. LLaVA's vision encoder is a CLIP ViT, and CLIP was trained to align images with text. So you'd expect: take the user's prompt, embed it in CLIP, and the patches CLIP thinks match the prompt are the patches the language model will care about. Training-free. Single pass. Beautiful — if it works.</a:t>
            </a:r>
            <a:endParaRPr sz="900"/>
          </a:p>
        </p:txBody>
      </p:sp>
      <p:sp>
        <p:nvSpPr>
          <p:cNvPr id="663" name="Google Shape;663;g3e6cdf3e858_2_613: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6cdf3e858_2_627: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g3e6cdf3e858_2_627: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This is what that looks like. CLIP scores every patch against the prompt with Grad-CAM, we keep the top k, and we splice those few tokens into LLaVA's input. Black squares are everything we threw away. And visually — look at the leather-bag question — it actually works. The saliency lights up the bag. The localization is real.</a:t>
            </a:r>
            <a:endParaRPr sz="900"/>
          </a:p>
        </p:txBody>
      </p:sp>
      <p:sp>
        <p:nvSpPr>
          <p:cNvPr id="677" name="Google Shape;677;g3e6cdf3e858_2_627: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e6cdf3e858_2_678: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g3e6cdf3e858_2_678: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And yet on the benchmark, PAPIT-CLIP is at best a tie with random pruning, and on VQA-v2 at twenty-five percent retention it's nine points worse. So we asked the diagnostic question directly: how correlated is CLIP's saliency with what the language model actually attends to? Spearman rho, three datasets, hundred samples each. Essentially zero. Top-ten-percent overlap below uniform-random. CLIP looks at the bag. The LLM looks somewhere else. So that's our negative result, and it rules out an entire family of training-free, CLIP-aligned pruners.</a:t>
            </a:r>
            <a:endParaRPr sz="900"/>
          </a:p>
        </p:txBody>
      </p:sp>
      <p:sp>
        <p:nvSpPr>
          <p:cNvPr id="722" name="Google Shape;722;g3e6cdf3e858_2_678: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e6cdf3e858_2_738: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6" name="Google Shape;776;g3e6cdf3e858_2_738: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Now the converse. We ran a two-pass oracle — full forward pass, read the LLM's own attention at layer L, prune, regenerate. And mid-layer attention — layers eight through twenty-four — does beat random. The signal exists. It just doesn't live in CLIP. It lives inside the language model, after the question and the image have had a few layers to talk to each other.</a:t>
            </a:r>
            <a:endParaRPr sz="900"/>
          </a:p>
        </p:txBody>
      </p:sp>
      <p:sp>
        <p:nvSpPr>
          <p:cNvPr id="777" name="Google Shape;777;g3e6cdf3e858_2_738: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e6d413debd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g3e6d413debd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But a two-pass oracle is useless in deployment — you've already paid the cost. So we distilled it. PAPIT-Distill is a 1.3-million-parameter MLP that takes the patch features and the prompt embedding and predicts what layer-eight attention would have been. Single pass. Trained on a hundred thousand pairs from GQA, VQA-v2, and TextVQA, with a KL loss against the oracle.</a:t>
            </a:r>
            <a:endParaRPr sz="900"/>
          </a:p>
        </p:txBody>
      </p:sp>
      <p:sp>
        <p:nvSpPr>
          <p:cNvPr id="859" name="Google Shape;859;g3e6d413debd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e6cdf3e858_2_840: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9" name="Google Shape;889;g3e6cdf3e858_2_840: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And here is the headline. TextVQA at twenty-five percent retention — that's a ten-times reduction in attention FLOPs. Random pruning gets twenty-three point seven. CLIP-based pruning gets twenty. PAPIT-Distill gets thirty-six point zero — twelve points over random, and it essentially recovers the unpruned baseline of thirty-six point seven. We kept a quarter of the tokens and lost almost nothing.</a:t>
            </a:r>
            <a:endParaRPr sz="900"/>
          </a:p>
        </p:txBody>
      </p:sp>
      <p:sp>
        <p:nvSpPr>
          <p:cNvPr id="890" name="Google Shape;890;g3e6cdf3e858_2_840: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db52b643d5_3_19: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8" name="Google Shape;938;g3db52b643d5_3_19: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And here is the headline. TextVQA at twenty-five percent retention — that's a ten-times reduction in attention FLOPs. Random pruning gets twenty-three point seven. CLIP-based pruning gets twenty. PAPIT-Distill gets thirty-six point zero — twelve points over random, and it essentially recovers the unpruned baseline of thirty-six point seven. We kept a quarter of the tokens and lost almost nothing.</a:t>
            </a:r>
            <a:endParaRPr sz="900"/>
          </a:p>
        </p:txBody>
      </p:sp>
      <p:sp>
        <p:nvSpPr>
          <p:cNvPr id="939" name="Google Shape;939;g3db52b643d5_3_19: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3e6cdf3e858_2_894: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8" name="Google Shape;988;g3e6cdf3e858_2_894: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And it's fast. Scoring a 576-patch image takes 0.43 milliseconds — about a hundred and fifty times faster than the CLIP scorer it replaces, and five hundred times faster than the oracle it learned from. So you get oracle-level quality at well under a millisecond of overhead.</a:t>
            </a:r>
            <a:endParaRPr sz="900"/>
          </a:p>
        </p:txBody>
      </p:sp>
      <p:sp>
        <p:nvSpPr>
          <p:cNvPr id="989" name="Google Shape;989;g3e6cdf3e858_2_894: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e6d413debd_0_66: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4" name="Google Shape;1024;g3e6d413debd_0_66: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To wrap up, three takeaways. One: training-free CLIP-aligned saliency cannot predict LLM attention — a clean, statistical, cross-dataset negative result. Two: the signal is there, mid-layer inside the LLM. And three: a tiny MLP can imitate that signal in a single forward pass, recovering the unpruned baseline at a tenth of the attention cost. Code's on GitHub. Happy to take questions.</a:t>
            </a:r>
            <a:endParaRPr sz="900"/>
          </a:p>
        </p:txBody>
      </p:sp>
      <p:sp>
        <p:nvSpPr>
          <p:cNvPr id="1025" name="Google Shape;1025;g3e6d413debd_0_66: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db52b643d5_3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3" name="Google Shape;1043;g3db52b643d5_3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sz="900"/>
              <a:t>To wrap up, three takeaways. One: training-free CLIP-aligned saliency cannot predict LLM attention — a clean, statistical, cross-dataset negative result. Two: the signal is there, mid-layer inside the LLM. And three: a tiny MLP can imitate that signal in a single forward pass, recovering the unpruned baseline at a tenth of the attention cost. Code's on GitHub. Happy to take questions.</a:t>
            </a:r>
            <a:endParaRPr sz="900"/>
          </a:p>
        </p:txBody>
      </p:sp>
      <p:sp>
        <p:nvSpPr>
          <p:cNvPr id="1044" name="Google Shape;1044;g3db52b643d5_3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drive.google.com/file/d/1HhtNKhBuYWaiUksrqb5s3tW9ho2L5Eju/view" TargetMode="Externa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cxnSp>
        <p:nvCxnSpPr>
          <p:cNvPr id="57" name="Google Shape;57;p15"/>
          <p:cNvCxnSpPr/>
          <p:nvPr/>
        </p:nvCxnSpPr>
        <p:spPr>
          <a:xfrm>
            <a:off x="7627775" y="1752475"/>
            <a:ext cx="1800" cy="2403300"/>
          </a:xfrm>
          <a:prstGeom prst="straightConnector1">
            <a:avLst/>
          </a:prstGeom>
          <a:noFill/>
          <a:ln cap="flat" cmpd="sng" w="28575">
            <a:solidFill>
              <a:schemeClr val="accent2"/>
            </a:solidFill>
            <a:prstDash val="solid"/>
            <a:round/>
            <a:headEnd len="med" w="med" type="none"/>
            <a:tailEnd len="med" w="med" type="triangle"/>
          </a:ln>
        </p:spPr>
      </p:cxnSp>
      <p:sp>
        <p:nvSpPr>
          <p:cNvPr id="58" name="Google Shape;58;p15"/>
          <p:cNvSpPr/>
          <p:nvPr/>
        </p:nvSpPr>
        <p:spPr>
          <a:xfrm>
            <a:off x="476250" y="1215200"/>
            <a:ext cx="3969000" cy="1647900"/>
          </a:xfrm>
          <a:prstGeom prst="rect">
            <a:avLst/>
          </a:prstGeom>
          <a:noFill/>
          <a:ln>
            <a:noFill/>
          </a:ln>
        </p:spPr>
        <p:txBody>
          <a:bodyPr anchorCtr="0" anchor="t" bIns="12700" lIns="12700" spcFirstLastPara="1" rIns="12700" wrap="square" tIns="12700">
            <a:noAutofit/>
          </a:bodyPr>
          <a:lstStyle/>
          <a:p>
            <a:pPr indent="0" lvl="0" marL="0" marR="0" rtl="0" algn="l">
              <a:lnSpc>
                <a:spcPct val="90000"/>
              </a:lnSpc>
              <a:spcBef>
                <a:spcPts val="0"/>
              </a:spcBef>
              <a:spcAft>
                <a:spcPts val="0"/>
              </a:spcAft>
              <a:buClr>
                <a:srgbClr val="1A140C"/>
              </a:buClr>
              <a:buSzPts val="14300"/>
              <a:buFont typeface="Times New Roman"/>
              <a:buNone/>
            </a:pPr>
            <a:r>
              <a:rPr b="0" i="0" lang="en" sz="10000" u="none" cap="none" strike="noStrike">
                <a:solidFill>
                  <a:srgbClr val="1A140C"/>
                </a:solidFill>
                <a:latin typeface="Times New Roman"/>
                <a:ea typeface="Times New Roman"/>
                <a:cs typeface="Times New Roman"/>
                <a:sym typeface="Times New Roman"/>
              </a:rPr>
              <a:t>PAPIT</a:t>
            </a:r>
            <a:endParaRPr b="0" i="0" sz="10000" u="none" cap="none" strike="noStrike">
              <a:solidFill>
                <a:schemeClr val="dk1"/>
              </a:solidFill>
              <a:latin typeface="Calibri"/>
              <a:ea typeface="Calibri"/>
              <a:cs typeface="Calibri"/>
              <a:sym typeface="Calibri"/>
            </a:endParaRPr>
          </a:p>
        </p:txBody>
      </p:sp>
      <p:sp>
        <p:nvSpPr>
          <p:cNvPr id="59" name="Google Shape;59;p15"/>
          <p:cNvSpPr/>
          <p:nvPr/>
        </p:nvSpPr>
        <p:spPr>
          <a:xfrm>
            <a:off x="476250" y="2571650"/>
            <a:ext cx="4606500" cy="10953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7A1F10"/>
              </a:buClr>
              <a:buSzPts val="2400"/>
              <a:buFont typeface="Times New Roman"/>
              <a:buNone/>
            </a:pPr>
            <a:r>
              <a:rPr b="0" i="1" lang="en" sz="2100" u="none" cap="none" strike="noStrike">
                <a:solidFill>
                  <a:srgbClr val="7A1F10"/>
                </a:solidFill>
                <a:latin typeface="Times New Roman"/>
                <a:ea typeface="Times New Roman"/>
                <a:cs typeface="Times New Roman"/>
                <a:sym typeface="Times New Roman"/>
              </a:rPr>
              <a:t>Prompt-Aware Pruning for Image Tokens</a:t>
            </a:r>
            <a:endParaRPr b="0" i="1" sz="2100" u="none" cap="none" strike="noStrike">
              <a:solidFill>
                <a:srgbClr val="7A1F10"/>
              </a:solidFill>
              <a:latin typeface="Times New Roman"/>
              <a:ea typeface="Times New Roman"/>
              <a:cs typeface="Times New Roman"/>
              <a:sym typeface="Times New Roman"/>
            </a:endParaRPr>
          </a:p>
          <a:p>
            <a:pPr indent="0" lvl="0" marL="0" rtl="0" algn="l">
              <a:lnSpc>
                <a:spcPct val="150000"/>
              </a:lnSpc>
              <a:spcBef>
                <a:spcPts val="0"/>
              </a:spcBef>
              <a:spcAft>
                <a:spcPts val="0"/>
              </a:spcAft>
              <a:buClr>
                <a:srgbClr val="4A3A28"/>
              </a:buClr>
              <a:buSzPts val="1100"/>
              <a:buFont typeface="Times New Roman"/>
              <a:buNone/>
            </a:pPr>
            <a:r>
              <a:rPr lang="en" sz="1300">
                <a:solidFill>
                  <a:srgbClr val="4A3A28"/>
                </a:solidFill>
                <a:latin typeface="Calibri"/>
                <a:ea typeface="Calibri"/>
                <a:cs typeface="Calibri"/>
                <a:sym typeface="Calibri"/>
              </a:rPr>
              <a:t>a study in </a:t>
            </a:r>
            <a:r>
              <a:rPr i="1" lang="en" sz="1300">
                <a:solidFill>
                  <a:srgbClr val="7A1F10"/>
                </a:solidFill>
                <a:latin typeface="Calibri"/>
                <a:ea typeface="Calibri"/>
                <a:cs typeface="Calibri"/>
                <a:sym typeface="Calibri"/>
              </a:rPr>
              <a:t>efficient multimodal inference </a:t>
            </a:r>
            <a:endParaRPr i="1" sz="1300">
              <a:solidFill>
                <a:srgbClr val="7A1F10"/>
              </a:solidFill>
              <a:latin typeface="Calibri"/>
              <a:ea typeface="Calibri"/>
              <a:cs typeface="Calibri"/>
              <a:sym typeface="Calibri"/>
            </a:endParaRPr>
          </a:p>
          <a:p>
            <a:pPr indent="0" lvl="0" marL="0" rtl="0" algn="l">
              <a:lnSpc>
                <a:spcPct val="150000"/>
              </a:lnSpc>
              <a:spcBef>
                <a:spcPts val="0"/>
              </a:spcBef>
              <a:spcAft>
                <a:spcPts val="0"/>
              </a:spcAft>
              <a:buClr>
                <a:srgbClr val="4A3A28"/>
              </a:buClr>
              <a:buSzPts val="1100"/>
              <a:buFont typeface="Times New Roman"/>
              <a:buNone/>
            </a:pPr>
            <a:r>
              <a:rPr lang="en" sz="1300">
                <a:solidFill>
                  <a:srgbClr val="4A3A28"/>
                </a:solidFill>
                <a:latin typeface="Calibri"/>
                <a:ea typeface="Calibri"/>
                <a:cs typeface="Calibri"/>
                <a:sym typeface="Calibri"/>
              </a:rPr>
              <a:t>— and the curious silence between </a:t>
            </a:r>
            <a:r>
              <a:rPr i="1" lang="en" sz="1300">
                <a:solidFill>
                  <a:srgbClr val="4A3A28"/>
                </a:solidFill>
                <a:latin typeface="Calibri"/>
                <a:ea typeface="Calibri"/>
                <a:cs typeface="Calibri"/>
                <a:sym typeface="Calibri"/>
              </a:rPr>
              <a:t>CLIP </a:t>
            </a:r>
            <a:r>
              <a:rPr lang="en" sz="1300">
                <a:solidFill>
                  <a:srgbClr val="4A3A28"/>
                </a:solidFill>
                <a:latin typeface="Calibri"/>
                <a:ea typeface="Calibri"/>
                <a:cs typeface="Calibri"/>
                <a:sym typeface="Calibri"/>
              </a:rPr>
              <a:t>and the </a:t>
            </a:r>
            <a:r>
              <a:rPr i="1" lang="en" sz="1300">
                <a:solidFill>
                  <a:srgbClr val="4A3A28"/>
                </a:solidFill>
                <a:latin typeface="Calibri"/>
                <a:ea typeface="Calibri"/>
                <a:cs typeface="Calibri"/>
                <a:sym typeface="Calibri"/>
              </a:rPr>
              <a:t>LLM</a:t>
            </a:r>
            <a:r>
              <a:rPr lang="en" sz="1300">
                <a:solidFill>
                  <a:srgbClr val="4A3A28"/>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7A1F10"/>
              </a:buClr>
              <a:buSzPts val="2400"/>
              <a:buFont typeface="Times New Roman"/>
              <a:buNone/>
            </a:pPr>
            <a:r>
              <a:t/>
            </a:r>
            <a:endParaRPr i="1" sz="2400">
              <a:solidFill>
                <a:srgbClr val="7A1F10"/>
              </a:solidFill>
              <a:latin typeface="Times New Roman"/>
              <a:ea typeface="Times New Roman"/>
              <a:cs typeface="Times New Roman"/>
              <a:sym typeface="Times New Roman"/>
            </a:endParaRPr>
          </a:p>
        </p:txBody>
      </p:sp>
      <p:sp>
        <p:nvSpPr>
          <p:cNvPr id="60" name="Google Shape;60;p15"/>
          <p:cNvSpPr/>
          <p:nvPr/>
        </p:nvSpPr>
        <p:spPr>
          <a:xfrm>
            <a:off x="476250" y="4072975"/>
            <a:ext cx="28248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IBM Plex Mono"/>
              <a:buNone/>
            </a:pPr>
            <a:r>
              <a:rPr i="0" lang="en" sz="900" u="none" cap="none" strike="noStrike">
                <a:solidFill>
                  <a:srgbClr val="8A7A64"/>
                </a:solidFill>
                <a:latin typeface="Calibri"/>
                <a:ea typeface="Calibri"/>
                <a:cs typeface="Calibri"/>
                <a:sym typeface="Calibri"/>
              </a:rPr>
              <a:t>BY</a:t>
            </a:r>
            <a:endParaRPr i="0" sz="900" u="none" cap="none" strike="noStrike">
              <a:solidFill>
                <a:srgbClr val="8A7A64"/>
              </a:solidFill>
              <a:latin typeface="Calibri"/>
              <a:ea typeface="Calibri"/>
              <a:cs typeface="Calibri"/>
              <a:sym typeface="Calibri"/>
            </a:endParaRPr>
          </a:p>
          <a:p>
            <a:pPr indent="0" lvl="0" marL="0" rtl="0" algn="l">
              <a:spcBef>
                <a:spcPts val="0"/>
              </a:spcBef>
              <a:spcAft>
                <a:spcPts val="0"/>
              </a:spcAft>
              <a:buClr>
                <a:srgbClr val="1A140C"/>
              </a:buClr>
              <a:buSzPts val="1100"/>
              <a:buFont typeface="Times New Roman"/>
              <a:buNone/>
            </a:pPr>
            <a:r>
              <a:rPr i="1" lang="en" sz="1100">
                <a:solidFill>
                  <a:srgbClr val="1A140C"/>
                </a:solidFill>
                <a:latin typeface="Calibri"/>
                <a:ea typeface="Calibri"/>
                <a:cs typeface="Calibri"/>
                <a:sym typeface="Calibri"/>
              </a:rPr>
              <a:t>Chao Hsuan Ho · Heng Jui Hsu · Kerstin Sun</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8A7A64"/>
              </a:buClr>
              <a:buSzPts val="900"/>
              <a:buFont typeface="IBM Plex Mono"/>
              <a:buNone/>
            </a:pPr>
            <a:r>
              <a:t/>
            </a:r>
            <a:endParaRPr sz="900">
              <a:solidFill>
                <a:srgbClr val="8A7A64"/>
              </a:solidFill>
              <a:latin typeface="Calibri"/>
              <a:ea typeface="Calibri"/>
              <a:cs typeface="Calibri"/>
              <a:sym typeface="Calibri"/>
            </a:endParaRPr>
          </a:p>
        </p:txBody>
      </p:sp>
      <p:sp>
        <p:nvSpPr>
          <p:cNvPr id="61" name="Google Shape;61;p15"/>
          <p:cNvSpPr/>
          <p:nvPr/>
        </p:nvSpPr>
        <p:spPr>
          <a:xfrm>
            <a:off x="476250" y="4457675"/>
            <a:ext cx="2669400" cy="330900"/>
          </a:xfrm>
          <a:prstGeom prst="rect">
            <a:avLst/>
          </a:prstGeom>
          <a:noFill/>
          <a:ln>
            <a:noFill/>
          </a:ln>
        </p:spPr>
        <p:txBody>
          <a:bodyPr anchorCtr="0" anchor="t" bIns="12700" lIns="12700" spcFirstLastPara="1" rIns="12700" wrap="square" tIns="12700">
            <a:noAutofit/>
          </a:bodyPr>
          <a:lstStyle/>
          <a:p>
            <a:pPr indent="0" lvl="0" marL="0" rtl="0" algn="l">
              <a:spcBef>
                <a:spcPts val="0"/>
              </a:spcBef>
              <a:spcAft>
                <a:spcPts val="0"/>
              </a:spcAft>
              <a:buClr>
                <a:srgbClr val="8A7A64"/>
              </a:buClr>
              <a:buSzPts val="900"/>
              <a:buFont typeface="IBM Plex Mono"/>
              <a:buNone/>
            </a:pPr>
            <a:r>
              <a:rPr lang="en" sz="900">
                <a:solidFill>
                  <a:srgbClr val="8A7A64"/>
                </a:solidFill>
                <a:latin typeface="Calibri"/>
                <a:ea typeface="Calibri"/>
                <a:cs typeface="Calibri"/>
                <a:sym typeface="Calibri"/>
              </a:rPr>
              <a:t>REPOSITORY</a:t>
            </a:r>
            <a:endParaRPr sz="900">
              <a:solidFill>
                <a:schemeClr val="dk1"/>
              </a:solidFill>
              <a:latin typeface="Calibri"/>
              <a:ea typeface="Calibri"/>
              <a:cs typeface="Calibri"/>
              <a:sym typeface="Calibri"/>
            </a:endParaRPr>
          </a:p>
          <a:p>
            <a:pPr indent="0" lvl="0" marL="0" marR="0" rtl="0" algn="l">
              <a:spcBef>
                <a:spcPts val="0"/>
              </a:spcBef>
              <a:spcAft>
                <a:spcPts val="0"/>
              </a:spcAft>
              <a:buClr>
                <a:srgbClr val="4A3A28"/>
              </a:buClr>
              <a:buSzPts val="1000"/>
              <a:buFont typeface="IBM Plex Mono"/>
              <a:buNone/>
            </a:pPr>
            <a:r>
              <a:rPr i="0" lang="en" sz="1000" u="none" cap="none" strike="noStrike">
                <a:solidFill>
                  <a:srgbClr val="4A3A28"/>
                </a:solidFill>
                <a:latin typeface="Calibri"/>
                <a:ea typeface="Calibri"/>
                <a:cs typeface="Calibri"/>
                <a:sym typeface="Calibri"/>
              </a:rPr>
              <a:t>github.com/yarikama/PAPIT</a:t>
            </a:r>
            <a:endParaRPr i="0" sz="1000" u="none" cap="none" strike="noStrike">
              <a:solidFill>
                <a:schemeClr val="dk1"/>
              </a:solidFill>
              <a:latin typeface="Calibri"/>
              <a:ea typeface="Calibri"/>
              <a:cs typeface="Calibri"/>
              <a:sym typeface="Calibri"/>
            </a:endParaRPr>
          </a:p>
        </p:txBody>
      </p:sp>
      <p:pic>
        <p:nvPicPr>
          <p:cNvPr descr="preencoded.png" id="62" name="Google Shape;62;p15"/>
          <p:cNvPicPr preferRelativeResize="0"/>
          <p:nvPr/>
        </p:nvPicPr>
        <p:blipFill rotWithShape="1">
          <a:blip r:embed="rId3">
            <a:alphaModFix/>
          </a:blip>
          <a:srcRect b="0" l="0" r="0" t="0"/>
          <a:stretch/>
        </p:blipFill>
        <p:spPr>
          <a:xfrm>
            <a:off x="7350107" y="2333070"/>
            <a:ext cx="1316294" cy="1316294"/>
          </a:xfrm>
          <a:prstGeom prst="rect">
            <a:avLst/>
          </a:prstGeom>
          <a:noFill/>
          <a:ln>
            <a:noFill/>
          </a:ln>
        </p:spPr>
      </p:pic>
      <p:sp>
        <p:nvSpPr>
          <p:cNvPr id="63" name="Google Shape;63;p15"/>
          <p:cNvSpPr txBox="1"/>
          <p:nvPr/>
        </p:nvSpPr>
        <p:spPr>
          <a:xfrm>
            <a:off x="5251000" y="1369625"/>
            <a:ext cx="3455400" cy="395400"/>
          </a:xfrm>
          <a:prstGeom prst="rect">
            <a:avLst/>
          </a:prstGeom>
          <a:noFill/>
          <a:ln>
            <a:noFill/>
          </a:ln>
        </p:spPr>
        <p:txBody>
          <a:bodyPr anchorCtr="0" anchor="t" bIns="91425" lIns="91425" spcFirstLastPara="1" rIns="91425" wrap="square" tIns="91425">
            <a:spAutoFit/>
          </a:bodyPr>
          <a:lstStyle/>
          <a:p>
            <a:pPr indent="0" lvl="0" marL="0" rtl="0" algn="ctr">
              <a:lnSpc>
                <a:spcPct val="140000"/>
              </a:lnSpc>
              <a:spcBef>
                <a:spcPts val="0"/>
              </a:spcBef>
              <a:spcAft>
                <a:spcPts val="0"/>
              </a:spcAft>
              <a:buNone/>
            </a:pPr>
            <a:r>
              <a:rPr i="1" lang="en" sz="1369">
                <a:solidFill>
                  <a:srgbClr val="4A3A28"/>
                </a:solidFill>
                <a:latin typeface="Calibri"/>
                <a:ea typeface="Calibri"/>
                <a:cs typeface="Calibri"/>
                <a:sym typeface="Calibri"/>
              </a:rPr>
              <a:t>Prompt: </a:t>
            </a:r>
            <a:r>
              <a:rPr i="1" lang="en" sz="1369">
                <a:solidFill>
                  <a:srgbClr val="4A3A28"/>
                </a:solidFill>
                <a:latin typeface="Calibri"/>
                <a:ea typeface="Calibri"/>
                <a:cs typeface="Calibri"/>
                <a:sym typeface="Calibri"/>
              </a:rPr>
              <a:t>“What is the brand of this camera?”</a:t>
            </a:r>
            <a:endParaRPr sz="1800">
              <a:latin typeface="Calibri"/>
              <a:ea typeface="Calibri"/>
              <a:cs typeface="Calibri"/>
              <a:sym typeface="Calibri"/>
            </a:endParaRPr>
          </a:p>
        </p:txBody>
      </p:sp>
      <p:sp>
        <p:nvSpPr>
          <p:cNvPr id="64" name="Google Shape;64;p15"/>
          <p:cNvSpPr/>
          <p:nvPr/>
        </p:nvSpPr>
        <p:spPr>
          <a:xfrm flipH="1">
            <a:off x="7305300" y="2346188"/>
            <a:ext cx="1419600" cy="1400700"/>
          </a:xfrm>
          <a:prstGeom prst="corner">
            <a:avLst>
              <a:gd fmla="val 57800" name="adj1"/>
              <a:gd fmla="val 50000" name="adj2"/>
            </a:avLst>
          </a:prstGeom>
          <a:solidFill>
            <a:schemeClr val="accent2"/>
          </a:solidFill>
          <a:ln cap="flat" cmpd="sng" w="6550">
            <a:solidFill>
              <a:schemeClr val="lt1"/>
            </a:solidFill>
            <a:prstDash val="solid"/>
            <a:round/>
            <a:headEnd len="sm" w="sm" type="none"/>
            <a:tailEnd len="sm" w="sm" type="none"/>
          </a:ln>
        </p:spPr>
        <p:txBody>
          <a:bodyPr anchorCtr="0" anchor="ctr" bIns="62900" lIns="62900" spcFirstLastPara="1" rIns="62900" wrap="square" tIns="62900">
            <a:noAutofit/>
          </a:bodyPr>
          <a:lstStyle/>
          <a:p>
            <a:pPr indent="0" lvl="0" marL="0" rtl="0" algn="ctr">
              <a:spcBef>
                <a:spcPts val="0"/>
              </a:spcBef>
              <a:spcAft>
                <a:spcPts val="0"/>
              </a:spcAft>
              <a:buNone/>
            </a:pPr>
            <a:r>
              <a:rPr b="1" lang="en" sz="963">
                <a:solidFill>
                  <a:schemeClr val="lt1"/>
                </a:solidFill>
              </a:rPr>
              <a:t>Pruned</a:t>
            </a:r>
            <a:endParaRPr b="1" sz="963">
              <a:solidFill>
                <a:schemeClr val="lt1"/>
              </a:solidFill>
            </a:endParaRPr>
          </a:p>
        </p:txBody>
      </p:sp>
      <p:pic>
        <p:nvPicPr>
          <p:cNvPr descr="preencoded.png" id="65" name="Google Shape;65;p15"/>
          <p:cNvPicPr preferRelativeResize="0"/>
          <p:nvPr/>
        </p:nvPicPr>
        <p:blipFill rotWithShape="1">
          <a:blip r:embed="rId3">
            <a:alphaModFix/>
          </a:blip>
          <a:srcRect b="0" l="0" r="0" t="0"/>
          <a:stretch/>
        </p:blipFill>
        <p:spPr>
          <a:xfrm>
            <a:off x="5304432" y="2398445"/>
            <a:ext cx="1316294" cy="1316294"/>
          </a:xfrm>
          <a:prstGeom prst="rect">
            <a:avLst/>
          </a:prstGeom>
          <a:noFill/>
          <a:ln>
            <a:noFill/>
          </a:ln>
        </p:spPr>
      </p:pic>
      <p:cxnSp>
        <p:nvCxnSpPr>
          <p:cNvPr id="66" name="Google Shape;66;p15"/>
          <p:cNvCxnSpPr/>
          <p:nvPr/>
        </p:nvCxnSpPr>
        <p:spPr>
          <a:xfrm>
            <a:off x="6773200" y="3046538"/>
            <a:ext cx="411000" cy="0"/>
          </a:xfrm>
          <a:prstGeom prst="straightConnector1">
            <a:avLst/>
          </a:prstGeom>
          <a:noFill/>
          <a:ln cap="flat" cmpd="sng" w="28575">
            <a:solidFill>
              <a:schemeClr val="dk2"/>
            </a:solidFill>
            <a:prstDash val="solid"/>
            <a:round/>
            <a:headEnd len="med" w="med" type="none"/>
            <a:tailEnd len="med" w="med" type="triangle"/>
          </a:ln>
        </p:spPr>
      </p:cxnSp>
      <p:cxnSp>
        <p:nvCxnSpPr>
          <p:cNvPr id="67" name="Google Shape;67;p15"/>
          <p:cNvCxnSpPr/>
          <p:nvPr/>
        </p:nvCxnSpPr>
        <p:spPr>
          <a:xfrm flipH="1">
            <a:off x="6012900" y="1923975"/>
            <a:ext cx="9300" cy="429600"/>
          </a:xfrm>
          <a:prstGeom prst="straightConnector1">
            <a:avLst/>
          </a:prstGeom>
          <a:noFill/>
          <a:ln cap="flat" cmpd="sng" w="28575">
            <a:solidFill>
              <a:schemeClr val="accent2"/>
            </a:solidFill>
            <a:prstDash val="solid"/>
            <a:round/>
            <a:headEnd len="med" w="med" type="none"/>
            <a:tailEnd len="med" w="med" type="triangle"/>
          </a:ln>
        </p:spPr>
      </p:cxnSp>
      <p:sp>
        <p:nvSpPr>
          <p:cNvPr id="68" name="Google Shape;68;p15"/>
          <p:cNvSpPr txBox="1"/>
          <p:nvPr/>
        </p:nvSpPr>
        <p:spPr>
          <a:xfrm>
            <a:off x="6620725" y="4314625"/>
            <a:ext cx="2234100" cy="395400"/>
          </a:xfrm>
          <a:prstGeom prst="rect">
            <a:avLst/>
          </a:prstGeom>
          <a:noFill/>
          <a:ln>
            <a:noFill/>
          </a:ln>
        </p:spPr>
        <p:txBody>
          <a:bodyPr anchorCtr="0" anchor="t" bIns="91425" lIns="91425" spcFirstLastPara="1" rIns="91425" wrap="square" tIns="91425">
            <a:spAutoFit/>
          </a:bodyPr>
          <a:lstStyle/>
          <a:p>
            <a:pPr indent="0" lvl="0" marL="0" rtl="0" algn="ctr">
              <a:lnSpc>
                <a:spcPct val="140000"/>
              </a:lnSpc>
              <a:spcBef>
                <a:spcPts val="0"/>
              </a:spcBef>
              <a:spcAft>
                <a:spcPts val="0"/>
              </a:spcAft>
              <a:buNone/>
            </a:pPr>
            <a:r>
              <a:rPr i="1" lang="en" sz="1369">
                <a:solidFill>
                  <a:srgbClr val="4A3A28"/>
                </a:solidFill>
                <a:latin typeface="Calibri"/>
                <a:ea typeface="Calibri"/>
                <a:cs typeface="Calibri"/>
                <a:sym typeface="Calibri"/>
              </a:rPr>
              <a:t>Answer</a:t>
            </a:r>
            <a:r>
              <a:rPr i="1" lang="en" sz="1369">
                <a:solidFill>
                  <a:srgbClr val="4A3A28"/>
                </a:solidFill>
                <a:latin typeface="Calibri"/>
                <a:ea typeface="Calibri"/>
                <a:cs typeface="Calibri"/>
                <a:sym typeface="Calibri"/>
              </a:rPr>
              <a:t>: “The brand is … ”</a:t>
            </a:r>
            <a:endParaRPr sz="1800">
              <a:latin typeface="Calibri"/>
              <a:ea typeface="Calibri"/>
              <a:cs typeface="Calibri"/>
              <a:sym typeface="Calibri"/>
            </a:endParaRPr>
          </a:p>
        </p:txBody>
      </p:sp>
      <p:sp>
        <p:nvSpPr>
          <p:cNvPr id="69" name="Google Shape;69;p15"/>
          <p:cNvSpPr/>
          <p:nvPr/>
        </p:nvSpPr>
        <p:spPr>
          <a:xfrm>
            <a:off x="7445525" y="1883600"/>
            <a:ext cx="366300" cy="330900"/>
          </a:xfrm>
          <a:prstGeom prst="ellipse">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200">
                <a:solidFill>
                  <a:schemeClr val="lt1"/>
                </a:solidFill>
              </a:rPr>
              <a:t>+</a:t>
            </a:r>
            <a:endParaRPr sz="22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 name="Shape 74"/>
        <p:cNvGrpSpPr/>
        <p:nvPr/>
      </p:nvGrpSpPr>
      <p:grpSpPr>
        <a:xfrm>
          <a:off x="0" y="0"/>
          <a:ext cx="0" cy="0"/>
          <a:chOff x="0" y="0"/>
          <a:chExt cx="0" cy="0"/>
        </a:xfrm>
      </p:grpSpPr>
      <p:sp>
        <p:nvSpPr>
          <p:cNvPr id="75" name="Google Shape;75;p16"/>
          <p:cNvSpPr/>
          <p:nvPr/>
        </p:nvSpPr>
        <p:spPr>
          <a:xfrm>
            <a:off x="476250" y="485775"/>
            <a:ext cx="8191500" cy="4763"/>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6" name="Google Shape;76;p16"/>
          <p:cNvSpPr/>
          <p:nvPr/>
        </p:nvSpPr>
        <p:spPr>
          <a:xfrm>
            <a:off x="476250" y="276225"/>
            <a:ext cx="1368600" cy="1476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lang="en" sz="1200">
                <a:solidFill>
                  <a:srgbClr val="8A7A64"/>
                </a:solidFill>
                <a:latin typeface="Calibri"/>
                <a:ea typeface="Calibri"/>
                <a:cs typeface="Calibri"/>
                <a:sym typeface="Calibri"/>
              </a:rPr>
              <a:t>Motivation</a:t>
            </a:r>
            <a:endParaRPr sz="1200">
              <a:solidFill>
                <a:srgbClr val="8A7A64"/>
              </a:solidFill>
              <a:latin typeface="Calibri"/>
              <a:ea typeface="Calibri"/>
              <a:cs typeface="Calibri"/>
              <a:sym typeface="Calibri"/>
            </a:endParaRPr>
          </a:p>
          <a:p>
            <a:pPr indent="0" lvl="0" marL="0" marR="0" rtl="0" algn="l">
              <a:spcBef>
                <a:spcPts val="0"/>
              </a:spcBef>
              <a:spcAft>
                <a:spcPts val="0"/>
              </a:spcAft>
              <a:buClr>
                <a:srgbClr val="8A7A64"/>
              </a:buClr>
              <a:buSzPts val="900"/>
              <a:buFont typeface="Times New Roman"/>
              <a:buNone/>
            </a:pPr>
            <a:r>
              <a:t/>
            </a:r>
            <a:endParaRPr sz="1200">
              <a:solidFill>
                <a:srgbClr val="8A7A64"/>
              </a:solidFill>
              <a:latin typeface="Calibri"/>
              <a:ea typeface="Calibri"/>
              <a:cs typeface="Calibri"/>
              <a:sym typeface="Calibri"/>
            </a:endParaRPr>
          </a:p>
        </p:txBody>
      </p:sp>
      <p:sp>
        <p:nvSpPr>
          <p:cNvPr id="77" name="Google Shape;77;p16"/>
          <p:cNvSpPr/>
          <p:nvPr/>
        </p:nvSpPr>
        <p:spPr>
          <a:xfrm>
            <a:off x="447975" y="824250"/>
            <a:ext cx="4391700" cy="811500"/>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A140C"/>
              </a:buClr>
              <a:buSzPts val="3000"/>
              <a:buFont typeface="Times New Roman"/>
              <a:buNone/>
            </a:pPr>
            <a:r>
              <a:rPr lang="en" sz="3000">
                <a:solidFill>
                  <a:srgbClr val="1A140C"/>
                </a:solidFill>
                <a:latin typeface="Calibri"/>
                <a:ea typeface="Calibri"/>
                <a:cs typeface="Calibri"/>
                <a:sym typeface="Calibri"/>
              </a:rPr>
              <a:t>576</a:t>
            </a:r>
            <a:r>
              <a:rPr i="0" lang="en" sz="3000" u="none" cap="none" strike="noStrike">
                <a:solidFill>
                  <a:srgbClr val="1A140C"/>
                </a:solidFill>
                <a:latin typeface="Calibri"/>
                <a:ea typeface="Calibri"/>
                <a:cs typeface="Calibri"/>
                <a:sym typeface="Calibri"/>
              </a:rPr>
              <a:t> tokens</a:t>
            </a:r>
            <a:r>
              <a:rPr lang="en" sz="3000">
                <a:solidFill>
                  <a:srgbClr val="1A140C"/>
                </a:solidFill>
                <a:latin typeface="Calibri"/>
                <a:ea typeface="Calibri"/>
                <a:cs typeface="Calibri"/>
                <a:sym typeface="Calibri"/>
              </a:rPr>
              <a:t>, 7B parameter</a:t>
            </a:r>
            <a:endParaRPr i="0" sz="3000" u="none" cap="none" strike="noStrike">
              <a:solidFill>
                <a:schemeClr val="dk1"/>
              </a:solidFill>
              <a:latin typeface="Calibri"/>
              <a:ea typeface="Calibri"/>
              <a:cs typeface="Calibri"/>
              <a:sym typeface="Calibri"/>
            </a:endParaRPr>
          </a:p>
        </p:txBody>
      </p:sp>
      <p:sp>
        <p:nvSpPr>
          <p:cNvPr id="78" name="Google Shape;78;p16"/>
          <p:cNvSpPr/>
          <p:nvPr/>
        </p:nvSpPr>
        <p:spPr>
          <a:xfrm>
            <a:off x="447900" y="1488433"/>
            <a:ext cx="4391700" cy="154440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1A140C"/>
              </a:buClr>
              <a:buSzPts val="1200"/>
              <a:buFont typeface="Times New Roman"/>
              <a:buNone/>
            </a:pPr>
            <a:r>
              <a:rPr i="0" lang="en" sz="1200" u="none" cap="none" strike="noStrike">
                <a:solidFill>
                  <a:srgbClr val="1A140C"/>
                </a:solidFill>
                <a:latin typeface="Calibri"/>
                <a:ea typeface="Calibri"/>
                <a:cs typeface="Calibri"/>
                <a:sym typeface="Calibri"/>
              </a:rPr>
              <a:t>LLaVA-1.5 hands its language model a </a:t>
            </a:r>
            <a:r>
              <a:rPr i="1" lang="en" sz="1200" u="none" cap="none" strike="noStrike">
                <a:solidFill>
                  <a:srgbClr val="7A1F10"/>
                </a:solidFill>
                <a:latin typeface="Calibri"/>
                <a:ea typeface="Calibri"/>
                <a:cs typeface="Calibri"/>
                <a:sym typeface="Calibri"/>
              </a:rPr>
              <a:t>24×24 grid </a:t>
            </a:r>
            <a:r>
              <a:rPr i="0" lang="en" sz="1200" u="none" cap="none" strike="noStrike">
                <a:solidFill>
                  <a:srgbClr val="1A140C"/>
                </a:solidFill>
                <a:latin typeface="Calibri"/>
                <a:ea typeface="Calibri"/>
                <a:cs typeface="Calibri"/>
                <a:sym typeface="Calibri"/>
              </a:rPr>
              <a:t>of image patches</a:t>
            </a:r>
            <a:r>
              <a:rPr lang="en" sz="1200">
                <a:solidFill>
                  <a:srgbClr val="1A140C"/>
                </a:solidFill>
                <a:latin typeface="Calibri"/>
                <a:ea typeface="Calibri"/>
                <a:cs typeface="Calibri"/>
                <a:sym typeface="Calibri"/>
              </a:rPr>
              <a:t>,</a:t>
            </a:r>
            <a:endParaRPr sz="1200">
              <a:solidFill>
                <a:srgbClr val="1A140C"/>
              </a:solidFill>
              <a:latin typeface="Calibri"/>
              <a:ea typeface="Calibri"/>
              <a:cs typeface="Calibri"/>
              <a:sym typeface="Calibri"/>
            </a:endParaRPr>
          </a:p>
          <a:p>
            <a:pPr indent="0" lvl="0" marL="0" marR="0" rtl="0" algn="l">
              <a:lnSpc>
                <a:spcPct val="150000"/>
              </a:lnSpc>
              <a:spcBef>
                <a:spcPts val="0"/>
              </a:spcBef>
              <a:spcAft>
                <a:spcPts val="0"/>
              </a:spcAft>
              <a:buClr>
                <a:srgbClr val="1A140C"/>
              </a:buClr>
              <a:buSzPts val="1200"/>
              <a:buFont typeface="Times New Roman"/>
              <a:buNone/>
            </a:pPr>
            <a:r>
              <a:rPr i="0" lang="en" sz="1200" u="none" cap="none" strike="noStrike">
                <a:solidFill>
                  <a:srgbClr val="1A140C"/>
                </a:solidFill>
                <a:latin typeface="Calibri"/>
                <a:ea typeface="Calibri"/>
                <a:cs typeface="Calibri"/>
                <a:sym typeface="Calibri"/>
              </a:rPr>
              <a:t>576 visual tokens that ride through every self-attention layer of a 7B-parameter LLM.</a:t>
            </a:r>
            <a:endParaRPr i="0" sz="1200" u="none" cap="none" strike="noStrike">
              <a:solidFill>
                <a:srgbClr val="1A140C"/>
              </a:solidFill>
              <a:latin typeface="Calibri"/>
              <a:ea typeface="Calibri"/>
              <a:cs typeface="Calibri"/>
              <a:sym typeface="Calibri"/>
            </a:endParaRPr>
          </a:p>
          <a:p>
            <a:pPr indent="0" lvl="0" marL="0" rtl="0" algn="l">
              <a:lnSpc>
                <a:spcPct val="150000"/>
              </a:lnSpc>
              <a:spcBef>
                <a:spcPts val="0"/>
              </a:spcBef>
              <a:spcAft>
                <a:spcPts val="0"/>
              </a:spcAft>
              <a:buClr>
                <a:srgbClr val="1A140C"/>
              </a:buClr>
              <a:buSzPts val="1200"/>
              <a:buFont typeface="Times New Roman"/>
              <a:buNone/>
            </a:pPr>
            <a:r>
              <a:rPr lang="en" sz="1200">
                <a:solidFill>
                  <a:srgbClr val="1A140C"/>
                </a:solidFill>
                <a:latin typeface="Calibri"/>
                <a:ea typeface="Calibri"/>
                <a:cs typeface="Calibri"/>
                <a:sym typeface="Calibri"/>
              </a:rPr>
              <a:t>Cost grows </a:t>
            </a:r>
            <a:r>
              <a:rPr i="1" lang="en" sz="1200">
                <a:solidFill>
                  <a:srgbClr val="7A1F10"/>
                </a:solidFill>
                <a:latin typeface="Calibri"/>
                <a:ea typeface="Calibri"/>
                <a:cs typeface="Calibri"/>
                <a:sym typeface="Calibri"/>
              </a:rPr>
              <a:t>quadratically</a:t>
            </a:r>
            <a:r>
              <a:rPr lang="en" sz="1200">
                <a:solidFill>
                  <a:srgbClr val="1A140C"/>
                </a:solidFill>
                <a:latin typeface="Calibri"/>
                <a:ea typeface="Calibri"/>
                <a:cs typeface="Calibri"/>
                <a:sym typeface="Calibri"/>
              </a:rPr>
              <a:t>. Yet for a typical question, fewer than half of those patches are even relevant.</a:t>
            </a:r>
            <a:endParaRPr sz="120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1A140C"/>
              </a:buClr>
              <a:buSzPts val="1200"/>
              <a:buFont typeface="Times New Roman"/>
              <a:buNone/>
            </a:pPr>
            <a:r>
              <a:t/>
            </a:r>
            <a:endParaRPr sz="1200">
              <a:solidFill>
                <a:srgbClr val="1A140C"/>
              </a:solidFill>
              <a:latin typeface="Calibri"/>
              <a:ea typeface="Calibri"/>
              <a:cs typeface="Calibri"/>
              <a:sym typeface="Calibri"/>
            </a:endParaRPr>
          </a:p>
        </p:txBody>
      </p:sp>
      <p:sp>
        <p:nvSpPr>
          <p:cNvPr id="79" name="Google Shape;79;p16"/>
          <p:cNvSpPr/>
          <p:nvPr/>
        </p:nvSpPr>
        <p:spPr>
          <a:xfrm>
            <a:off x="5789414" y="1266378"/>
            <a:ext cx="2305200" cy="2305200"/>
          </a:xfrm>
          <a:prstGeom prst="rect">
            <a:avLst/>
          </a:prstGeom>
          <a:solidFill>
            <a:srgbClr val="1A140C"/>
          </a:solidFill>
          <a:ln cap="flat" cmpd="sng" w="9525">
            <a:solidFill>
              <a:srgbClr val="1A140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0" name="Google Shape;80;p16"/>
          <p:cNvSpPr/>
          <p:nvPr/>
        </p:nvSpPr>
        <p:spPr>
          <a:xfrm>
            <a:off x="5798939" y="1275904"/>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1" name="Google Shape;81;p16"/>
          <p:cNvSpPr/>
          <p:nvPr/>
        </p:nvSpPr>
        <p:spPr>
          <a:xfrm>
            <a:off x="5894338" y="1275904"/>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2" name="Google Shape;82;p16"/>
          <p:cNvSpPr/>
          <p:nvPr/>
        </p:nvSpPr>
        <p:spPr>
          <a:xfrm>
            <a:off x="5989811" y="1275904"/>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3" name="Google Shape;83;p16"/>
          <p:cNvSpPr/>
          <p:nvPr/>
        </p:nvSpPr>
        <p:spPr>
          <a:xfrm>
            <a:off x="6085210" y="1275904"/>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4" name="Google Shape;84;p16"/>
          <p:cNvSpPr/>
          <p:nvPr/>
        </p:nvSpPr>
        <p:spPr>
          <a:xfrm>
            <a:off x="6180683" y="1275904"/>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5" name="Google Shape;85;p16"/>
          <p:cNvSpPr/>
          <p:nvPr/>
        </p:nvSpPr>
        <p:spPr>
          <a:xfrm>
            <a:off x="6276157" y="1275904"/>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6" name="Google Shape;86;p16"/>
          <p:cNvSpPr/>
          <p:nvPr/>
        </p:nvSpPr>
        <p:spPr>
          <a:xfrm>
            <a:off x="6371556" y="1275904"/>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7" name="Google Shape;87;p16"/>
          <p:cNvSpPr/>
          <p:nvPr/>
        </p:nvSpPr>
        <p:spPr>
          <a:xfrm>
            <a:off x="6467029" y="1275904"/>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8" name="Google Shape;88;p16"/>
          <p:cNvSpPr/>
          <p:nvPr/>
        </p:nvSpPr>
        <p:spPr>
          <a:xfrm>
            <a:off x="6562502" y="1275904"/>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9" name="Google Shape;89;p16"/>
          <p:cNvSpPr/>
          <p:nvPr/>
        </p:nvSpPr>
        <p:spPr>
          <a:xfrm>
            <a:off x="6657901" y="1275904"/>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0" name="Google Shape;90;p16"/>
          <p:cNvSpPr/>
          <p:nvPr/>
        </p:nvSpPr>
        <p:spPr>
          <a:xfrm>
            <a:off x="6753374" y="1275904"/>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1" name="Google Shape;91;p16"/>
          <p:cNvSpPr/>
          <p:nvPr/>
        </p:nvSpPr>
        <p:spPr>
          <a:xfrm>
            <a:off x="6848847" y="1275904"/>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2" name="Google Shape;92;p16"/>
          <p:cNvSpPr/>
          <p:nvPr/>
        </p:nvSpPr>
        <p:spPr>
          <a:xfrm>
            <a:off x="6944246" y="1275904"/>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3" name="Google Shape;93;p16"/>
          <p:cNvSpPr/>
          <p:nvPr/>
        </p:nvSpPr>
        <p:spPr>
          <a:xfrm>
            <a:off x="7039719" y="1275904"/>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4" name="Google Shape;94;p16"/>
          <p:cNvSpPr/>
          <p:nvPr/>
        </p:nvSpPr>
        <p:spPr>
          <a:xfrm>
            <a:off x="7135193" y="1275904"/>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5" name="Google Shape;95;p16"/>
          <p:cNvSpPr/>
          <p:nvPr/>
        </p:nvSpPr>
        <p:spPr>
          <a:xfrm>
            <a:off x="7230591" y="1275904"/>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6" name="Google Shape;96;p16"/>
          <p:cNvSpPr/>
          <p:nvPr/>
        </p:nvSpPr>
        <p:spPr>
          <a:xfrm>
            <a:off x="7326065" y="1275904"/>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7" name="Google Shape;97;p16"/>
          <p:cNvSpPr/>
          <p:nvPr/>
        </p:nvSpPr>
        <p:spPr>
          <a:xfrm>
            <a:off x="7421538" y="1275904"/>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8" name="Google Shape;98;p16"/>
          <p:cNvSpPr/>
          <p:nvPr/>
        </p:nvSpPr>
        <p:spPr>
          <a:xfrm>
            <a:off x="7516937" y="1275904"/>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9" name="Google Shape;99;p16"/>
          <p:cNvSpPr/>
          <p:nvPr/>
        </p:nvSpPr>
        <p:spPr>
          <a:xfrm>
            <a:off x="7612410" y="1275904"/>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0" name="Google Shape;100;p16"/>
          <p:cNvSpPr/>
          <p:nvPr/>
        </p:nvSpPr>
        <p:spPr>
          <a:xfrm>
            <a:off x="7707883" y="1275904"/>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1" name="Google Shape;101;p16"/>
          <p:cNvSpPr/>
          <p:nvPr/>
        </p:nvSpPr>
        <p:spPr>
          <a:xfrm>
            <a:off x="7803282" y="1275904"/>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2" name="Google Shape;102;p16"/>
          <p:cNvSpPr/>
          <p:nvPr/>
        </p:nvSpPr>
        <p:spPr>
          <a:xfrm>
            <a:off x="7898755" y="1275904"/>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3" name="Google Shape;103;p16"/>
          <p:cNvSpPr/>
          <p:nvPr/>
        </p:nvSpPr>
        <p:spPr>
          <a:xfrm>
            <a:off x="7994229" y="1275904"/>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4" name="Google Shape;104;p16"/>
          <p:cNvSpPr/>
          <p:nvPr/>
        </p:nvSpPr>
        <p:spPr>
          <a:xfrm>
            <a:off x="5798939" y="1371303"/>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5" name="Google Shape;105;p16"/>
          <p:cNvSpPr/>
          <p:nvPr/>
        </p:nvSpPr>
        <p:spPr>
          <a:xfrm>
            <a:off x="5894338" y="1371303"/>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6" name="Google Shape;106;p16"/>
          <p:cNvSpPr/>
          <p:nvPr/>
        </p:nvSpPr>
        <p:spPr>
          <a:xfrm>
            <a:off x="5989811" y="1371303"/>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7" name="Google Shape;107;p16"/>
          <p:cNvSpPr/>
          <p:nvPr/>
        </p:nvSpPr>
        <p:spPr>
          <a:xfrm>
            <a:off x="6085210" y="1371303"/>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8" name="Google Shape;108;p16"/>
          <p:cNvSpPr/>
          <p:nvPr/>
        </p:nvSpPr>
        <p:spPr>
          <a:xfrm>
            <a:off x="6180683" y="1371303"/>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9" name="Google Shape;109;p16"/>
          <p:cNvSpPr/>
          <p:nvPr/>
        </p:nvSpPr>
        <p:spPr>
          <a:xfrm>
            <a:off x="6276157" y="1371303"/>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10" name="Google Shape;110;p16"/>
          <p:cNvSpPr/>
          <p:nvPr/>
        </p:nvSpPr>
        <p:spPr>
          <a:xfrm>
            <a:off x="6371556" y="1371303"/>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11" name="Google Shape;111;p16"/>
          <p:cNvSpPr/>
          <p:nvPr/>
        </p:nvSpPr>
        <p:spPr>
          <a:xfrm>
            <a:off x="6467029" y="1371303"/>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12" name="Google Shape;112;p16"/>
          <p:cNvSpPr/>
          <p:nvPr/>
        </p:nvSpPr>
        <p:spPr>
          <a:xfrm>
            <a:off x="6562502" y="1371303"/>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13" name="Google Shape;113;p16"/>
          <p:cNvSpPr/>
          <p:nvPr/>
        </p:nvSpPr>
        <p:spPr>
          <a:xfrm>
            <a:off x="6657901" y="1371303"/>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14" name="Google Shape;114;p16"/>
          <p:cNvSpPr/>
          <p:nvPr/>
        </p:nvSpPr>
        <p:spPr>
          <a:xfrm>
            <a:off x="6753374" y="1371303"/>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15" name="Google Shape;115;p16"/>
          <p:cNvSpPr/>
          <p:nvPr/>
        </p:nvSpPr>
        <p:spPr>
          <a:xfrm>
            <a:off x="6848847" y="1371303"/>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16" name="Google Shape;116;p16"/>
          <p:cNvSpPr/>
          <p:nvPr/>
        </p:nvSpPr>
        <p:spPr>
          <a:xfrm>
            <a:off x="6944246" y="1371303"/>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17" name="Google Shape;117;p16"/>
          <p:cNvSpPr/>
          <p:nvPr/>
        </p:nvSpPr>
        <p:spPr>
          <a:xfrm>
            <a:off x="7039719" y="1371303"/>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18" name="Google Shape;118;p16"/>
          <p:cNvSpPr/>
          <p:nvPr/>
        </p:nvSpPr>
        <p:spPr>
          <a:xfrm>
            <a:off x="7135193" y="1371303"/>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19" name="Google Shape;119;p16"/>
          <p:cNvSpPr/>
          <p:nvPr/>
        </p:nvSpPr>
        <p:spPr>
          <a:xfrm>
            <a:off x="7230591" y="1371303"/>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20" name="Google Shape;120;p16"/>
          <p:cNvSpPr/>
          <p:nvPr/>
        </p:nvSpPr>
        <p:spPr>
          <a:xfrm>
            <a:off x="7326065" y="1371303"/>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21" name="Google Shape;121;p16"/>
          <p:cNvSpPr/>
          <p:nvPr/>
        </p:nvSpPr>
        <p:spPr>
          <a:xfrm>
            <a:off x="7421538" y="1371303"/>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22" name="Google Shape;122;p16"/>
          <p:cNvSpPr/>
          <p:nvPr/>
        </p:nvSpPr>
        <p:spPr>
          <a:xfrm>
            <a:off x="7516937" y="1371303"/>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23" name="Google Shape;123;p16"/>
          <p:cNvSpPr/>
          <p:nvPr/>
        </p:nvSpPr>
        <p:spPr>
          <a:xfrm>
            <a:off x="7612410" y="1371303"/>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24" name="Google Shape;124;p16"/>
          <p:cNvSpPr/>
          <p:nvPr/>
        </p:nvSpPr>
        <p:spPr>
          <a:xfrm>
            <a:off x="7707883" y="1371303"/>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25" name="Google Shape;125;p16"/>
          <p:cNvSpPr/>
          <p:nvPr/>
        </p:nvSpPr>
        <p:spPr>
          <a:xfrm>
            <a:off x="7803282" y="1371303"/>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26" name="Google Shape;126;p16"/>
          <p:cNvSpPr/>
          <p:nvPr/>
        </p:nvSpPr>
        <p:spPr>
          <a:xfrm>
            <a:off x="7898755" y="1371303"/>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27" name="Google Shape;127;p16"/>
          <p:cNvSpPr/>
          <p:nvPr/>
        </p:nvSpPr>
        <p:spPr>
          <a:xfrm>
            <a:off x="7994229" y="1371303"/>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28" name="Google Shape;128;p16"/>
          <p:cNvSpPr/>
          <p:nvPr/>
        </p:nvSpPr>
        <p:spPr>
          <a:xfrm>
            <a:off x="5798939" y="1466776"/>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29" name="Google Shape;129;p16"/>
          <p:cNvSpPr/>
          <p:nvPr/>
        </p:nvSpPr>
        <p:spPr>
          <a:xfrm>
            <a:off x="5894338" y="1466776"/>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0" name="Google Shape;130;p16"/>
          <p:cNvSpPr/>
          <p:nvPr/>
        </p:nvSpPr>
        <p:spPr>
          <a:xfrm>
            <a:off x="5989811" y="1466776"/>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1" name="Google Shape;131;p16"/>
          <p:cNvSpPr/>
          <p:nvPr/>
        </p:nvSpPr>
        <p:spPr>
          <a:xfrm>
            <a:off x="6085210" y="1466776"/>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2" name="Google Shape;132;p16"/>
          <p:cNvSpPr/>
          <p:nvPr/>
        </p:nvSpPr>
        <p:spPr>
          <a:xfrm>
            <a:off x="6180683" y="1466776"/>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3" name="Google Shape;133;p16"/>
          <p:cNvSpPr/>
          <p:nvPr/>
        </p:nvSpPr>
        <p:spPr>
          <a:xfrm>
            <a:off x="6276157" y="1466776"/>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4" name="Google Shape;134;p16"/>
          <p:cNvSpPr/>
          <p:nvPr/>
        </p:nvSpPr>
        <p:spPr>
          <a:xfrm>
            <a:off x="6371556" y="1466776"/>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5" name="Google Shape;135;p16"/>
          <p:cNvSpPr/>
          <p:nvPr/>
        </p:nvSpPr>
        <p:spPr>
          <a:xfrm>
            <a:off x="6467029" y="1466776"/>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6" name="Google Shape;136;p16"/>
          <p:cNvSpPr/>
          <p:nvPr/>
        </p:nvSpPr>
        <p:spPr>
          <a:xfrm>
            <a:off x="6562502" y="1466776"/>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7" name="Google Shape;137;p16"/>
          <p:cNvSpPr/>
          <p:nvPr/>
        </p:nvSpPr>
        <p:spPr>
          <a:xfrm>
            <a:off x="6657901" y="1466776"/>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8" name="Google Shape;138;p16"/>
          <p:cNvSpPr/>
          <p:nvPr/>
        </p:nvSpPr>
        <p:spPr>
          <a:xfrm>
            <a:off x="6753374" y="1466776"/>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9" name="Google Shape;139;p16"/>
          <p:cNvSpPr/>
          <p:nvPr/>
        </p:nvSpPr>
        <p:spPr>
          <a:xfrm>
            <a:off x="6848847" y="1466776"/>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0" name="Google Shape;140;p16"/>
          <p:cNvSpPr/>
          <p:nvPr/>
        </p:nvSpPr>
        <p:spPr>
          <a:xfrm>
            <a:off x="6944246" y="1466776"/>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1" name="Google Shape;141;p16"/>
          <p:cNvSpPr/>
          <p:nvPr/>
        </p:nvSpPr>
        <p:spPr>
          <a:xfrm>
            <a:off x="7039719" y="1466776"/>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2" name="Google Shape;142;p16"/>
          <p:cNvSpPr/>
          <p:nvPr/>
        </p:nvSpPr>
        <p:spPr>
          <a:xfrm>
            <a:off x="7135193" y="1466776"/>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3" name="Google Shape;143;p16"/>
          <p:cNvSpPr/>
          <p:nvPr/>
        </p:nvSpPr>
        <p:spPr>
          <a:xfrm>
            <a:off x="7230591" y="1466776"/>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4" name="Google Shape;144;p16"/>
          <p:cNvSpPr/>
          <p:nvPr/>
        </p:nvSpPr>
        <p:spPr>
          <a:xfrm>
            <a:off x="7326065" y="1466776"/>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5" name="Google Shape;145;p16"/>
          <p:cNvSpPr/>
          <p:nvPr/>
        </p:nvSpPr>
        <p:spPr>
          <a:xfrm>
            <a:off x="7421538" y="1466776"/>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6" name="Google Shape;146;p16"/>
          <p:cNvSpPr/>
          <p:nvPr/>
        </p:nvSpPr>
        <p:spPr>
          <a:xfrm>
            <a:off x="7516937" y="1466776"/>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7" name="Google Shape;147;p16"/>
          <p:cNvSpPr/>
          <p:nvPr/>
        </p:nvSpPr>
        <p:spPr>
          <a:xfrm>
            <a:off x="7612410" y="1466776"/>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8" name="Google Shape;148;p16"/>
          <p:cNvSpPr/>
          <p:nvPr/>
        </p:nvSpPr>
        <p:spPr>
          <a:xfrm>
            <a:off x="7707883" y="1466776"/>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9" name="Google Shape;149;p16"/>
          <p:cNvSpPr/>
          <p:nvPr/>
        </p:nvSpPr>
        <p:spPr>
          <a:xfrm>
            <a:off x="7803282" y="1466776"/>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0" name="Google Shape;150;p16"/>
          <p:cNvSpPr/>
          <p:nvPr/>
        </p:nvSpPr>
        <p:spPr>
          <a:xfrm>
            <a:off x="7898755" y="1466776"/>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1" name="Google Shape;151;p16"/>
          <p:cNvSpPr/>
          <p:nvPr/>
        </p:nvSpPr>
        <p:spPr>
          <a:xfrm>
            <a:off x="7994229" y="1466776"/>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2" name="Google Shape;152;p16"/>
          <p:cNvSpPr/>
          <p:nvPr/>
        </p:nvSpPr>
        <p:spPr>
          <a:xfrm>
            <a:off x="5798939" y="1562175"/>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3" name="Google Shape;153;p16"/>
          <p:cNvSpPr/>
          <p:nvPr/>
        </p:nvSpPr>
        <p:spPr>
          <a:xfrm>
            <a:off x="5894338" y="1562175"/>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4" name="Google Shape;154;p16"/>
          <p:cNvSpPr/>
          <p:nvPr/>
        </p:nvSpPr>
        <p:spPr>
          <a:xfrm>
            <a:off x="5989811" y="1562175"/>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5" name="Google Shape;155;p16"/>
          <p:cNvSpPr/>
          <p:nvPr/>
        </p:nvSpPr>
        <p:spPr>
          <a:xfrm>
            <a:off x="6085210" y="1562175"/>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6" name="Google Shape;156;p16"/>
          <p:cNvSpPr/>
          <p:nvPr/>
        </p:nvSpPr>
        <p:spPr>
          <a:xfrm>
            <a:off x="6180683" y="1562175"/>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7" name="Google Shape;157;p16"/>
          <p:cNvSpPr/>
          <p:nvPr/>
        </p:nvSpPr>
        <p:spPr>
          <a:xfrm>
            <a:off x="6276157" y="1562175"/>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8" name="Google Shape;158;p16"/>
          <p:cNvSpPr/>
          <p:nvPr/>
        </p:nvSpPr>
        <p:spPr>
          <a:xfrm>
            <a:off x="6371556" y="1562175"/>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9" name="Google Shape;159;p16"/>
          <p:cNvSpPr/>
          <p:nvPr/>
        </p:nvSpPr>
        <p:spPr>
          <a:xfrm>
            <a:off x="6467029" y="1562175"/>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60" name="Google Shape;160;p16"/>
          <p:cNvSpPr/>
          <p:nvPr/>
        </p:nvSpPr>
        <p:spPr>
          <a:xfrm>
            <a:off x="6562502" y="1562175"/>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61" name="Google Shape;161;p16"/>
          <p:cNvSpPr/>
          <p:nvPr/>
        </p:nvSpPr>
        <p:spPr>
          <a:xfrm>
            <a:off x="6657901" y="1562175"/>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62" name="Google Shape;162;p16"/>
          <p:cNvSpPr/>
          <p:nvPr/>
        </p:nvSpPr>
        <p:spPr>
          <a:xfrm>
            <a:off x="6753374" y="1562175"/>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63" name="Google Shape;163;p16"/>
          <p:cNvSpPr/>
          <p:nvPr/>
        </p:nvSpPr>
        <p:spPr>
          <a:xfrm>
            <a:off x="6848847" y="1562175"/>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64" name="Google Shape;164;p16"/>
          <p:cNvSpPr/>
          <p:nvPr/>
        </p:nvSpPr>
        <p:spPr>
          <a:xfrm>
            <a:off x="6944246" y="1562175"/>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65" name="Google Shape;165;p16"/>
          <p:cNvSpPr/>
          <p:nvPr/>
        </p:nvSpPr>
        <p:spPr>
          <a:xfrm>
            <a:off x="7039719" y="1562175"/>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66" name="Google Shape;166;p16"/>
          <p:cNvSpPr/>
          <p:nvPr/>
        </p:nvSpPr>
        <p:spPr>
          <a:xfrm>
            <a:off x="7135193" y="1562175"/>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67" name="Google Shape;167;p16"/>
          <p:cNvSpPr/>
          <p:nvPr/>
        </p:nvSpPr>
        <p:spPr>
          <a:xfrm>
            <a:off x="7230591" y="1562175"/>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68" name="Google Shape;168;p16"/>
          <p:cNvSpPr/>
          <p:nvPr/>
        </p:nvSpPr>
        <p:spPr>
          <a:xfrm>
            <a:off x="7326065" y="1562175"/>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69" name="Google Shape;169;p16"/>
          <p:cNvSpPr/>
          <p:nvPr/>
        </p:nvSpPr>
        <p:spPr>
          <a:xfrm>
            <a:off x="7421538" y="1562175"/>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70" name="Google Shape;170;p16"/>
          <p:cNvSpPr/>
          <p:nvPr/>
        </p:nvSpPr>
        <p:spPr>
          <a:xfrm>
            <a:off x="7516937" y="1562175"/>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71" name="Google Shape;171;p16"/>
          <p:cNvSpPr/>
          <p:nvPr/>
        </p:nvSpPr>
        <p:spPr>
          <a:xfrm>
            <a:off x="7612410" y="1562175"/>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72" name="Google Shape;172;p16"/>
          <p:cNvSpPr/>
          <p:nvPr/>
        </p:nvSpPr>
        <p:spPr>
          <a:xfrm>
            <a:off x="7707883" y="1562175"/>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73" name="Google Shape;173;p16"/>
          <p:cNvSpPr/>
          <p:nvPr/>
        </p:nvSpPr>
        <p:spPr>
          <a:xfrm>
            <a:off x="7803282" y="1562175"/>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74" name="Google Shape;174;p16"/>
          <p:cNvSpPr/>
          <p:nvPr/>
        </p:nvSpPr>
        <p:spPr>
          <a:xfrm>
            <a:off x="7898755" y="1562175"/>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75" name="Google Shape;175;p16"/>
          <p:cNvSpPr/>
          <p:nvPr/>
        </p:nvSpPr>
        <p:spPr>
          <a:xfrm>
            <a:off x="7994229" y="1562175"/>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76" name="Google Shape;176;p16"/>
          <p:cNvSpPr/>
          <p:nvPr/>
        </p:nvSpPr>
        <p:spPr>
          <a:xfrm>
            <a:off x="5798939" y="1657647"/>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77" name="Google Shape;177;p16"/>
          <p:cNvSpPr/>
          <p:nvPr/>
        </p:nvSpPr>
        <p:spPr>
          <a:xfrm>
            <a:off x="5894338" y="1657647"/>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78" name="Google Shape;178;p16"/>
          <p:cNvSpPr/>
          <p:nvPr/>
        </p:nvSpPr>
        <p:spPr>
          <a:xfrm>
            <a:off x="5989811" y="1657647"/>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79" name="Google Shape;179;p16"/>
          <p:cNvSpPr/>
          <p:nvPr/>
        </p:nvSpPr>
        <p:spPr>
          <a:xfrm>
            <a:off x="6085210" y="1657647"/>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80" name="Google Shape;180;p16"/>
          <p:cNvSpPr/>
          <p:nvPr/>
        </p:nvSpPr>
        <p:spPr>
          <a:xfrm>
            <a:off x="6180683" y="1657647"/>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81" name="Google Shape;181;p16"/>
          <p:cNvSpPr/>
          <p:nvPr/>
        </p:nvSpPr>
        <p:spPr>
          <a:xfrm>
            <a:off x="6276157" y="1657647"/>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82" name="Google Shape;182;p16"/>
          <p:cNvSpPr/>
          <p:nvPr/>
        </p:nvSpPr>
        <p:spPr>
          <a:xfrm>
            <a:off x="6371556" y="1657647"/>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83" name="Google Shape;183;p16"/>
          <p:cNvSpPr/>
          <p:nvPr/>
        </p:nvSpPr>
        <p:spPr>
          <a:xfrm>
            <a:off x="6467029" y="1657647"/>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84" name="Google Shape;184;p16"/>
          <p:cNvSpPr/>
          <p:nvPr/>
        </p:nvSpPr>
        <p:spPr>
          <a:xfrm>
            <a:off x="6562502" y="1657647"/>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85" name="Google Shape;185;p16"/>
          <p:cNvSpPr/>
          <p:nvPr/>
        </p:nvSpPr>
        <p:spPr>
          <a:xfrm>
            <a:off x="6657901" y="1657647"/>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86" name="Google Shape;186;p16"/>
          <p:cNvSpPr/>
          <p:nvPr/>
        </p:nvSpPr>
        <p:spPr>
          <a:xfrm>
            <a:off x="6753374" y="1657647"/>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87" name="Google Shape;187;p16"/>
          <p:cNvSpPr/>
          <p:nvPr/>
        </p:nvSpPr>
        <p:spPr>
          <a:xfrm>
            <a:off x="6848847" y="1657647"/>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88" name="Google Shape;188;p16"/>
          <p:cNvSpPr/>
          <p:nvPr/>
        </p:nvSpPr>
        <p:spPr>
          <a:xfrm>
            <a:off x="6944246" y="1657647"/>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89" name="Google Shape;189;p16"/>
          <p:cNvSpPr/>
          <p:nvPr/>
        </p:nvSpPr>
        <p:spPr>
          <a:xfrm>
            <a:off x="7039719" y="1657647"/>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90" name="Google Shape;190;p16"/>
          <p:cNvSpPr/>
          <p:nvPr/>
        </p:nvSpPr>
        <p:spPr>
          <a:xfrm>
            <a:off x="7135193" y="1657647"/>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91" name="Google Shape;191;p16"/>
          <p:cNvSpPr/>
          <p:nvPr/>
        </p:nvSpPr>
        <p:spPr>
          <a:xfrm>
            <a:off x="7230591" y="1657647"/>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92" name="Google Shape;192;p16"/>
          <p:cNvSpPr/>
          <p:nvPr/>
        </p:nvSpPr>
        <p:spPr>
          <a:xfrm>
            <a:off x="7326065" y="1657647"/>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93" name="Google Shape;193;p16"/>
          <p:cNvSpPr/>
          <p:nvPr/>
        </p:nvSpPr>
        <p:spPr>
          <a:xfrm>
            <a:off x="7421538" y="1657647"/>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94" name="Google Shape;194;p16"/>
          <p:cNvSpPr/>
          <p:nvPr/>
        </p:nvSpPr>
        <p:spPr>
          <a:xfrm>
            <a:off x="7516937" y="1657647"/>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95" name="Google Shape;195;p16"/>
          <p:cNvSpPr/>
          <p:nvPr/>
        </p:nvSpPr>
        <p:spPr>
          <a:xfrm>
            <a:off x="7612410" y="1657647"/>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96" name="Google Shape;196;p16"/>
          <p:cNvSpPr/>
          <p:nvPr/>
        </p:nvSpPr>
        <p:spPr>
          <a:xfrm>
            <a:off x="7707883" y="1657647"/>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97" name="Google Shape;197;p16"/>
          <p:cNvSpPr/>
          <p:nvPr/>
        </p:nvSpPr>
        <p:spPr>
          <a:xfrm>
            <a:off x="7803282" y="1657647"/>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98" name="Google Shape;198;p16"/>
          <p:cNvSpPr/>
          <p:nvPr/>
        </p:nvSpPr>
        <p:spPr>
          <a:xfrm>
            <a:off x="7898755" y="1657647"/>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99" name="Google Shape;199;p16"/>
          <p:cNvSpPr/>
          <p:nvPr/>
        </p:nvSpPr>
        <p:spPr>
          <a:xfrm>
            <a:off x="7994229" y="1657647"/>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00" name="Google Shape;200;p16"/>
          <p:cNvSpPr/>
          <p:nvPr/>
        </p:nvSpPr>
        <p:spPr>
          <a:xfrm>
            <a:off x="5798939" y="1753121"/>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01" name="Google Shape;201;p16"/>
          <p:cNvSpPr/>
          <p:nvPr/>
        </p:nvSpPr>
        <p:spPr>
          <a:xfrm>
            <a:off x="5894338" y="1753121"/>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02" name="Google Shape;202;p16"/>
          <p:cNvSpPr/>
          <p:nvPr/>
        </p:nvSpPr>
        <p:spPr>
          <a:xfrm>
            <a:off x="5989811" y="1753121"/>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03" name="Google Shape;203;p16"/>
          <p:cNvSpPr/>
          <p:nvPr/>
        </p:nvSpPr>
        <p:spPr>
          <a:xfrm>
            <a:off x="6085210" y="1753121"/>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04" name="Google Shape;204;p16"/>
          <p:cNvSpPr/>
          <p:nvPr/>
        </p:nvSpPr>
        <p:spPr>
          <a:xfrm>
            <a:off x="6180683" y="1753121"/>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05" name="Google Shape;205;p16"/>
          <p:cNvSpPr/>
          <p:nvPr/>
        </p:nvSpPr>
        <p:spPr>
          <a:xfrm>
            <a:off x="6276157" y="1753121"/>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06" name="Google Shape;206;p16"/>
          <p:cNvSpPr/>
          <p:nvPr/>
        </p:nvSpPr>
        <p:spPr>
          <a:xfrm>
            <a:off x="6371556" y="1753121"/>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07" name="Google Shape;207;p16"/>
          <p:cNvSpPr/>
          <p:nvPr/>
        </p:nvSpPr>
        <p:spPr>
          <a:xfrm>
            <a:off x="6467029" y="1753121"/>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08" name="Google Shape;208;p16"/>
          <p:cNvSpPr/>
          <p:nvPr/>
        </p:nvSpPr>
        <p:spPr>
          <a:xfrm>
            <a:off x="6562502" y="1753121"/>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09" name="Google Shape;209;p16"/>
          <p:cNvSpPr/>
          <p:nvPr/>
        </p:nvSpPr>
        <p:spPr>
          <a:xfrm>
            <a:off x="6657901" y="1753121"/>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10" name="Google Shape;210;p16"/>
          <p:cNvSpPr/>
          <p:nvPr/>
        </p:nvSpPr>
        <p:spPr>
          <a:xfrm>
            <a:off x="6753374" y="1753121"/>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11" name="Google Shape;211;p16"/>
          <p:cNvSpPr/>
          <p:nvPr/>
        </p:nvSpPr>
        <p:spPr>
          <a:xfrm>
            <a:off x="6848847" y="1753121"/>
            <a:ext cx="90600" cy="90600"/>
          </a:xfrm>
          <a:prstGeom prst="rect">
            <a:avLst/>
          </a:prstGeom>
          <a:solidFill>
            <a:srgbClr val="7A1F10">
              <a:alpha val="8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12" name="Google Shape;212;p16"/>
          <p:cNvSpPr/>
          <p:nvPr/>
        </p:nvSpPr>
        <p:spPr>
          <a:xfrm>
            <a:off x="6944246" y="1753121"/>
            <a:ext cx="90600" cy="90600"/>
          </a:xfrm>
          <a:prstGeom prst="rect">
            <a:avLst/>
          </a:prstGeom>
          <a:solidFill>
            <a:srgbClr val="7A1F10">
              <a:alpha val="9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13" name="Google Shape;213;p16"/>
          <p:cNvSpPr/>
          <p:nvPr/>
        </p:nvSpPr>
        <p:spPr>
          <a:xfrm>
            <a:off x="7039719" y="1753121"/>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14" name="Google Shape;214;p16"/>
          <p:cNvSpPr/>
          <p:nvPr/>
        </p:nvSpPr>
        <p:spPr>
          <a:xfrm>
            <a:off x="7135193" y="1753121"/>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15" name="Google Shape;215;p16"/>
          <p:cNvSpPr/>
          <p:nvPr/>
        </p:nvSpPr>
        <p:spPr>
          <a:xfrm>
            <a:off x="7230591" y="1753121"/>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16" name="Google Shape;216;p16"/>
          <p:cNvSpPr/>
          <p:nvPr/>
        </p:nvSpPr>
        <p:spPr>
          <a:xfrm>
            <a:off x="7326065" y="1753121"/>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17" name="Google Shape;217;p16"/>
          <p:cNvSpPr/>
          <p:nvPr/>
        </p:nvSpPr>
        <p:spPr>
          <a:xfrm>
            <a:off x="7421538" y="1753121"/>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18" name="Google Shape;218;p16"/>
          <p:cNvSpPr/>
          <p:nvPr/>
        </p:nvSpPr>
        <p:spPr>
          <a:xfrm>
            <a:off x="7516937" y="1753121"/>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19" name="Google Shape;219;p16"/>
          <p:cNvSpPr/>
          <p:nvPr/>
        </p:nvSpPr>
        <p:spPr>
          <a:xfrm>
            <a:off x="7612410" y="1753121"/>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20" name="Google Shape;220;p16"/>
          <p:cNvSpPr/>
          <p:nvPr/>
        </p:nvSpPr>
        <p:spPr>
          <a:xfrm>
            <a:off x="7707883" y="1753121"/>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21" name="Google Shape;221;p16"/>
          <p:cNvSpPr/>
          <p:nvPr/>
        </p:nvSpPr>
        <p:spPr>
          <a:xfrm>
            <a:off x="7803282" y="1753121"/>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22" name="Google Shape;222;p16"/>
          <p:cNvSpPr/>
          <p:nvPr/>
        </p:nvSpPr>
        <p:spPr>
          <a:xfrm>
            <a:off x="7898755" y="1753121"/>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23" name="Google Shape;223;p16"/>
          <p:cNvSpPr/>
          <p:nvPr/>
        </p:nvSpPr>
        <p:spPr>
          <a:xfrm>
            <a:off x="7994229" y="1753121"/>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24" name="Google Shape;224;p16"/>
          <p:cNvSpPr/>
          <p:nvPr/>
        </p:nvSpPr>
        <p:spPr>
          <a:xfrm>
            <a:off x="5798939" y="1848520"/>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25" name="Google Shape;225;p16"/>
          <p:cNvSpPr/>
          <p:nvPr/>
        </p:nvSpPr>
        <p:spPr>
          <a:xfrm>
            <a:off x="5894338" y="1848520"/>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26" name="Google Shape;226;p16"/>
          <p:cNvSpPr/>
          <p:nvPr/>
        </p:nvSpPr>
        <p:spPr>
          <a:xfrm>
            <a:off x="5989811" y="1848520"/>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27" name="Google Shape;227;p16"/>
          <p:cNvSpPr/>
          <p:nvPr/>
        </p:nvSpPr>
        <p:spPr>
          <a:xfrm>
            <a:off x="6085210" y="1848520"/>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28" name="Google Shape;228;p16"/>
          <p:cNvSpPr/>
          <p:nvPr/>
        </p:nvSpPr>
        <p:spPr>
          <a:xfrm>
            <a:off x="6180683" y="1848520"/>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29" name="Google Shape;229;p16"/>
          <p:cNvSpPr/>
          <p:nvPr/>
        </p:nvSpPr>
        <p:spPr>
          <a:xfrm>
            <a:off x="6276157" y="1848520"/>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30" name="Google Shape;230;p16"/>
          <p:cNvSpPr/>
          <p:nvPr/>
        </p:nvSpPr>
        <p:spPr>
          <a:xfrm>
            <a:off x="6371556" y="1848520"/>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31" name="Google Shape;231;p16"/>
          <p:cNvSpPr/>
          <p:nvPr/>
        </p:nvSpPr>
        <p:spPr>
          <a:xfrm>
            <a:off x="6467029" y="1848520"/>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32" name="Google Shape;232;p16"/>
          <p:cNvSpPr/>
          <p:nvPr/>
        </p:nvSpPr>
        <p:spPr>
          <a:xfrm>
            <a:off x="6562502" y="1848520"/>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33" name="Google Shape;233;p16"/>
          <p:cNvSpPr/>
          <p:nvPr/>
        </p:nvSpPr>
        <p:spPr>
          <a:xfrm>
            <a:off x="6657901" y="1848520"/>
            <a:ext cx="90600" cy="90600"/>
          </a:xfrm>
          <a:prstGeom prst="rect">
            <a:avLst/>
          </a:prstGeom>
          <a:solidFill>
            <a:srgbClr val="7A1F10">
              <a:alpha val="9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34" name="Google Shape;234;p16"/>
          <p:cNvSpPr/>
          <p:nvPr/>
        </p:nvSpPr>
        <p:spPr>
          <a:xfrm>
            <a:off x="6753374" y="1848520"/>
            <a:ext cx="90600" cy="90600"/>
          </a:xfrm>
          <a:prstGeom prst="rect">
            <a:avLst/>
          </a:prstGeom>
          <a:solidFill>
            <a:srgbClr val="7A1F10">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35" name="Google Shape;235;p16"/>
          <p:cNvSpPr/>
          <p:nvPr/>
        </p:nvSpPr>
        <p:spPr>
          <a:xfrm>
            <a:off x="6848847" y="1848520"/>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36" name="Google Shape;236;p16"/>
          <p:cNvSpPr/>
          <p:nvPr/>
        </p:nvSpPr>
        <p:spPr>
          <a:xfrm>
            <a:off x="6944246" y="1848520"/>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37" name="Google Shape;237;p16"/>
          <p:cNvSpPr/>
          <p:nvPr/>
        </p:nvSpPr>
        <p:spPr>
          <a:xfrm>
            <a:off x="7039719" y="1848520"/>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38" name="Google Shape;238;p16"/>
          <p:cNvSpPr/>
          <p:nvPr/>
        </p:nvSpPr>
        <p:spPr>
          <a:xfrm>
            <a:off x="7135193" y="1848520"/>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39" name="Google Shape;239;p16"/>
          <p:cNvSpPr/>
          <p:nvPr/>
        </p:nvSpPr>
        <p:spPr>
          <a:xfrm>
            <a:off x="7230591" y="1848520"/>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40" name="Google Shape;240;p16"/>
          <p:cNvSpPr/>
          <p:nvPr/>
        </p:nvSpPr>
        <p:spPr>
          <a:xfrm>
            <a:off x="7326065" y="1848520"/>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41" name="Google Shape;241;p16"/>
          <p:cNvSpPr/>
          <p:nvPr/>
        </p:nvSpPr>
        <p:spPr>
          <a:xfrm>
            <a:off x="7421538" y="1848520"/>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42" name="Google Shape;242;p16"/>
          <p:cNvSpPr/>
          <p:nvPr/>
        </p:nvSpPr>
        <p:spPr>
          <a:xfrm>
            <a:off x="7516937" y="1848520"/>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43" name="Google Shape;243;p16"/>
          <p:cNvSpPr/>
          <p:nvPr/>
        </p:nvSpPr>
        <p:spPr>
          <a:xfrm>
            <a:off x="7612410" y="1848520"/>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44" name="Google Shape;244;p16"/>
          <p:cNvSpPr/>
          <p:nvPr/>
        </p:nvSpPr>
        <p:spPr>
          <a:xfrm>
            <a:off x="7707883" y="1848520"/>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45" name="Google Shape;245;p16"/>
          <p:cNvSpPr/>
          <p:nvPr/>
        </p:nvSpPr>
        <p:spPr>
          <a:xfrm>
            <a:off x="7803282" y="1848520"/>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46" name="Google Shape;246;p16"/>
          <p:cNvSpPr/>
          <p:nvPr/>
        </p:nvSpPr>
        <p:spPr>
          <a:xfrm>
            <a:off x="7898755" y="1848520"/>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47" name="Google Shape;247;p16"/>
          <p:cNvSpPr/>
          <p:nvPr/>
        </p:nvSpPr>
        <p:spPr>
          <a:xfrm>
            <a:off x="7994229" y="1848520"/>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48" name="Google Shape;248;p16"/>
          <p:cNvSpPr/>
          <p:nvPr/>
        </p:nvSpPr>
        <p:spPr>
          <a:xfrm>
            <a:off x="5798939" y="1943993"/>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49" name="Google Shape;249;p16"/>
          <p:cNvSpPr/>
          <p:nvPr/>
        </p:nvSpPr>
        <p:spPr>
          <a:xfrm>
            <a:off x="5894338" y="1943993"/>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50" name="Google Shape;250;p16"/>
          <p:cNvSpPr/>
          <p:nvPr/>
        </p:nvSpPr>
        <p:spPr>
          <a:xfrm>
            <a:off x="5989811" y="1943993"/>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51" name="Google Shape;251;p16"/>
          <p:cNvSpPr/>
          <p:nvPr/>
        </p:nvSpPr>
        <p:spPr>
          <a:xfrm>
            <a:off x="6085210" y="1943993"/>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52" name="Google Shape;252;p16"/>
          <p:cNvSpPr/>
          <p:nvPr/>
        </p:nvSpPr>
        <p:spPr>
          <a:xfrm>
            <a:off x="6180683" y="1943993"/>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53" name="Google Shape;253;p16"/>
          <p:cNvSpPr/>
          <p:nvPr/>
        </p:nvSpPr>
        <p:spPr>
          <a:xfrm>
            <a:off x="6276157" y="1943993"/>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54" name="Google Shape;254;p16"/>
          <p:cNvSpPr/>
          <p:nvPr/>
        </p:nvSpPr>
        <p:spPr>
          <a:xfrm>
            <a:off x="6371556" y="1943993"/>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55" name="Google Shape;255;p16"/>
          <p:cNvSpPr/>
          <p:nvPr/>
        </p:nvSpPr>
        <p:spPr>
          <a:xfrm>
            <a:off x="6467029" y="1943993"/>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56" name="Google Shape;256;p16"/>
          <p:cNvSpPr/>
          <p:nvPr/>
        </p:nvSpPr>
        <p:spPr>
          <a:xfrm>
            <a:off x="6562502" y="1943993"/>
            <a:ext cx="90600" cy="90600"/>
          </a:xfrm>
          <a:prstGeom prst="rect">
            <a:avLst/>
          </a:prstGeom>
          <a:solidFill>
            <a:srgbClr val="7A1F10">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57" name="Google Shape;257;p16"/>
          <p:cNvSpPr/>
          <p:nvPr/>
        </p:nvSpPr>
        <p:spPr>
          <a:xfrm>
            <a:off x="6657901" y="1943993"/>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58" name="Google Shape;258;p16"/>
          <p:cNvSpPr/>
          <p:nvPr/>
        </p:nvSpPr>
        <p:spPr>
          <a:xfrm>
            <a:off x="6753374" y="1943993"/>
            <a:ext cx="90600" cy="90600"/>
          </a:xfrm>
          <a:prstGeom prst="rect">
            <a:avLst/>
          </a:prstGeom>
          <a:solidFill>
            <a:srgbClr val="7A1F10">
              <a:alpha val="8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59" name="Google Shape;259;p16"/>
          <p:cNvSpPr/>
          <p:nvPr/>
        </p:nvSpPr>
        <p:spPr>
          <a:xfrm>
            <a:off x="6848847" y="1943993"/>
            <a:ext cx="90600" cy="90600"/>
          </a:xfrm>
          <a:prstGeom prst="rect">
            <a:avLst/>
          </a:prstGeom>
          <a:solidFill>
            <a:srgbClr val="7A1F10">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60" name="Google Shape;260;p16"/>
          <p:cNvSpPr/>
          <p:nvPr/>
        </p:nvSpPr>
        <p:spPr>
          <a:xfrm>
            <a:off x="6944246" y="1943993"/>
            <a:ext cx="90600" cy="90600"/>
          </a:xfrm>
          <a:prstGeom prst="rect">
            <a:avLst/>
          </a:prstGeom>
          <a:solidFill>
            <a:srgbClr val="7A1F10">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61" name="Google Shape;261;p16"/>
          <p:cNvSpPr/>
          <p:nvPr/>
        </p:nvSpPr>
        <p:spPr>
          <a:xfrm>
            <a:off x="7039719" y="1943993"/>
            <a:ext cx="90600" cy="90600"/>
          </a:xfrm>
          <a:prstGeom prst="rect">
            <a:avLst/>
          </a:prstGeom>
          <a:solidFill>
            <a:srgbClr val="7A1F10">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62" name="Google Shape;262;p16"/>
          <p:cNvSpPr/>
          <p:nvPr/>
        </p:nvSpPr>
        <p:spPr>
          <a:xfrm>
            <a:off x="7135193" y="1943993"/>
            <a:ext cx="90600" cy="90600"/>
          </a:xfrm>
          <a:prstGeom prst="rect">
            <a:avLst/>
          </a:prstGeom>
          <a:solidFill>
            <a:srgbClr val="7A1F10">
              <a:alpha val="9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63" name="Google Shape;263;p16"/>
          <p:cNvSpPr/>
          <p:nvPr/>
        </p:nvSpPr>
        <p:spPr>
          <a:xfrm>
            <a:off x="7230591" y="1943993"/>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64" name="Google Shape;264;p16"/>
          <p:cNvSpPr/>
          <p:nvPr/>
        </p:nvSpPr>
        <p:spPr>
          <a:xfrm>
            <a:off x="7326065" y="1943993"/>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65" name="Google Shape;265;p16"/>
          <p:cNvSpPr/>
          <p:nvPr/>
        </p:nvSpPr>
        <p:spPr>
          <a:xfrm>
            <a:off x="7421538" y="1943993"/>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66" name="Google Shape;266;p16"/>
          <p:cNvSpPr/>
          <p:nvPr/>
        </p:nvSpPr>
        <p:spPr>
          <a:xfrm>
            <a:off x="7516937" y="1943993"/>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67" name="Google Shape;267;p16"/>
          <p:cNvSpPr/>
          <p:nvPr/>
        </p:nvSpPr>
        <p:spPr>
          <a:xfrm>
            <a:off x="7612410" y="1943993"/>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68" name="Google Shape;268;p16"/>
          <p:cNvSpPr/>
          <p:nvPr/>
        </p:nvSpPr>
        <p:spPr>
          <a:xfrm>
            <a:off x="7707883" y="1943993"/>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69" name="Google Shape;269;p16"/>
          <p:cNvSpPr/>
          <p:nvPr/>
        </p:nvSpPr>
        <p:spPr>
          <a:xfrm>
            <a:off x="7803282" y="1943993"/>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70" name="Google Shape;270;p16"/>
          <p:cNvSpPr/>
          <p:nvPr/>
        </p:nvSpPr>
        <p:spPr>
          <a:xfrm>
            <a:off x="7898755" y="1943993"/>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71" name="Google Shape;271;p16"/>
          <p:cNvSpPr/>
          <p:nvPr/>
        </p:nvSpPr>
        <p:spPr>
          <a:xfrm>
            <a:off x="7994229" y="1943993"/>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72" name="Google Shape;272;p16"/>
          <p:cNvSpPr/>
          <p:nvPr/>
        </p:nvSpPr>
        <p:spPr>
          <a:xfrm>
            <a:off x="5798939" y="2039466"/>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73" name="Google Shape;273;p16"/>
          <p:cNvSpPr/>
          <p:nvPr/>
        </p:nvSpPr>
        <p:spPr>
          <a:xfrm>
            <a:off x="5894338" y="2039466"/>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74" name="Google Shape;274;p16"/>
          <p:cNvSpPr/>
          <p:nvPr/>
        </p:nvSpPr>
        <p:spPr>
          <a:xfrm>
            <a:off x="5989811" y="2039466"/>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75" name="Google Shape;275;p16"/>
          <p:cNvSpPr/>
          <p:nvPr/>
        </p:nvSpPr>
        <p:spPr>
          <a:xfrm>
            <a:off x="6085210" y="2039466"/>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76" name="Google Shape;276;p16"/>
          <p:cNvSpPr/>
          <p:nvPr/>
        </p:nvSpPr>
        <p:spPr>
          <a:xfrm>
            <a:off x="6180683" y="2039466"/>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77" name="Google Shape;277;p16"/>
          <p:cNvSpPr/>
          <p:nvPr/>
        </p:nvSpPr>
        <p:spPr>
          <a:xfrm>
            <a:off x="6276157" y="2039466"/>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78" name="Google Shape;278;p16"/>
          <p:cNvSpPr/>
          <p:nvPr/>
        </p:nvSpPr>
        <p:spPr>
          <a:xfrm>
            <a:off x="6371556" y="2039466"/>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79" name="Google Shape;279;p16"/>
          <p:cNvSpPr/>
          <p:nvPr/>
        </p:nvSpPr>
        <p:spPr>
          <a:xfrm>
            <a:off x="6467029" y="2039466"/>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80" name="Google Shape;280;p16"/>
          <p:cNvSpPr/>
          <p:nvPr/>
        </p:nvSpPr>
        <p:spPr>
          <a:xfrm>
            <a:off x="6562502" y="2039466"/>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81" name="Google Shape;281;p16"/>
          <p:cNvSpPr/>
          <p:nvPr/>
        </p:nvSpPr>
        <p:spPr>
          <a:xfrm>
            <a:off x="6657901" y="2039466"/>
            <a:ext cx="90600" cy="90600"/>
          </a:xfrm>
          <a:prstGeom prst="rect">
            <a:avLst/>
          </a:prstGeom>
          <a:solidFill>
            <a:srgbClr val="7A1F10">
              <a:alpha val="9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82" name="Google Shape;282;p16"/>
          <p:cNvSpPr/>
          <p:nvPr/>
        </p:nvSpPr>
        <p:spPr>
          <a:xfrm>
            <a:off x="6753374" y="2039466"/>
            <a:ext cx="90600" cy="90600"/>
          </a:xfrm>
          <a:prstGeom prst="rect">
            <a:avLst/>
          </a:prstGeom>
          <a:solidFill>
            <a:srgbClr val="7A1F1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83" name="Google Shape;283;p16"/>
          <p:cNvSpPr/>
          <p:nvPr/>
        </p:nvSpPr>
        <p:spPr>
          <a:xfrm>
            <a:off x="6848847" y="2039466"/>
            <a:ext cx="90600" cy="90600"/>
          </a:xfrm>
          <a:prstGeom prst="rect">
            <a:avLst/>
          </a:prstGeom>
          <a:solidFill>
            <a:srgbClr val="7A1F1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84" name="Google Shape;284;p16"/>
          <p:cNvSpPr/>
          <p:nvPr/>
        </p:nvSpPr>
        <p:spPr>
          <a:xfrm>
            <a:off x="6944246" y="2039466"/>
            <a:ext cx="90600" cy="90600"/>
          </a:xfrm>
          <a:prstGeom prst="rect">
            <a:avLst/>
          </a:prstGeom>
          <a:solidFill>
            <a:srgbClr val="7A1F1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85" name="Google Shape;285;p16"/>
          <p:cNvSpPr/>
          <p:nvPr/>
        </p:nvSpPr>
        <p:spPr>
          <a:xfrm>
            <a:off x="7039719" y="2039466"/>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86" name="Google Shape;286;p16"/>
          <p:cNvSpPr/>
          <p:nvPr/>
        </p:nvSpPr>
        <p:spPr>
          <a:xfrm>
            <a:off x="7135193" y="2039466"/>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87" name="Google Shape;287;p16"/>
          <p:cNvSpPr/>
          <p:nvPr/>
        </p:nvSpPr>
        <p:spPr>
          <a:xfrm>
            <a:off x="7230591" y="2039466"/>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88" name="Google Shape;288;p16"/>
          <p:cNvSpPr/>
          <p:nvPr/>
        </p:nvSpPr>
        <p:spPr>
          <a:xfrm>
            <a:off x="7326065" y="2039466"/>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89" name="Google Shape;289;p16"/>
          <p:cNvSpPr/>
          <p:nvPr/>
        </p:nvSpPr>
        <p:spPr>
          <a:xfrm>
            <a:off x="7421538" y="2039466"/>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90" name="Google Shape;290;p16"/>
          <p:cNvSpPr/>
          <p:nvPr/>
        </p:nvSpPr>
        <p:spPr>
          <a:xfrm>
            <a:off x="7516937" y="2039466"/>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91" name="Google Shape;291;p16"/>
          <p:cNvSpPr/>
          <p:nvPr/>
        </p:nvSpPr>
        <p:spPr>
          <a:xfrm>
            <a:off x="7612410" y="2039466"/>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92" name="Google Shape;292;p16"/>
          <p:cNvSpPr/>
          <p:nvPr/>
        </p:nvSpPr>
        <p:spPr>
          <a:xfrm>
            <a:off x="7707883" y="2039466"/>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93" name="Google Shape;293;p16"/>
          <p:cNvSpPr/>
          <p:nvPr/>
        </p:nvSpPr>
        <p:spPr>
          <a:xfrm>
            <a:off x="7803282" y="2039466"/>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94" name="Google Shape;294;p16"/>
          <p:cNvSpPr/>
          <p:nvPr/>
        </p:nvSpPr>
        <p:spPr>
          <a:xfrm>
            <a:off x="7898755" y="2039466"/>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95" name="Google Shape;295;p16"/>
          <p:cNvSpPr/>
          <p:nvPr/>
        </p:nvSpPr>
        <p:spPr>
          <a:xfrm>
            <a:off x="7994229" y="2039466"/>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96" name="Google Shape;296;p16"/>
          <p:cNvSpPr/>
          <p:nvPr/>
        </p:nvSpPr>
        <p:spPr>
          <a:xfrm>
            <a:off x="5798939" y="2134865"/>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97" name="Google Shape;297;p16"/>
          <p:cNvSpPr/>
          <p:nvPr/>
        </p:nvSpPr>
        <p:spPr>
          <a:xfrm>
            <a:off x="5894338" y="2134865"/>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98" name="Google Shape;298;p16"/>
          <p:cNvSpPr/>
          <p:nvPr/>
        </p:nvSpPr>
        <p:spPr>
          <a:xfrm>
            <a:off x="5989811" y="2134865"/>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99" name="Google Shape;299;p16"/>
          <p:cNvSpPr/>
          <p:nvPr/>
        </p:nvSpPr>
        <p:spPr>
          <a:xfrm>
            <a:off x="6085210" y="2134865"/>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00" name="Google Shape;300;p16"/>
          <p:cNvSpPr/>
          <p:nvPr/>
        </p:nvSpPr>
        <p:spPr>
          <a:xfrm>
            <a:off x="6180683" y="2134865"/>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01" name="Google Shape;301;p16"/>
          <p:cNvSpPr/>
          <p:nvPr/>
        </p:nvSpPr>
        <p:spPr>
          <a:xfrm>
            <a:off x="6276157" y="2134865"/>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02" name="Google Shape;302;p16"/>
          <p:cNvSpPr/>
          <p:nvPr/>
        </p:nvSpPr>
        <p:spPr>
          <a:xfrm>
            <a:off x="6371556" y="2134865"/>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03" name="Google Shape;303;p16"/>
          <p:cNvSpPr/>
          <p:nvPr/>
        </p:nvSpPr>
        <p:spPr>
          <a:xfrm>
            <a:off x="6467029" y="2134865"/>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04" name="Google Shape;304;p16"/>
          <p:cNvSpPr/>
          <p:nvPr/>
        </p:nvSpPr>
        <p:spPr>
          <a:xfrm>
            <a:off x="6562502" y="2134865"/>
            <a:ext cx="90600" cy="90600"/>
          </a:xfrm>
          <a:prstGeom prst="rect">
            <a:avLst/>
          </a:prstGeom>
          <a:solidFill>
            <a:srgbClr val="7A1F10">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05" name="Google Shape;305;p16"/>
          <p:cNvSpPr/>
          <p:nvPr/>
        </p:nvSpPr>
        <p:spPr>
          <a:xfrm>
            <a:off x="6657901" y="2134865"/>
            <a:ext cx="90600" cy="90600"/>
          </a:xfrm>
          <a:prstGeom prst="rect">
            <a:avLst/>
          </a:prstGeom>
          <a:solidFill>
            <a:srgbClr val="7A1F1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06" name="Google Shape;306;p16"/>
          <p:cNvSpPr/>
          <p:nvPr/>
        </p:nvSpPr>
        <p:spPr>
          <a:xfrm>
            <a:off x="6753374" y="2134865"/>
            <a:ext cx="90600" cy="90600"/>
          </a:xfrm>
          <a:prstGeom prst="rect">
            <a:avLst/>
          </a:prstGeom>
          <a:solidFill>
            <a:srgbClr val="7A1F1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07" name="Google Shape;307;p16"/>
          <p:cNvSpPr/>
          <p:nvPr/>
        </p:nvSpPr>
        <p:spPr>
          <a:xfrm>
            <a:off x="6848847" y="2134865"/>
            <a:ext cx="90600" cy="90600"/>
          </a:xfrm>
          <a:prstGeom prst="rect">
            <a:avLst/>
          </a:prstGeom>
          <a:solidFill>
            <a:srgbClr val="7A1F10">
              <a:alpha val="9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08" name="Google Shape;308;p16"/>
          <p:cNvSpPr/>
          <p:nvPr/>
        </p:nvSpPr>
        <p:spPr>
          <a:xfrm>
            <a:off x="6944246" y="2134865"/>
            <a:ext cx="90600" cy="90600"/>
          </a:xfrm>
          <a:prstGeom prst="rect">
            <a:avLst/>
          </a:prstGeom>
          <a:solidFill>
            <a:srgbClr val="7A1F10">
              <a:alpha val="9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09" name="Google Shape;309;p16"/>
          <p:cNvSpPr/>
          <p:nvPr/>
        </p:nvSpPr>
        <p:spPr>
          <a:xfrm>
            <a:off x="7039719" y="2134865"/>
            <a:ext cx="90600" cy="90600"/>
          </a:xfrm>
          <a:prstGeom prst="rect">
            <a:avLst/>
          </a:prstGeom>
          <a:solidFill>
            <a:srgbClr val="7A1F10">
              <a:alpha val="9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10" name="Google Shape;310;p16"/>
          <p:cNvSpPr/>
          <p:nvPr/>
        </p:nvSpPr>
        <p:spPr>
          <a:xfrm>
            <a:off x="7135193" y="2134865"/>
            <a:ext cx="90600" cy="90600"/>
          </a:xfrm>
          <a:prstGeom prst="rect">
            <a:avLst/>
          </a:prstGeom>
          <a:solidFill>
            <a:srgbClr val="7A1F10">
              <a:alpha val="9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11" name="Google Shape;311;p16"/>
          <p:cNvSpPr/>
          <p:nvPr/>
        </p:nvSpPr>
        <p:spPr>
          <a:xfrm>
            <a:off x="7230591" y="2134865"/>
            <a:ext cx="90600" cy="90600"/>
          </a:xfrm>
          <a:prstGeom prst="rect">
            <a:avLst/>
          </a:prstGeom>
          <a:solidFill>
            <a:srgbClr val="7A1F10">
              <a:alpha val="9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12" name="Google Shape;312;p16"/>
          <p:cNvSpPr/>
          <p:nvPr/>
        </p:nvSpPr>
        <p:spPr>
          <a:xfrm>
            <a:off x="7326065" y="2134865"/>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13" name="Google Shape;313;p16"/>
          <p:cNvSpPr/>
          <p:nvPr/>
        </p:nvSpPr>
        <p:spPr>
          <a:xfrm>
            <a:off x="7421538" y="2134865"/>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14" name="Google Shape;314;p16"/>
          <p:cNvSpPr/>
          <p:nvPr/>
        </p:nvSpPr>
        <p:spPr>
          <a:xfrm>
            <a:off x="7516937" y="2134865"/>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15" name="Google Shape;315;p16"/>
          <p:cNvSpPr/>
          <p:nvPr/>
        </p:nvSpPr>
        <p:spPr>
          <a:xfrm>
            <a:off x="7612410" y="2134865"/>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16" name="Google Shape;316;p16"/>
          <p:cNvSpPr/>
          <p:nvPr/>
        </p:nvSpPr>
        <p:spPr>
          <a:xfrm>
            <a:off x="7707883" y="2134865"/>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17" name="Google Shape;317;p16"/>
          <p:cNvSpPr/>
          <p:nvPr/>
        </p:nvSpPr>
        <p:spPr>
          <a:xfrm>
            <a:off x="7803282" y="2134865"/>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18" name="Google Shape;318;p16"/>
          <p:cNvSpPr/>
          <p:nvPr/>
        </p:nvSpPr>
        <p:spPr>
          <a:xfrm>
            <a:off x="7898755" y="2134865"/>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19" name="Google Shape;319;p16"/>
          <p:cNvSpPr/>
          <p:nvPr/>
        </p:nvSpPr>
        <p:spPr>
          <a:xfrm>
            <a:off x="7994229" y="2134865"/>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20" name="Google Shape;320;p16"/>
          <p:cNvSpPr/>
          <p:nvPr/>
        </p:nvSpPr>
        <p:spPr>
          <a:xfrm>
            <a:off x="5798939" y="2230339"/>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21" name="Google Shape;321;p16"/>
          <p:cNvSpPr/>
          <p:nvPr/>
        </p:nvSpPr>
        <p:spPr>
          <a:xfrm>
            <a:off x="5894338" y="2230339"/>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22" name="Google Shape;322;p16"/>
          <p:cNvSpPr/>
          <p:nvPr/>
        </p:nvSpPr>
        <p:spPr>
          <a:xfrm>
            <a:off x="5989811" y="2230339"/>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23" name="Google Shape;323;p16"/>
          <p:cNvSpPr/>
          <p:nvPr/>
        </p:nvSpPr>
        <p:spPr>
          <a:xfrm>
            <a:off x="6085210" y="2230339"/>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24" name="Google Shape;324;p16"/>
          <p:cNvSpPr/>
          <p:nvPr/>
        </p:nvSpPr>
        <p:spPr>
          <a:xfrm>
            <a:off x="6180683" y="2230339"/>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25" name="Google Shape;325;p16"/>
          <p:cNvSpPr/>
          <p:nvPr/>
        </p:nvSpPr>
        <p:spPr>
          <a:xfrm>
            <a:off x="6276157" y="2230339"/>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26" name="Google Shape;326;p16"/>
          <p:cNvSpPr/>
          <p:nvPr/>
        </p:nvSpPr>
        <p:spPr>
          <a:xfrm>
            <a:off x="6371556" y="2230339"/>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27" name="Google Shape;327;p16"/>
          <p:cNvSpPr/>
          <p:nvPr/>
        </p:nvSpPr>
        <p:spPr>
          <a:xfrm>
            <a:off x="6467029" y="2230339"/>
            <a:ext cx="90600" cy="90600"/>
          </a:xfrm>
          <a:prstGeom prst="rect">
            <a:avLst/>
          </a:prstGeom>
          <a:solidFill>
            <a:srgbClr val="7A1F10">
              <a:alpha val="8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28" name="Google Shape;328;p16"/>
          <p:cNvSpPr/>
          <p:nvPr/>
        </p:nvSpPr>
        <p:spPr>
          <a:xfrm>
            <a:off x="6562502" y="2230339"/>
            <a:ext cx="90600" cy="90600"/>
          </a:xfrm>
          <a:prstGeom prst="rect">
            <a:avLst/>
          </a:prstGeom>
          <a:solidFill>
            <a:srgbClr val="7A1F10">
              <a:alpha val="9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29" name="Google Shape;329;p16"/>
          <p:cNvSpPr/>
          <p:nvPr/>
        </p:nvSpPr>
        <p:spPr>
          <a:xfrm>
            <a:off x="6657901" y="2230339"/>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30" name="Google Shape;330;p16"/>
          <p:cNvSpPr/>
          <p:nvPr/>
        </p:nvSpPr>
        <p:spPr>
          <a:xfrm>
            <a:off x="6753374" y="2230339"/>
            <a:ext cx="90600" cy="90600"/>
          </a:xfrm>
          <a:prstGeom prst="rect">
            <a:avLst/>
          </a:prstGeom>
          <a:solidFill>
            <a:srgbClr val="7A1F10">
              <a:alpha val="9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31" name="Google Shape;331;p16"/>
          <p:cNvSpPr/>
          <p:nvPr/>
        </p:nvSpPr>
        <p:spPr>
          <a:xfrm>
            <a:off x="6848847" y="2230339"/>
            <a:ext cx="90600" cy="90600"/>
          </a:xfrm>
          <a:prstGeom prst="rect">
            <a:avLst/>
          </a:prstGeom>
          <a:solidFill>
            <a:srgbClr val="7A1F1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32" name="Google Shape;332;p16"/>
          <p:cNvSpPr/>
          <p:nvPr/>
        </p:nvSpPr>
        <p:spPr>
          <a:xfrm>
            <a:off x="6944246" y="2230339"/>
            <a:ext cx="90600" cy="90600"/>
          </a:xfrm>
          <a:prstGeom prst="rect">
            <a:avLst/>
          </a:prstGeom>
          <a:solidFill>
            <a:srgbClr val="7A1F1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33" name="Google Shape;333;p16"/>
          <p:cNvSpPr/>
          <p:nvPr/>
        </p:nvSpPr>
        <p:spPr>
          <a:xfrm>
            <a:off x="7039719" y="2230339"/>
            <a:ext cx="90600" cy="90600"/>
          </a:xfrm>
          <a:prstGeom prst="rect">
            <a:avLst/>
          </a:prstGeom>
          <a:solidFill>
            <a:srgbClr val="7A1F1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34" name="Google Shape;334;p16"/>
          <p:cNvSpPr/>
          <p:nvPr/>
        </p:nvSpPr>
        <p:spPr>
          <a:xfrm>
            <a:off x="7135193" y="2230339"/>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35" name="Google Shape;335;p16"/>
          <p:cNvSpPr/>
          <p:nvPr/>
        </p:nvSpPr>
        <p:spPr>
          <a:xfrm>
            <a:off x="7230591" y="2230339"/>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36" name="Google Shape;336;p16"/>
          <p:cNvSpPr/>
          <p:nvPr/>
        </p:nvSpPr>
        <p:spPr>
          <a:xfrm>
            <a:off x="7326065" y="2230339"/>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37" name="Google Shape;337;p16"/>
          <p:cNvSpPr/>
          <p:nvPr/>
        </p:nvSpPr>
        <p:spPr>
          <a:xfrm>
            <a:off x="7421538" y="2230339"/>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38" name="Google Shape;338;p16"/>
          <p:cNvSpPr/>
          <p:nvPr/>
        </p:nvSpPr>
        <p:spPr>
          <a:xfrm>
            <a:off x="7516937" y="2230339"/>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39" name="Google Shape;339;p16"/>
          <p:cNvSpPr/>
          <p:nvPr/>
        </p:nvSpPr>
        <p:spPr>
          <a:xfrm>
            <a:off x="7612410" y="2230339"/>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40" name="Google Shape;340;p16"/>
          <p:cNvSpPr/>
          <p:nvPr/>
        </p:nvSpPr>
        <p:spPr>
          <a:xfrm>
            <a:off x="7707883" y="2230339"/>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41" name="Google Shape;341;p16"/>
          <p:cNvSpPr/>
          <p:nvPr/>
        </p:nvSpPr>
        <p:spPr>
          <a:xfrm>
            <a:off x="7803282" y="2230339"/>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42" name="Google Shape;342;p16"/>
          <p:cNvSpPr/>
          <p:nvPr/>
        </p:nvSpPr>
        <p:spPr>
          <a:xfrm>
            <a:off x="7898755" y="2230339"/>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43" name="Google Shape;343;p16"/>
          <p:cNvSpPr/>
          <p:nvPr/>
        </p:nvSpPr>
        <p:spPr>
          <a:xfrm>
            <a:off x="7994229" y="2230339"/>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44" name="Google Shape;344;p16"/>
          <p:cNvSpPr/>
          <p:nvPr/>
        </p:nvSpPr>
        <p:spPr>
          <a:xfrm>
            <a:off x="5798939" y="2325812"/>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45" name="Google Shape;345;p16"/>
          <p:cNvSpPr/>
          <p:nvPr/>
        </p:nvSpPr>
        <p:spPr>
          <a:xfrm>
            <a:off x="5894338" y="2325812"/>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46" name="Google Shape;346;p16"/>
          <p:cNvSpPr/>
          <p:nvPr/>
        </p:nvSpPr>
        <p:spPr>
          <a:xfrm>
            <a:off x="5989811" y="2325812"/>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47" name="Google Shape;347;p16"/>
          <p:cNvSpPr/>
          <p:nvPr/>
        </p:nvSpPr>
        <p:spPr>
          <a:xfrm>
            <a:off x="6085210" y="2325812"/>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48" name="Google Shape;348;p16"/>
          <p:cNvSpPr/>
          <p:nvPr/>
        </p:nvSpPr>
        <p:spPr>
          <a:xfrm>
            <a:off x="6180683" y="2325812"/>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49" name="Google Shape;349;p16"/>
          <p:cNvSpPr/>
          <p:nvPr/>
        </p:nvSpPr>
        <p:spPr>
          <a:xfrm>
            <a:off x="6276157" y="2325812"/>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50" name="Google Shape;350;p16"/>
          <p:cNvSpPr/>
          <p:nvPr/>
        </p:nvSpPr>
        <p:spPr>
          <a:xfrm>
            <a:off x="6371556" y="2325812"/>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51" name="Google Shape;351;p16"/>
          <p:cNvSpPr/>
          <p:nvPr/>
        </p:nvSpPr>
        <p:spPr>
          <a:xfrm>
            <a:off x="6467029" y="2325812"/>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52" name="Google Shape;352;p16"/>
          <p:cNvSpPr/>
          <p:nvPr/>
        </p:nvSpPr>
        <p:spPr>
          <a:xfrm>
            <a:off x="6562502" y="2325812"/>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53" name="Google Shape;353;p16"/>
          <p:cNvSpPr/>
          <p:nvPr/>
        </p:nvSpPr>
        <p:spPr>
          <a:xfrm>
            <a:off x="6657901" y="2325812"/>
            <a:ext cx="90600" cy="90600"/>
          </a:xfrm>
          <a:prstGeom prst="rect">
            <a:avLst/>
          </a:prstGeom>
          <a:solidFill>
            <a:srgbClr val="7A1F10">
              <a:alpha val="9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54" name="Google Shape;354;p16"/>
          <p:cNvSpPr/>
          <p:nvPr/>
        </p:nvSpPr>
        <p:spPr>
          <a:xfrm>
            <a:off x="6753374" y="2325812"/>
            <a:ext cx="90600" cy="90600"/>
          </a:xfrm>
          <a:prstGeom prst="rect">
            <a:avLst/>
          </a:prstGeom>
          <a:solidFill>
            <a:srgbClr val="7A1F10">
              <a:alpha val="9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55" name="Google Shape;355;p16"/>
          <p:cNvSpPr/>
          <p:nvPr/>
        </p:nvSpPr>
        <p:spPr>
          <a:xfrm>
            <a:off x="6848847" y="2325812"/>
            <a:ext cx="90600" cy="90600"/>
          </a:xfrm>
          <a:prstGeom prst="rect">
            <a:avLst/>
          </a:prstGeom>
          <a:solidFill>
            <a:srgbClr val="7A1F1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56" name="Google Shape;356;p16"/>
          <p:cNvSpPr/>
          <p:nvPr/>
        </p:nvSpPr>
        <p:spPr>
          <a:xfrm>
            <a:off x="6944246" y="2325812"/>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57" name="Google Shape;357;p16"/>
          <p:cNvSpPr/>
          <p:nvPr/>
        </p:nvSpPr>
        <p:spPr>
          <a:xfrm>
            <a:off x="7039719" y="2325812"/>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58" name="Google Shape;358;p16"/>
          <p:cNvSpPr/>
          <p:nvPr/>
        </p:nvSpPr>
        <p:spPr>
          <a:xfrm>
            <a:off x="7135193" y="2325812"/>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59" name="Google Shape;359;p16"/>
          <p:cNvSpPr/>
          <p:nvPr/>
        </p:nvSpPr>
        <p:spPr>
          <a:xfrm>
            <a:off x="7230591" y="2325812"/>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60" name="Google Shape;360;p16"/>
          <p:cNvSpPr/>
          <p:nvPr/>
        </p:nvSpPr>
        <p:spPr>
          <a:xfrm>
            <a:off x="7326065" y="2325812"/>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61" name="Google Shape;361;p16"/>
          <p:cNvSpPr/>
          <p:nvPr/>
        </p:nvSpPr>
        <p:spPr>
          <a:xfrm>
            <a:off x="7421538" y="2325812"/>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62" name="Google Shape;362;p16"/>
          <p:cNvSpPr/>
          <p:nvPr/>
        </p:nvSpPr>
        <p:spPr>
          <a:xfrm>
            <a:off x="7516937" y="2325812"/>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63" name="Google Shape;363;p16"/>
          <p:cNvSpPr/>
          <p:nvPr/>
        </p:nvSpPr>
        <p:spPr>
          <a:xfrm>
            <a:off x="7612410" y="2325812"/>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64" name="Google Shape;364;p16"/>
          <p:cNvSpPr/>
          <p:nvPr/>
        </p:nvSpPr>
        <p:spPr>
          <a:xfrm>
            <a:off x="7707883" y="2325812"/>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65" name="Google Shape;365;p16"/>
          <p:cNvSpPr/>
          <p:nvPr/>
        </p:nvSpPr>
        <p:spPr>
          <a:xfrm>
            <a:off x="7803282" y="2325812"/>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66" name="Google Shape;366;p16"/>
          <p:cNvSpPr/>
          <p:nvPr/>
        </p:nvSpPr>
        <p:spPr>
          <a:xfrm>
            <a:off x="7898755" y="2325812"/>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67" name="Google Shape;367;p16"/>
          <p:cNvSpPr/>
          <p:nvPr/>
        </p:nvSpPr>
        <p:spPr>
          <a:xfrm>
            <a:off x="7994229" y="2325812"/>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68" name="Google Shape;368;p16"/>
          <p:cNvSpPr/>
          <p:nvPr/>
        </p:nvSpPr>
        <p:spPr>
          <a:xfrm>
            <a:off x="5798939" y="2421211"/>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69" name="Google Shape;369;p16"/>
          <p:cNvSpPr/>
          <p:nvPr/>
        </p:nvSpPr>
        <p:spPr>
          <a:xfrm>
            <a:off x="5894338" y="2421211"/>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70" name="Google Shape;370;p16"/>
          <p:cNvSpPr/>
          <p:nvPr/>
        </p:nvSpPr>
        <p:spPr>
          <a:xfrm>
            <a:off x="5989811" y="2421211"/>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71" name="Google Shape;371;p16"/>
          <p:cNvSpPr/>
          <p:nvPr/>
        </p:nvSpPr>
        <p:spPr>
          <a:xfrm>
            <a:off x="6085210" y="2421211"/>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72" name="Google Shape;372;p16"/>
          <p:cNvSpPr/>
          <p:nvPr/>
        </p:nvSpPr>
        <p:spPr>
          <a:xfrm>
            <a:off x="6180683" y="2421211"/>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73" name="Google Shape;373;p16"/>
          <p:cNvSpPr/>
          <p:nvPr/>
        </p:nvSpPr>
        <p:spPr>
          <a:xfrm>
            <a:off x="6276157" y="2421211"/>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74" name="Google Shape;374;p16"/>
          <p:cNvSpPr/>
          <p:nvPr/>
        </p:nvSpPr>
        <p:spPr>
          <a:xfrm>
            <a:off x="6371556" y="2421211"/>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75" name="Google Shape;375;p16"/>
          <p:cNvSpPr/>
          <p:nvPr/>
        </p:nvSpPr>
        <p:spPr>
          <a:xfrm>
            <a:off x="6467029" y="2421211"/>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76" name="Google Shape;376;p16"/>
          <p:cNvSpPr/>
          <p:nvPr/>
        </p:nvSpPr>
        <p:spPr>
          <a:xfrm>
            <a:off x="6562502" y="2421211"/>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77" name="Google Shape;377;p16"/>
          <p:cNvSpPr/>
          <p:nvPr/>
        </p:nvSpPr>
        <p:spPr>
          <a:xfrm>
            <a:off x="6657901" y="2421211"/>
            <a:ext cx="90600" cy="90600"/>
          </a:xfrm>
          <a:prstGeom prst="rect">
            <a:avLst/>
          </a:prstGeom>
          <a:solidFill>
            <a:srgbClr val="7A1F10">
              <a:alpha val="9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78" name="Google Shape;378;p16"/>
          <p:cNvSpPr/>
          <p:nvPr/>
        </p:nvSpPr>
        <p:spPr>
          <a:xfrm>
            <a:off x="6753374" y="2421211"/>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79" name="Google Shape;379;p16"/>
          <p:cNvSpPr/>
          <p:nvPr/>
        </p:nvSpPr>
        <p:spPr>
          <a:xfrm>
            <a:off x="6848847" y="2421211"/>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80" name="Google Shape;380;p16"/>
          <p:cNvSpPr/>
          <p:nvPr/>
        </p:nvSpPr>
        <p:spPr>
          <a:xfrm>
            <a:off x="6944246" y="2421211"/>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81" name="Google Shape;381;p16"/>
          <p:cNvSpPr/>
          <p:nvPr/>
        </p:nvSpPr>
        <p:spPr>
          <a:xfrm>
            <a:off x="7039719" y="2421211"/>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82" name="Google Shape;382;p16"/>
          <p:cNvSpPr/>
          <p:nvPr/>
        </p:nvSpPr>
        <p:spPr>
          <a:xfrm>
            <a:off x="7135193" y="2421211"/>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83" name="Google Shape;383;p16"/>
          <p:cNvSpPr/>
          <p:nvPr/>
        </p:nvSpPr>
        <p:spPr>
          <a:xfrm>
            <a:off x="7230591" y="2421211"/>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84" name="Google Shape;384;p16"/>
          <p:cNvSpPr/>
          <p:nvPr/>
        </p:nvSpPr>
        <p:spPr>
          <a:xfrm>
            <a:off x="7326065" y="2421211"/>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85" name="Google Shape;385;p16"/>
          <p:cNvSpPr/>
          <p:nvPr/>
        </p:nvSpPr>
        <p:spPr>
          <a:xfrm>
            <a:off x="7421538" y="2421211"/>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86" name="Google Shape;386;p16"/>
          <p:cNvSpPr/>
          <p:nvPr/>
        </p:nvSpPr>
        <p:spPr>
          <a:xfrm>
            <a:off x="7516937" y="2421211"/>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87" name="Google Shape;387;p16"/>
          <p:cNvSpPr/>
          <p:nvPr/>
        </p:nvSpPr>
        <p:spPr>
          <a:xfrm>
            <a:off x="7612410" y="2421211"/>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88" name="Google Shape;388;p16"/>
          <p:cNvSpPr/>
          <p:nvPr/>
        </p:nvSpPr>
        <p:spPr>
          <a:xfrm>
            <a:off x="7707883" y="2421211"/>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89" name="Google Shape;389;p16"/>
          <p:cNvSpPr/>
          <p:nvPr/>
        </p:nvSpPr>
        <p:spPr>
          <a:xfrm>
            <a:off x="7803282" y="2421211"/>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90" name="Google Shape;390;p16"/>
          <p:cNvSpPr/>
          <p:nvPr/>
        </p:nvSpPr>
        <p:spPr>
          <a:xfrm>
            <a:off x="7898755" y="2421211"/>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91" name="Google Shape;391;p16"/>
          <p:cNvSpPr/>
          <p:nvPr/>
        </p:nvSpPr>
        <p:spPr>
          <a:xfrm>
            <a:off x="7994229" y="2421211"/>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92" name="Google Shape;392;p16"/>
          <p:cNvSpPr/>
          <p:nvPr/>
        </p:nvSpPr>
        <p:spPr>
          <a:xfrm>
            <a:off x="5798939" y="2516684"/>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93" name="Google Shape;393;p16"/>
          <p:cNvSpPr/>
          <p:nvPr/>
        </p:nvSpPr>
        <p:spPr>
          <a:xfrm>
            <a:off x="5894338" y="2516684"/>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94" name="Google Shape;394;p16"/>
          <p:cNvSpPr/>
          <p:nvPr/>
        </p:nvSpPr>
        <p:spPr>
          <a:xfrm>
            <a:off x="5989811" y="2516684"/>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95" name="Google Shape;395;p16"/>
          <p:cNvSpPr/>
          <p:nvPr/>
        </p:nvSpPr>
        <p:spPr>
          <a:xfrm>
            <a:off x="6085210" y="2516684"/>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96" name="Google Shape;396;p16"/>
          <p:cNvSpPr/>
          <p:nvPr/>
        </p:nvSpPr>
        <p:spPr>
          <a:xfrm>
            <a:off x="6180683" y="2516684"/>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97" name="Google Shape;397;p16"/>
          <p:cNvSpPr/>
          <p:nvPr/>
        </p:nvSpPr>
        <p:spPr>
          <a:xfrm>
            <a:off x="6276157" y="2516684"/>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98" name="Google Shape;398;p16"/>
          <p:cNvSpPr/>
          <p:nvPr/>
        </p:nvSpPr>
        <p:spPr>
          <a:xfrm>
            <a:off x="6371556" y="2516684"/>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99" name="Google Shape;399;p16"/>
          <p:cNvSpPr/>
          <p:nvPr/>
        </p:nvSpPr>
        <p:spPr>
          <a:xfrm>
            <a:off x="6467029" y="2516684"/>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00" name="Google Shape;400;p16"/>
          <p:cNvSpPr/>
          <p:nvPr/>
        </p:nvSpPr>
        <p:spPr>
          <a:xfrm>
            <a:off x="6562502" y="2516684"/>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01" name="Google Shape;401;p16"/>
          <p:cNvSpPr/>
          <p:nvPr/>
        </p:nvSpPr>
        <p:spPr>
          <a:xfrm>
            <a:off x="6657901" y="2516684"/>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02" name="Google Shape;402;p16"/>
          <p:cNvSpPr/>
          <p:nvPr/>
        </p:nvSpPr>
        <p:spPr>
          <a:xfrm>
            <a:off x="6753374" y="2516684"/>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03" name="Google Shape;403;p16"/>
          <p:cNvSpPr/>
          <p:nvPr/>
        </p:nvSpPr>
        <p:spPr>
          <a:xfrm>
            <a:off x="6848847" y="2516684"/>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04" name="Google Shape;404;p16"/>
          <p:cNvSpPr/>
          <p:nvPr/>
        </p:nvSpPr>
        <p:spPr>
          <a:xfrm>
            <a:off x="6944246" y="2516684"/>
            <a:ext cx="90600" cy="90600"/>
          </a:xfrm>
          <a:prstGeom prst="rect">
            <a:avLst/>
          </a:prstGeom>
          <a:solidFill>
            <a:srgbClr val="7A1F10">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05" name="Google Shape;405;p16"/>
          <p:cNvSpPr/>
          <p:nvPr/>
        </p:nvSpPr>
        <p:spPr>
          <a:xfrm>
            <a:off x="7039719" y="2516684"/>
            <a:ext cx="90600" cy="90600"/>
          </a:xfrm>
          <a:prstGeom prst="rect">
            <a:avLst/>
          </a:prstGeom>
          <a:solidFill>
            <a:srgbClr val="7A1F10">
              <a:alpha val="8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06" name="Google Shape;406;p16"/>
          <p:cNvSpPr/>
          <p:nvPr/>
        </p:nvSpPr>
        <p:spPr>
          <a:xfrm>
            <a:off x="7135193" y="2516684"/>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07" name="Google Shape;407;p16"/>
          <p:cNvSpPr/>
          <p:nvPr/>
        </p:nvSpPr>
        <p:spPr>
          <a:xfrm>
            <a:off x="7230591" y="2516684"/>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08" name="Google Shape;408;p16"/>
          <p:cNvSpPr/>
          <p:nvPr/>
        </p:nvSpPr>
        <p:spPr>
          <a:xfrm>
            <a:off x="7326065" y="2516684"/>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09" name="Google Shape;409;p16"/>
          <p:cNvSpPr/>
          <p:nvPr/>
        </p:nvSpPr>
        <p:spPr>
          <a:xfrm>
            <a:off x="7421538" y="2516684"/>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10" name="Google Shape;410;p16"/>
          <p:cNvSpPr/>
          <p:nvPr/>
        </p:nvSpPr>
        <p:spPr>
          <a:xfrm>
            <a:off x="7516937" y="2516684"/>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11" name="Google Shape;411;p16"/>
          <p:cNvSpPr/>
          <p:nvPr/>
        </p:nvSpPr>
        <p:spPr>
          <a:xfrm>
            <a:off x="7612410" y="2516684"/>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12" name="Google Shape;412;p16"/>
          <p:cNvSpPr/>
          <p:nvPr/>
        </p:nvSpPr>
        <p:spPr>
          <a:xfrm>
            <a:off x="7707883" y="2516684"/>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13" name="Google Shape;413;p16"/>
          <p:cNvSpPr/>
          <p:nvPr/>
        </p:nvSpPr>
        <p:spPr>
          <a:xfrm>
            <a:off x="7803282" y="2516684"/>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14" name="Google Shape;414;p16"/>
          <p:cNvSpPr/>
          <p:nvPr/>
        </p:nvSpPr>
        <p:spPr>
          <a:xfrm>
            <a:off x="7898755" y="2516684"/>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15" name="Google Shape;415;p16"/>
          <p:cNvSpPr/>
          <p:nvPr/>
        </p:nvSpPr>
        <p:spPr>
          <a:xfrm>
            <a:off x="7994229" y="2516684"/>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16" name="Google Shape;416;p16"/>
          <p:cNvSpPr/>
          <p:nvPr/>
        </p:nvSpPr>
        <p:spPr>
          <a:xfrm>
            <a:off x="5798939" y="2612157"/>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17" name="Google Shape;417;p16"/>
          <p:cNvSpPr/>
          <p:nvPr/>
        </p:nvSpPr>
        <p:spPr>
          <a:xfrm>
            <a:off x="5894338" y="2612157"/>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18" name="Google Shape;418;p16"/>
          <p:cNvSpPr/>
          <p:nvPr/>
        </p:nvSpPr>
        <p:spPr>
          <a:xfrm>
            <a:off x="5989811" y="2612157"/>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19" name="Google Shape;419;p16"/>
          <p:cNvSpPr/>
          <p:nvPr/>
        </p:nvSpPr>
        <p:spPr>
          <a:xfrm>
            <a:off x="6085210" y="2612157"/>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20" name="Google Shape;420;p16"/>
          <p:cNvSpPr/>
          <p:nvPr/>
        </p:nvSpPr>
        <p:spPr>
          <a:xfrm>
            <a:off x="6180683" y="2612157"/>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21" name="Google Shape;421;p16"/>
          <p:cNvSpPr/>
          <p:nvPr/>
        </p:nvSpPr>
        <p:spPr>
          <a:xfrm>
            <a:off x="6276157" y="2612157"/>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22" name="Google Shape;422;p16"/>
          <p:cNvSpPr/>
          <p:nvPr/>
        </p:nvSpPr>
        <p:spPr>
          <a:xfrm>
            <a:off x="6371556" y="2612157"/>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23" name="Google Shape;423;p16"/>
          <p:cNvSpPr/>
          <p:nvPr/>
        </p:nvSpPr>
        <p:spPr>
          <a:xfrm>
            <a:off x="6467029" y="2612157"/>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24" name="Google Shape;424;p16"/>
          <p:cNvSpPr/>
          <p:nvPr/>
        </p:nvSpPr>
        <p:spPr>
          <a:xfrm>
            <a:off x="6562502" y="2612157"/>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25" name="Google Shape;425;p16"/>
          <p:cNvSpPr/>
          <p:nvPr/>
        </p:nvSpPr>
        <p:spPr>
          <a:xfrm>
            <a:off x="6657901" y="2612157"/>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26" name="Google Shape;426;p16"/>
          <p:cNvSpPr/>
          <p:nvPr/>
        </p:nvSpPr>
        <p:spPr>
          <a:xfrm>
            <a:off x="6753374" y="2612157"/>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27" name="Google Shape;427;p16"/>
          <p:cNvSpPr/>
          <p:nvPr/>
        </p:nvSpPr>
        <p:spPr>
          <a:xfrm>
            <a:off x="6848847" y="2612157"/>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28" name="Google Shape;428;p16"/>
          <p:cNvSpPr/>
          <p:nvPr/>
        </p:nvSpPr>
        <p:spPr>
          <a:xfrm>
            <a:off x="6944246" y="2612157"/>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29" name="Google Shape;429;p16"/>
          <p:cNvSpPr/>
          <p:nvPr/>
        </p:nvSpPr>
        <p:spPr>
          <a:xfrm>
            <a:off x="7039719" y="2612157"/>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30" name="Google Shape;430;p16"/>
          <p:cNvSpPr/>
          <p:nvPr/>
        </p:nvSpPr>
        <p:spPr>
          <a:xfrm>
            <a:off x="7135193" y="2612157"/>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31" name="Google Shape;431;p16"/>
          <p:cNvSpPr/>
          <p:nvPr/>
        </p:nvSpPr>
        <p:spPr>
          <a:xfrm>
            <a:off x="7230591" y="2612157"/>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32" name="Google Shape;432;p16"/>
          <p:cNvSpPr/>
          <p:nvPr/>
        </p:nvSpPr>
        <p:spPr>
          <a:xfrm>
            <a:off x="7326065" y="2612157"/>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33" name="Google Shape;433;p16"/>
          <p:cNvSpPr/>
          <p:nvPr/>
        </p:nvSpPr>
        <p:spPr>
          <a:xfrm>
            <a:off x="7421538" y="2612157"/>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34" name="Google Shape;434;p16"/>
          <p:cNvSpPr/>
          <p:nvPr/>
        </p:nvSpPr>
        <p:spPr>
          <a:xfrm>
            <a:off x="7516937" y="2612157"/>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35" name="Google Shape;435;p16"/>
          <p:cNvSpPr/>
          <p:nvPr/>
        </p:nvSpPr>
        <p:spPr>
          <a:xfrm>
            <a:off x="7612410" y="2612157"/>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36" name="Google Shape;436;p16"/>
          <p:cNvSpPr/>
          <p:nvPr/>
        </p:nvSpPr>
        <p:spPr>
          <a:xfrm>
            <a:off x="7707883" y="2612157"/>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37" name="Google Shape;437;p16"/>
          <p:cNvSpPr/>
          <p:nvPr/>
        </p:nvSpPr>
        <p:spPr>
          <a:xfrm>
            <a:off x="7803282" y="2612157"/>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38" name="Google Shape;438;p16"/>
          <p:cNvSpPr/>
          <p:nvPr/>
        </p:nvSpPr>
        <p:spPr>
          <a:xfrm>
            <a:off x="7898755" y="2612157"/>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39" name="Google Shape;439;p16"/>
          <p:cNvSpPr/>
          <p:nvPr/>
        </p:nvSpPr>
        <p:spPr>
          <a:xfrm>
            <a:off x="7994229" y="2612157"/>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40" name="Google Shape;440;p16"/>
          <p:cNvSpPr/>
          <p:nvPr/>
        </p:nvSpPr>
        <p:spPr>
          <a:xfrm>
            <a:off x="5798939" y="2707556"/>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41" name="Google Shape;441;p16"/>
          <p:cNvSpPr/>
          <p:nvPr/>
        </p:nvSpPr>
        <p:spPr>
          <a:xfrm>
            <a:off x="5894338" y="2707556"/>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42" name="Google Shape;442;p16"/>
          <p:cNvSpPr/>
          <p:nvPr/>
        </p:nvSpPr>
        <p:spPr>
          <a:xfrm>
            <a:off x="5989811" y="2707556"/>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43" name="Google Shape;443;p16"/>
          <p:cNvSpPr/>
          <p:nvPr/>
        </p:nvSpPr>
        <p:spPr>
          <a:xfrm>
            <a:off x="6085210" y="2707556"/>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44" name="Google Shape;444;p16"/>
          <p:cNvSpPr/>
          <p:nvPr/>
        </p:nvSpPr>
        <p:spPr>
          <a:xfrm>
            <a:off x="6180683" y="2707556"/>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45" name="Google Shape;445;p16"/>
          <p:cNvSpPr/>
          <p:nvPr/>
        </p:nvSpPr>
        <p:spPr>
          <a:xfrm>
            <a:off x="6276157" y="2707556"/>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46" name="Google Shape;446;p16"/>
          <p:cNvSpPr/>
          <p:nvPr/>
        </p:nvSpPr>
        <p:spPr>
          <a:xfrm>
            <a:off x="6371556" y="2707556"/>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47" name="Google Shape;447;p16"/>
          <p:cNvSpPr/>
          <p:nvPr/>
        </p:nvSpPr>
        <p:spPr>
          <a:xfrm>
            <a:off x="6467029" y="2707556"/>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48" name="Google Shape;448;p16"/>
          <p:cNvSpPr/>
          <p:nvPr/>
        </p:nvSpPr>
        <p:spPr>
          <a:xfrm>
            <a:off x="6562502" y="2707556"/>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49" name="Google Shape;449;p16"/>
          <p:cNvSpPr/>
          <p:nvPr/>
        </p:nvSpPr>
        <p:spPr>
          <a:xfrm>
            <a:off x="6657901" y="2707556"/>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50" name="Google Shape;450;p16"/>
          <p:cNvSpPr/>
          <p:nvPr/>
        </p:nvSpPr>
        <p:spPr>
          <a:xfrm>
            <a:off x="6753374" y="2707556"/>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51" name="Google Shape;451;p16"/>
          <p:cNvSpPr/>
          <p:nvPr/>
        </p:nvSpPr>
        <p:spPr>
          <a:xfrm>
            <a:off x="6848847" y="2707556"/>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52" name="Google Shape;452;p16"/>
          <p:cNvSpPr/>
          <p:nvPr/>
        </p:nvSpPr>
        <p:spPr>
          <a:xfrm>
            <a:off x="6944246" y="2707556"/>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53" name="Google Shape;453;p16"/>
          <p:cNvSpPr/>
          <p:nvPr/>
        </p:nvSpPr>
        <p:spPr>
          <a:xfrm>
            <a:off x="7039719" y="2707556"/>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54" name="Google Shape;454;p16"/>
          <p:cNvSpPr/>
          <p:nvPr/>
        </p:nvSpPr>
        <p:spPr>
          <a:xfrm>
            <a:off x="7135193" y="2707556"/>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55" name="Google Shape;455;p16"/>
          <p:cNvSpPr/>
          <p:nvPr/>
        </p:nvSpPr>
        <p:spPr>
          <a:xfrm>
            <a:off x="7230591" y="2707556"/>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56" name="Google Shape;456;p16"/>
          <p:cNvSpPr/>
          <p:nvPr/>
        </p:nvSpPr>
        <p:spPr>
          <a:xfrm>
            <a:off x="7326065" y="2707556"/>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57" name="Google Shape;457;p16"/>
          <p:cNvSpPr/>
          <p:nvPr/>
        </p:nvSpPr>
        <p:spPr>
          <a:xfrm>
            <a:off x="7421538" y="2707556"/>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58" name="Google Shape;458;p16"/>
          <p:cNvSpPr/>
          <p:nvPr/>
        </p:nvSpPr>
        <p:spPr>
          <a:xfrm>
            <a:off x="7516937" y="2707556"/>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59" name="Google Shape;459;p16"/>
          <p:cNvSpPr/>
          <p:nvPr/>
        </p:nvSpPr>
        <p:spPr>
          <a:xfrm>
            <a:off x="7612410" y="2707556"/>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60" name="Google Shape;460;p16"/>
          <p:cNvSpPr/>
          <p:nvPr/>
        </p:nvSpPr>
        <p:spPr>
          <a:xfrm>
            <a:off x="7707883" y="2707556"/>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61" name="Google Shape;461;p16"/>
          <p:cNvSpPr/>
          <p:nvPr/>
        </p:nvSpPr>
        <p:spPr>
          <a:xfrm>
            <a:off x="7803282" y="2707556"/>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62" name="Google Shape;462;p16"/>
          <p:cNvSpPr/>
          <p:nvPr/>
        </p:nvSpPr>
        <p:spPr>
          <a:xfrm>
            <a:off x="7898755" y="2707556"/>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63" name="Google Shape;463;p16"/>
          <p:cNvSpPr/>
          <p:nvPr/>
        </p:nvSpPr>
        <p:spPr>
          <a:xfrm>
            <a:off x="7994229" y="2707556"/>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64" name="Google Shape;464;p16"/>
          <p:cNvSpPr/>
          <p:nvPr/>
        </p:nvSpPr>
        <p:spPr>
          <a:xfrm>
            <a:off x="5798939" y="2803029"/>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65" name="Google Shape;465;p16"/>
          <p:cNvSpPr/>
          <p:nvPr/>
        </p:nvSpPr>
        <p:spPr>
          <a:xfrm>
            <a:off x="5894338" y="2803029"/>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66" name="Google Shape;466;p16"/>
          <p:cNvSpPr/>
          <p:nvPr/>
        </p:nvSpPr>
        <p:spPr>
          <a:xfrm>
            <a:off x="5989811" y="2803029"/>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67" name="Google Shape;467;p16"/>
          <p:cNvSpPr/>
          <p:nvPr/>
        </p:nvSpPr>
        <p:spPr>
          <a:xfrm>
            <a:off x="6085210" y="2803029"/>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68" name="Google Shape;468;p16"/>
          <p:cNvSpPr/>
          <p:nvPr/>
        </p:nvSpPr>
        <p:spPr>
          <a:xfrm>
            <a:off x="6180683" y="2803029"/>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69" name="Google Shape;469;p16"/>
          <p:cNvSpPr/>
          <p:nvPr/>
        </p:nvSpPr>
        <p:spPr>
          <a:xfrm>
            <a:off x="6276157" y="2803029"/>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70" name="Google Shape;470;p16"/>
          <p:cNvSpPr/>
          <p:nvPr/>
        </p:nvSpPr>
        <p:spPr>
          <a:xfrm>
            <a:off x="6371556" y="2803029"/>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71" name="Google Shape;471;p16"/>
          <p:cNvSpPr/>
          <p:nvPr/>
        </p:nvSpPr>
        <p:spPr>
          <a:xfrm>
            <a:off x="6467029" y="2803029"/>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72" name="Google Shape;472;p16"/>
          <p:cNvSpPr/>
          <p:nvPr/>
        </p:nvSpPr>
        <p:spPr>
          <a:xfrm>
            <a:off x="6562502" y="2803029"/>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73" name="Google Shape;473;p16"/>
          <p:cNvSpPr/>
          <p:nvPr/>
        </p:nvSpPr>
        <p:spPr>
          <a:xfrm>
            <a:off x="6657901" y="2803029"/>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74" name="Google Shape;474;p16"/>
          <p:cNvSpPr/>
          <p:nvPr/>
        </p:nvSpPr>
        <p:spPr>
          <a:xfrm>
            <a:off x="6753374" y="2803029"/>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75" name="Google Shape;475;p16"/>
          <p:cNvSpPr/>
          <p:nvPr/>
        </p:nvSpPr>
        <p:spPr>
          <a:xfrm>
            <a:off x="6848847" y="2803029"/>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76" name="Google Shape;476;p16"/>
          <p:cNvSpPr/>
          <p:nvPr/>
        </p:nvSpPr>
        <p:spPr>
          <a:xfrm>
            <a:off x="6944246" y="2803029"/>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77" name="Google Shape;477;p16"/>
          <p:cNvSpPr/>
          <p:nvPr/>
        </p:nvSpPr>
        <p:spPr>
          <a:xfrm>
            <a:off x="7039719" y="2803029"/>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78" name="Google Shape;478;p16"/>
          <p:cNvSpPr/>
          <p:nvPr/>
        </p:nvSpPr>
        <p:spPr>
          <a:xfrm>
            <a:off x="7135193" y="2803029"/>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79" name="Google Shape;479;p16"/>
          <p:cNvSpPr/>
          <p:nvPr/>
        </p:nvSpPr>
        <p:spPr>
          <a:xfrm>
            <a:off x="7230591" y="2803029"/>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80" name="Google Shape;480;p16"/>
          <p:cNvSpPr/>
          <p:nvPr/>
        </p:nvSpPr>
        <p:spPr>
          <a:xfrm>
            <a:off x="7326065" y="2803029"/>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81" name="Google Shape;481;p16"/>
          <p:cNvSpPr/>
          <p:nvPr/>
        </p:nvSpPr>
        <p:spPr>
          <a:xfrm>
            <a:off x="7421538" y="2803029"/>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82" name="Google Shape;482;p16"/>
          <p:cNvSpPr/>
          <p:nvPr/>
        </p:nvSpPr>
        <p:spPr>
          <a:xfrm>
            <a:off x="7516937" y="2803029"/>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83" name="Google Shape;483;p16"/>
          <p:cNvSpPr/>
          <p:nvPr/>
        </p:nvSpPr>
        <p:spPr>
          <a:xfrm>
            <a:off x="7612410" y="2803029"/>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84" name="Google Shape;484;p16"/>
          <p:cNvSpPr/>
          <p:nvPr/>
        </p:nvSpPr>
        <p:spPr>
          <a:xfrm>
            <a:off x="7707883" y="2803029"/>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85" name="Google Shape;485;p16"/>
          <p:cNvSpPr/>
          <p:nvPr/>
        </p:nvSpPr>
        <p:spPr>
          <a:xfrm>
            <a:off x="7803282" y="2803029"/>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86" name="Google Shape;486;p16"/>
          <p:cNvSpPr/>
          <p:nvPr/>
        </p:nvSpPr>
        <p:spPr>
          <a:xfrm>
            <a:off x="7898755" y="2803029"/>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87" name="Google Shape;487;p16"/>
          <p:cNvSpPr/>
          <p:nvPr/>
        </p:nvSpPr>
        <p:spPr>
          <a:xfrm>
            <a:off x="7994229" y="2803029"/>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88" name="Google Shape;488;p16"/>
          <p:cNvSpPr/>
          <p:nvPr/>
        </p:nvSpPr>
        <p:spPr>
          <a:xfrm>
            <a:off x="5798939" y="2898502"/>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89" name="Google Shape;489;p16"/>
          <p:cNvSpPr/>
          <p:nvPr/>
        </p:nvSpPr>
        <p:spPr>
          <a:xfrm>
            <a:off x="5894338" y="2898502"/>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90" name="Google Shape;490;p16"/>
          <p:cNvSpPr/>
          <p:nvPr/>
        </p:nvSpPr>
        <p:spPr>
          <a:xfrm>
            <a:off x="5989811" y="2898502"/>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91" name="Google Shape;491;p16"/>
          <p:cNvSpPr/>
          <p:nvPr/>
        </p:nvSpPr>
        <p:spPr>
          <a:xfrm>
            <a:off x="6085210" y="2898502"/>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92" name="Google Shape;492;p16"/>
          <p:cNvSpPr/>
          <p:nvPr/>
        </p:nvSpPr>
        <p:spPr>
          <a:xfrm>
            <a:off x="6180683" y="2898502"/>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93" name="Google Shape;493;p16"/>
          <p:cNvSpPr/>
          <p:nvPr/>
        </p:nvSpPr>
        <p:spPr>
          <a:xfrm>
            <a:off x="6276157" y="2898502"/>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94" name="Google Shape;494;p16"/>
          <p:cNvSpPr/>
          <p:nvPr/>
        </p:nvSpPr>
        <p:spPr>
          <a:xfrm>
            <a:off x="6371556" y="2898502"/>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95" name="Google Shape;495;p16"/>
          <p:cNvSpPr/>
          <p:nvPr/>
        </p:nvSpPr>
        <p:spPr>
          <a:xfrm>
            <a:off x="6467029" y="2898502"/>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96" name="Google Shape;496;p16"/>
          <p:cNvSpPr/>
          <p:nvPr/>
        </p:nvSpPr>
        <p:spPr>
          <a:xfrm>
            <a:off x="6562502" y="2898502"/>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97" name="Google Shape;497;p16"/>
          <p:cNvSpPr/>
          <p:nvPr/>
        </p:nvSpPr>
        <p:spPr>
          <a:xfrm>
            <a:off x="6657901" y="2898502"/>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98" name="Google Shape;498;p16"/>
          <p:cNvSpPr/>
          <p:nvPr/>
        </p:nvSpPr>
        <p:spPr>
          <a:xfrm>
            <a:off x="6753374" y="2898502"/>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99" name="Google Shape;499;p16"/>
          <p:cNvSpPr/>
          <p:nvPr/>
        </p:nvSpPr>
        <p:spPr>
          <a:xfrm>
            <a:off x="6848847" y="2898502"/>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00" name="Google Shape;500;p16"/>
          <p:cNvSpPr/>
          <p:nvPr/>
        </p:nvSpPr>
        <p:spPr>
          <a:xfrm>
            <a:off x="6944246" y="2898502"/>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01" name="Google Shape;501;p16"/>
          <p:cNvSpPr/>
          <p:nvPr/>
        </p:nvSpPr>
        <p:spPr>
          <a:xfrm>
            <a:off x="7039719" y="2898502"/>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02" name="Google Shape;502;p16"/>
          <p:cNvSpPr/>
          <p:nvPr/>
        </p:nvSpPr>
        <p:spPr>
          <a:xfrm>
            <a:off x="7135193" y="2898502"/>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03" name="Google Shape;503;p16"/>
          <p:cNvSpPr/>
          <p:nvPr/>
        </p:nvSpPr>
        <p:spPr>
          <a:xfrm>
            <a:off x="7230591" y="2898502"/>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04" name="Google Shape;504;p16"/>
          <p:cNvSpPr/>
          <p:nvPr/>
        </p:nvSpPr>
        <p:spPr>
          <a:xfrm>
            <a:off x="7326065" y="2898502"/>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05" name="Google Shape;505;p16"/>
          <p:cNvSpPr/>
          <p:nvPr/>
        </p:nvSpPr>
        <p:spPr>
          <a:xfrm>
            <a:off x="7421538" y="2898502"/>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06" name="Google Shape;506;p16"/>
          <p:cNvSpPr/>
          <p:nvPr/>
        </p:nvSpPr>
        <p:spPr>
          <a:xfrm>
            <a:off x="7516937" y="2898502"/>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07" name="Google Shape;507;p16"/>
          <p:cNvSpPr/>
          <p:nvPr/>
        </p:nvSpPr>
        <p:spPr>
          <a:xfrm>
            <a:off x="7612410" y="2898502"/>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08" name="Google Shape;508;p16"/>
          <p:cNvSpPr/>
          <p:nvPr/>
        </p:nvSpPr>
        <p:spPr>
          <a:xfrm>
            <a:off x="7707883" y="2898502"/>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09" name="Google Shape;509;p16"/>
          <p:cNvSpPr/>
          <p:nvPr/>
        </p:nvSpPr>
        <p:spPr>
          <a:xfrm>
            <a:off x="7803282" y="2898502"/>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10" name="Google Shape;510;p16"/>
          <p:cNvSpPr/>
          <p:nvPr/>
        </p:nvSpPr>
        <p:spPr>
          <a:xfrm>
            <a:off x="7898755" y="2898502"/>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11" name="Google Shape;511;p16"/>
          <p:cNvSpPr/>
          <p:nvPr/>
        </p:nvSpPr>
        <p:spPr>
          <a:xfrm>
            <a:off x="7994229" y="2898502"/>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12" name="Google Shape;512;p16"/>
          <p:cNvSpPr/>
          <p:nvPr/>
        </p:nvSpPr>
        <p:spPr>
          <a:xfrm>
            <a:off x="5798939" y="2993901"/>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13" name="Google Shape;513;p16"/>
          <p:cNvSpPr/>
          <p:nvPr/>
        </p:nvSpPr>
        <p:spPr>
          <a:xfrm>
            <a:off x="5894338" y="2993901"/>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14" name="Google Shape;514;p16"/>
          <p:cNvSpPr/>
          <p:nvPr/>
        </p:nvSpPr>
        <p:spPr>
          <a:xfrm>
            <a:off x="5989811" y="2993901"/>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15" name="Google Shape;515;p16"/>
          <p:cNvSpPr/>
          <p:nvPr/>
        </p:nvSpPr>
        <p:spPr>
          <a:xfrm>
            <a:off x="6085210" y="2993901"/>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16" name="Google Shape;516;p16"/>
          <p:cNvSpPr/>
          <p:nvPr/>
        </p:nvSpPr>
        <p:spPr>
          <a:xfrm>
            <a:off x="6180683" y="2993901"/>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17" name="Google Shape;517;p16"/>
          <p:cNvSpPr/>
          <p:nvPr/>
        </p:nvSpPr>
        <p:spPr>
          <a:xfrm>
            <a:off x="6276157" y="2993901"/>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18" name="Google Shape;518;p16"/>
          <p:cNvSpPr/>
          <p:nvPr/>
        </p:nvSpPr>
        <p:spPr>
          <a:xfrm>
            <a:off x="6371556" y="2993901"/>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19" name="Google Shape;519;p16"/>
          <p:cNvSpPr/>
          <p:nvPr/>
        </p:nvSpPr>
        <p:spPr>
          <a:xfrm>
            <a:off x="6467029" y="2993901"/>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20" name="Google Shape;520;p16"/>
          <p:cNvSpPr/>
          <p:nvPr/>
        </p:nvSpPr>
        <p:spPr>
          <a:xfrm>
            <a:off x="6562502" y="2993901"/>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21" name="Google Shape;521;p16"/>
          <p:cNvSpPr/>
          <p:nvPr/>
        </p:nvSpPr>
        <p:spPr>
          <a:xfrm>
            <a:off x="6657901" y="2993901"/>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22" name="Google Shape;522;p16"/>
          <p:cNvSpPr/>
          <p:nvPr/>
        </p:nvSpPr>
        <p:spPr>
          <a:xfrm>
            <a:off x="6753374" y="2993901"/>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23" name="Google Shape;523;p16"/>
          <p:cNvSpPr/>
          <p:nvPr/>
        </p:nvSpPr>
        <p:spPr>
          <a:xfrm>
            <a:off x="6848847" y="2993901"/>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24" name="Google Shape;524;p16"/>
          <p:cNvSpPr/>
          <p:nvPr/>
        </p:nvSpPr>
        <p:spPr>
          <a:xfrm>
            <a:off x="6944246" y="2993901"/>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25" name="Google Shape;525;p16"/>
          <p:cNvSpPr/>
          <p:nvPr/>
        </p:nvSpPr>
        <p:spPr>
          <a:xfrm>
            <a:off x="7039719" y="2993901"/>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26" name="Google Shape;526;p16"/>
          <p:cNvSpPr/>
          <p:nvPr/>
        </p:nvSpPr>
        <p:spPr>
          <a:xfrm>
            <a:off x="7135193" y="2993901"/>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27" name="Google Shape;527;p16"/>
          <p:cNvSpPr/>
          <p:nvPr/>
        </p:nvSpPr>
        <p:spPr>
          <a:xfrm>
            <a:off x="7230591" y="2993901"/>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28" name="Google Shape;528;p16"/>
          <p:cNvSpPr/>
          <p:nvPr/>
        </p:nvSpPr>
        <p:spPr>
          <a:xfrm>
            <a:off x="7326065" y="2993901"/>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29" name="Google Shape;529;p16"/>
          <p:cNvSpPr/>
          <p:nvPr/>
        </p:nvSpPr>
        <p:spPr>
          <a:xfrm>
            <a:off x="7421538" y="2993901"/>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30" name="Google Shape;530;p16"/>
          <p:cNvSpPr/>
          <p:nvPr/>
        </p:nvSpPr>
        <p:spPr>
          <a:xfrm>
            <a:off x="7516937" y="2993901"/>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31" name="Google Shape;531;p16"/>
          <p:cNvSpPr/>
          <p:nvPr/>
        </p:nvSpPr>
        <p:spPr>
          <a:xfrm>
            <a:off x="7612410" y="2993901"/>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32" name="Google Shape;532;p16"/>
          <p:cNvSpPr/>
          <p:nvPr/>
        </p:nvSpPr>
        <p:spPr>
          <a:xfrm>
            <a:off x="7707883" y="2993901"/>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33" name="Google Shape;533;p16"/>
          <p:cNvSpPr/>
          <p:nvPr/>
        </p:nvSpPr>
        <p:spPr>
          <a:xfrm>
            <a:off x="7803282" y="2993901"/>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34" name="Google Shape;534;p16"/>
          <p:cNvSpPr/>
          <p:nvPr/>
        </p:nvSpPr>
        <p:spPr>
          <a:xfrm>
            <a:off x="7898755" y="2993901"/>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35" name="Google Shape;535;p16"/>
          <p:cNvSpPr/>
          <p:nvPr/>
        </p:nvSpPr>
        <p:spPr>
          <a:xfrm>
            <a:off x="7994229" y="2993901"/>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36" name="Google Shape;536;p16"/>
          <p:cNvSpPr/>
          <p:nvPr/>
        </p:nvSpPr>
        <p:spPr>
          <a:xfrm>
            <a:off x="5798939" y="3089374"/>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37" name="Google Shape;537;p16"/>
          <p:cNvSpPr/>
          <p:nvPr/>
        </p:nvSpPr>
        <p:spPr>
          <a:xfrm>
            <a:off x="5894338" y="3089374"/>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38" name="Google Shape;538;p16"/>
          <p:cNvSpPr/>
          <p:nvPr/>
        </p:nvSpPr>
        <p:spPr>
          <a:xfrm>
            <a:off x="5989811" y="3089374"/>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39" name="Google Shape;539;p16"/>
          <p:cNvSpPr/>
          <p:nvPr/>
        </p:nvSpPr>
        <p:spPr>
          <a:xfrm>
            <a:off x="6085210" y="3089374"/>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40" name="Google Shape;540;p16"/>
          <p:cNvSpPr/>
          <p:nvPr/>
        </p:nvSpPr>
        <p:spPr>
          <a:xfrm>
            <a:off x="6180683" y="3089374"/>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41" name="Google Shape;541;p16"/>
          <p:cNvSpPr/>
          <p:nvPr/>
        </p:nvSpPr>
        <p:spPr>
          <a:xfrm>
            <a:off x="6276157" y="3089374"/>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42" name="Google Shape;542;p16"/>
          <p:cNvSpPr/>
          <p:nvPr/>
        </p:nvSpPr>
        <p:spPr>
          <a:xfrm>
            <a:off x="6371556" y="3089374"/>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43" name="Google Shape;543;p16"/>
          <p:cNvSpPr/>
          <p:nvPr/>
        </p:nvSpPr>
        <p:spPr>
          <a:xfrm>
            <a:off x="6467029" y="3089374"/>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44" name="Google Shape;544;p16"/>
          <p:cNvSpPr/>
          <p:nvPr/>
        </p:nvSpPr>
        <p:spPr>
          <a:xfrm>
            <a:off x="6562502" y="3089374"/>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45" name="Google Shape;545;p16"/>
          <p:cNvSpPr/>
          <p:nvPr/>
        </p:nvSpPr>
        <p:spPr>
          <a:xfrm>
            <a:off x="6657901" y="3089374"/>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46" name="Google Shape;546;p16"/>
          <p:cNvSpPr/>
          <p:nvPr/>
        </p:nvSpPr>
        <p:spPr>
          <a:xfrm>
            <a:off x="6753374" y="3089374"/>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47" name="Google Shape;547;p16"/>
          <p:cNvSpPr/>
          <p:nvPr/>
        </p:nvSpPr>
        <p:spPr>
          <a:xfrm>
            <a:off x="6848847" y="3089374"/>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48" name="Google Shape;548;p16"/>
          <p:cNvSpPr/>
          <p:nvPr/>
        </p:nvSpPr>
        <p:spPr>
          <a:xfrm>
            <a:off x="6944246" y="3089374"/>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49" name="Google Shape;549;p16"/>
          <p:cNvSpPr/>
          <p:nvPr/>
        </p:nvSpPr>
        <p:spPr>
          <a:xfrm>
            <a:off x="7039719" y="3089374"/>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50" name="Google Shape;550;p16"/>
          <p:cNvSpPr/>
          <p:nvPr/>
        </p:nvSpPr>
        <p:spPr>
          <a:xfrm>
            <a:off x="7135193" y="3089374"/>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51" name="Google Shape;551;p16"/>
          <p:cNvSpPr/>
          <p:nvPr/>
        </p:nvSpPr>
        <p:spPr>
          <a:xfrm>
            <a:off x="7230591" y="3089374"/>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52" name="Google Shape;552;p16"/>
          <p:cNvSpPr/>
          <p:nvPr/>
        </p:nvSpPr>
        <p:spPr>
          <a:xfrm>
            <a:off x="7326065" y="3089374"/>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53" name="Google Shape;553;p16"/>
          <p:cNvSpPr/>
          <p:nvPr/>
        </p:nvSpPr>
        <p:spPr>
          <a:xfrm>
            <a:off x="7421538" y="3089374"/>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54" name="Google Shape;554;p16"/>
          <p:cNvSpPr/>
          <p:nvPr/>
        </p:nvSpPr>
        <p:spPr>
          <a:xfrm>
            <a:off x="7516937" y="3089374"/>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55" name="Google Shape;555;p16"/>
          <p:cNvSpPr/>
          <p:nvPr/>
        </p:nvSpPr>
        <p:spPr>
          <a:xfrm>
            <a:off x="7612410" y="3089374"/>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56" name="Google Shape;556;p16"/>
          <p:cNvSpPr/>
          <p:nvPr/>
        </p:nvSpPr>
        <p:spPr>
          <a:xfrm>
            <a:off x="7707883" y="3089374"/>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57" name="Google Shape;557;p16"/>
          <p:cNvSpPr/>
          <p:nvPr/>
        </p:nvSpPr>
        <p:spPr>
          <a:xfrm>
            <a:off x="7803282" y="3089374"/>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58" name="Google Shape;558;p16"/>
          <p:cNvSpPr/>
          <p:nvPr/>
        </p:nvSpPr>
        <p:spPr>
          <a:xfrm>
            <a:off x="7898755" y="3089374"/>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59" name="Google Shape;559;p16"/>
          <p:cNvSpPr/>
          <p:nvPr/>
        </p:nvSpPr>
        <p:spPr>
          <a:xfrm>
            <a:off x="7994229" y="3089374"/>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60" name="Google Shape;560;p16"/>
          <p:cNvSpPr/>
          <p:nvPr/>
        </p:nvSpPr>
        <p:spPr>
          <a:xfrm>
            <a:off x="5798939" y="3184848"/>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61" name="Google Shape;561;p16"/>
          <p:cNvSpPr/>
          <p:nvPr/>
        </p:nvSpPr>
        <p:spPr>
          <a:xfrm>
            <a:off x="5894338" y="3184848"/>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62" name="Google Shape;562;p16"/>
          <p:cNvSpPr/>
          <p:nvPr/>
        </p:nvSpPr>
        <p:spPr>
          <a:xfrm>
            <a:off x="5989811" y="3184848"/>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63" name="Google Shape;563;p16"/>
          <p:cNvSpPr/>
          <p:nvPr/>
        </p:nvSpPr>
        <p:spPr>
          <a:xfrm>
            <a:off x="6085210" y="3184848"/>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64" name="Google Shape;564;p16"/>
          <p:cNvSpPr/>
          <p:nvPr/>
        </p:nvSpPr>
        <p:spPr>
          <a:xfrm>
            <a:off x="6180683" y="3184848"/>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65" name="Google Shape;565;p16"/>
          <p:cNvSpPr/>
          <p:nvPr/>
        </p:nvSpPr>
        <p:spPr>
          <a:xfrm>
            <a:off x="6276157" y="3184848"/>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66" name="Google Shape;566;p16"/>
          <p:cNvSpPr/>
          <p:nvPr/>
        </p:nvSpPr>
        <p:spPr>
          <a:xfrm>
            <a:off x="6371556" y="3184848"/>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67" name="Google Shape;567;p16"/>
          <p:cNvSpPr/>
          <p:nvPr/>
        </p:nvSpPr>
        <p:spPr>
          <a:xfrm>
            <a:off x="6467029" y="3184848"/>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68" name="Google Shape;568;p16"/>
          <p:cNvSpPr/>
          <p:nvPr/>
        </p:nvSpPr>
        <p:spPr>
          <a:xfrm>
            <a:off x="6562502" y="3184848"/>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69" name="Google Shape;569;p16"/>
          <p:cNvSpPr/>
          <p:nvPr/>
        </p:nvSpPr>
        <p:spPr>
          <a:xfrm>
            <a:off x="6657901" y="3184848"/>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70" name="Google Shape;570;p16"/>
          <p:cNvSpPr/>
          <p:nvPr/>
        </p:nvSpPr>
        <p:spPr>
          <a:xfrm>
            <a:off x="6753374" y="3184848"/>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71" name="Google Shape;571;p16"/>
          <p:cNvSpPr/>
          <p:nvPr/>
        </p:nvSpPr>
        <p:spPr>
          <a:xfrm>
            <a:off x="6848847" y="3184848"/>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72" name="Google Shape;572;p16"/>
          <p:cNvSpPr/>
          <p:nvPr/>
        </p:nvSpPr>
        <p:spPr>
          <a:xfrm>
            <a:off x="6944246" y="3184848"/>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73" name="Google Shape;573;p16"/>
          <p:cNvSpPr/>
          <p:nvPr/>
        </p:nvSpPr>
        <p:spPr>
          <a:xfrm>
            <a:off x="7039719" y="3184848"/>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74" name="Google Shape;574;p16"/>
          <p:cNvSpPr/>
          <p:nvPr/>
        </p:nvSpPr>
        <p:spPr>
          <a:xfrm>
            <a:off x="7135193" y="3184848"/>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75" name="Google Shape;575;p16"/>
          <p:cNvSpPr/>
          <p:nvPr/>
        </p:nvSpPr>
        <p:spPr>
          <a:xfrm>
            <a:off x="7230591" y="3184848"/>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76" name="Google Shape;576;p16"/>
          <p:cNvSpPr/>
          <p:nvPr/>
        </p:nvSpPr>
        <p:spPr>
          <a:xfrm>
            <a:off x="7326065" y="3184848"/>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77" name="Google Shape;577;p16"/>
          <p:cNvSpPr/>
          <p:nvPr/>
        </p:nvSpPr>
        <p:spPr>
          <a:xfrm>
            <a:off x="7421538" y="3184848"/>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78" name="Google Shape;578;p16"/>
          <p:cNvSpPr/>
          <p:nvPr/>
        </p:nvSpPr>
        <p:spPr>
          <a:xfrm>
            <a:off x="7516937" y="3184848"/>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79" name="Google Shape;579;p16"/>
          <p:cNvSpPr/>
          <p:nvPr/>
        </p:nvSpPr>
        <p:spPr>
          <a:xfrm>
            <a:off x="7612410" y="3184848"/>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80" name="Google Shape;580;p16"/>
          <p:cNvSpPr/>
          <p:nvPr/>
        </p:nvSpPr>
        <p:spPr>
          <a:xfrm>
            <a:off x="7707883" y="3184848"/>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81" name="Google Shape;581;p16"/>
          <p:cNvSpPr/>
          <p:nvPr/>
        </p:nvSpPr>
        <p:spPr>
          <a:xfrm>
            <a:off x="7803282" y="3184848"/>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82" name="Google Shape;582;p16"/>
          <p:cNvSpPr/>
          <p:nvPr/>
        </p:nvSpPr>
        <p:spPr>
          <a:xfrm>
            <a:off x="7898755" y="3184848"/>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83" name="Google Shape;583;p16"/>
          <p:cNvSpPr/>
          <p:nvPr/>
        </p:nvSpPr>
        <p:spPr>
          <a:xfrm>
            <a:off x="7994229" y="3184848"/>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84" name="Google Shape;584;p16"/>
          <p:cNvSpPr/>
          <p:nvPr/>
        </p:nvSpPr>
        <p:spPr>
          <a:xfrm>
            <a:off x="5798939" y="3280246"/>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85" name="Google Shape;585;p16"/>
          <p:cNvSpPr/>
          <p:nvPr/>
        </p:nvSpPr>
        <p:spPr>
          <a:xfrm>
            <a:off x="5894338" y="3280246"/>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86" name="Google Shape;586;p16"/>
          <p:cNvSpPr/>
          <p:nvPr/>
        </p:nvSpPr>
        <p:spPr>
          <a:xfrm>
            <a:off x="5989811" y="3280246"/>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87" name="Google Shape;587;p16"/>
          <p:cNvSpPr/>
          <p:nvPr/>
        </p:nvSpPr>
        <p:spPr>
          <a:xfrm>
            <a:off x="6085210" y="3280246"/>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88" name="Google Shape;588;p16"/>
          <p:cNvSpPr/>
          <p:nvPr/>
        </p:nvSpPr>
        <p:spPr>
          <a:xfrm>
            <a:off x="6180683" y="3280246"/>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89" name="Google Shape;589;p16"/>
          <p:cNvSpPr/>
          <p:nvPr/>
        </p:nvSpPr>
        <p:spPr>
          <a:xfrm>
            <a:off x="6276157" y="3280246"/>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90" name="Google Shape;590;p16"/>
          <p:cNvSpPr/>
          <p:nvPr/>
        </p:nvSpPr>
        <p:spPr>
          <a:xfrm>
            <a:off x="6371556" y="3280246"/>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91" name="Google Shape;591;p16"/>
          <p:cNvSpPr/>
          <p:nvPr/>
        </p:nvSpPr>
        <p:spPr>
          <a:xfrm>
            <a:off x="6467029" y="3280246"/>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92" name="Google Shape;592;p16"/>
          <p:cNvSpPr/>
          <p:nvPr/>
        </p:nvSpPr>
        <p:spPr>
          <a:xfrm>
            <a:off x="6562502" y="3280246"/>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93" name="Google Shape;593;p16"/>
          <p:cNvSpPr/>
          <p:nvPr/>
        </p:nvSpPr>
        <p:spPr>
          <a:xfrm>
            <a:off x="6657901" y="3280246"/>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94" name="Google Shape;594;p16"/>
          <p:cNvSpPr/>
          <p:nvPr/>
        </p:nvSpPr>
        <p:spPr>
          <a:xfrm>
            <a:off x="6753374" y="3280246"/>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95" name="Google Shape;595;p16"/>
          <p:cNvSpPr/>
          <p:nvPr/>
        </p:nvSpPr>
        <p:spPr>
          <a:xfrm>
            <a:off x="6848847" y="3280246"/>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96" name="Google Shape;596;p16"/>
          <p:cNvSpPr/>
          <p:nvPr/>
        </p:nvSpPr>
        <p:spPr>
          <a:xfrm>
            <a:off x="6944246" y="3280246"/>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97" name="Google Shape;597;p16"/>
          <p:cNvSpPr/>
          <p:nvPr/>
        </p:nvSpPr>
        <p:spPr>
          <a:xfrm>
            <a:off x="7039719" y="3280246"/>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98" name="Google Shape;598;p16"/>
          <p:cNvSpPr/>
          <p:nvPr/>
        </p:nvSpPr>
        <p:spPr>
          <a:xfrm>
            <a:off x="7135193" y="3280246"/>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99" name="Google Shape;599;p16"/>
          <p:cNvSpPr/>
          <p:nvPr/>
        </p:nvSpPr>
        <p:spPr>
          <a:xfrm>
            <a:off x="7230591" y="3280246"/>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00" name="Google Shape;600;p16"/>
          <p:cNvSpPr/>
          <p:nvPr/>
        </p:nvSpPr>
        <p:spPr>
          <a:xfrm>
            <a:off x="7326065" y="3280246"/>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01" name="Google Shape;601;p16"/>
          <p:cNvSpPr/>
          <p:nvPr/>
        </p:nvSpPr>
        <p:spPr>
          <a:xfrm>
            <a:off x="7421538" y="3280246"/>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02" name="Google Shape;602;p16"/>
          <p:cNvSpPr/>
          <p:nvPr/>
        </p:nvSpPr>
        <p:spPr>
          <a:xfrm>
            <a:off x="7516937" y="3280246"/>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03" name="Google Shape;603;p16"/>
          <p:cNvSpPr/>
          <p:nvPr/>
        </p:nvSpPr>
        <p:spPr>
          <a:xfrm>
            <a:off x="7612410" y="3280246"/>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04" name="Google Shape;604;p16"/>
          <p:cNvSpPr/>
          <p:nvPr/>
        </p:nvSpPr>
        <p:spPr>
          <a:xfrm>
            <a:off x="7707883" y="3280246"/>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05" name="Google Shape;605;p16"/>
          <p:cNvSpPr/>
          <p:nvPr/>
        </p:nvSpPr>
        <p:spPr>
          <a:xfrm>
            <a:off x="7803282" y="3280246"/>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06" name="Google Shape;606;p16"/>
          <p:cNvSpPr/>
          <p:nvPr/>
        </p:nvSpPr>
        <p:spPr>
          <a:xfrm>
            <a:off x="7898755" y="3280246"/>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07" name="Google Shape;607;p16"/>
          <p:cNvSpPr/>
          <p:nvPr/>
        </p:nvSpPr>
        <p:spPr>
          <a:xfrm>
            <a:off x="7994229" y="3280246"/>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08" name="Google Shape;608;p16"/>
          <p:cNvSpPr/>
          <p:nvPr/>
        </p:nvSpPr>
        <p:spPr>
          <a:xfrm>
            <a:off x="5798939" y="3375720"/>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09" name="Google Shape;609;p16"/>
          <p:cNvSpPr/>
          <p:nvPr/>
        </p:nvSpPr>
        <p:spPr>
          <a:xfrm>
            <a:off x="5894338" y="3375720"/>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10" name="Google Shape;610;p16"/>
          <p:cNvSpPr/>
          <p:nvPr/>
        </p:nvSpPr>
        <p:spPr>
          <a:xfrm>
            <a:off x="5989811" y="3375720"/>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11" name="Google Shape;611;p16"/>
          <p:cNvSpPr/>
          <p:nvPr/>
        </p:nvSpPr>
        <p:spPr>
          <a:xfrm>
            <a:off x="6085210" y="3375720"/>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12" name="Google Shape;612;p16"/>
          <p:cNvSpPr/>
          <p:nvPr/>
        </p:nvSpPr>
        <p:spPr>
          <a:xfrm>
            <a:off x="6180683" y="3375720"/>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13" name="Google Shape;613;p16"/>
          <p:cNvSpPr/>
          <p:nvPr/>
        </p:nvSpPr>
        <p:spPr>
          <a:xfrm>
            <a:off x="6276157" y="3375720"/>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14" name="Google Shape;614;p16"/>
          <p:cNvSpPr/>
          <p:nvPr/>
        </p:nvSpPr>
        <p:spPr>
          <a:xfrm>
            <a:off x="6371556" y="3375720"/>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15" name="Google Shape;615;p16"/>
          <p:cNvSpPr/>
          <p:nvPr/>
        </p:nvSpPr>
        <p:spPr>
          <a:xfrm>
            <a:off x="6467029" y="3375720"/>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16" name="Google Shape;616;p16"/>
          <p:cNvSpPr/>
          <p:nvPr/>
        </p:nvSpPr>
        <p:spPr>
          <a:xfrm>
            <a:off x="6562502" y="3375720"/>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17" name="Google Shape;617;p16"/>
          <p:cNvSpPr/>
          <p:nvPr/>
        </p:nvSpPr>
        <p:spPr>
          <a:xfrm>
            <a:off x="6657901" y="3375720"/>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18" name="Google Shape;618;p16"/>
          <p:cNvSpPr/>
          <p:nvPr/>
        </p:nvSpPr>
        <p:spPr>
          <a:xfrm>
            <a:off x="6753374" y="3375720"/>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19" name="Google Shape;619;p16"/>
          <p:cNvSpPr/>
          <p:nvPr/>
        </p:nvSpPr>
        <p:spPr>
          <a:xfrm>
            <a:off x="6848847" y="3375720"/>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20" name="Google Shape;620;p16"/>
          <p:cNvSpPr/>
          <p:nvPr/>
        </p:nvSpPr>
        <p:spPr>
          <a:xfrm>
            <a:off x="6944246" y="3375720"/>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21" name="Google Shape;621;p16"/>
          <p:cNvSpPr/>
          <p:nvPr/>
        </p:nvSpPr>
        <p:spPr>
          <a:xfrm>
            <a:off x="7039719" y="3375720"/>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22" name="Google Shape;622;p16"/>
          <p:cNvSpPr/>
          <p:nvPr/>
        </p:nvSpPr>
        <p:spPr>
          <a:xfrm>
            <a:off x="7135193" y="3375720"/>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23" name="Google Shape;623;p16"/>
          <p:cNvSpPr/>
          <p:nvPr/>
        </p:nvSpPr>
        <p:spPr>
          <a:xfrm>
            <a:off x="7230591" y="3375720"/>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24" name="Google Shape;624;p16"/>
          <p:cNvSpPr/>
          <p:nvPr/>
        </p:nvSpPr>
        <p:spPr>
          <a:xfrm>
            <a:off x="7326065" y="3375720"/>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25" name="Google Shape;625;p16"/>
          <p:cNvSpPr/>
          <p:nvPr/>
        </p:nvSpPr>
        <p:spPr>
          <a:xfrm>
            <a:off x="7421538" y="3375720"/>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26" name="Google Shape;626;p16"/>
          <p:cNvSpPr/>
          <p:nvPr/>
        </p:nvSpPr>
        <p:spPr>
          <a:xfrm>
            <a:off x="7516937" y="3375720"/>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27" name="Google Shape;627;p16"/>
          <p:cNvSpPr/>
          <p:nvPr/>
        </p:nvSpPr>
        <p:spPr>
          <a:xfrm>
            <a:off x="7612410" y="3375720"/>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28" name="Google Shape;628;p16"/>
          <p:cNvSpPr/>
          <p:nvPr/>
        </p:nvSpPr>
        <p:spPr>
          <a:xfrm>
            <a:off x="7707883" y="3375720"/>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29" name="Google Shape;629;p16"/>
          <p:cNvSpPr/>
          <p:nvPr/>
        </p:nvSpPr>
        <p:spPr>
          <a:xfrm>
            <a:off x="7803282" y="3375720"/>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30" name="Google Shape;630;p16"/>
          <p:cNvSpPr/>
          <p:nvPr/>
        </p:nvSpPr>
        <p:spPr>
          <a:xfrm>
            <a:off x="7898755" y="3375720"/>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31" name="Google Shape;631;p16"/>
          <p:cNvSpPr/>
          <p:nvPr/>
        </p:nvSpPr>
        <p:spPr>
          <a:xfrm>
            <a:off x="7994229" y="3375720"/>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32" name="Google Shape;632;p16"/>
          <p:cNvSpPr/>
          <p:nvPr/>
        </p:nvSpPr>
        <p:spPr>
          <a:xfrm>
            <a:off x="5798939" y="3471193"/>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33" name="Google Shape;633;p16"/>
          <p:cNvSpPr/>
          <p:nvPr/>
        </p:nvSpPr>
        <p:spPr>
          <a:xfrm>
            <a:off x="5894338" y="3471193"/>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34" name="Google Shape;634;p16"/>
          <p:cNvSpPr/>
          <p:nvPr/>
        </p:nvSpPr>
        <p:spPr>
          <a:xfrm>
            <a:off x="5989811" y="3471193"/>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35" name="Google Shape;635;p16"/>
          <p:cNvSpPr/>
          <p:nvPr/>
        </p:nvSpPr>
        <p:spPr>
          <a:xfrm>
            <a:off x="6085210" y="3471193"/>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36" name="Google Shape;636;p16"/>
          <p:cNvSpPr/>
          <p:nvPr/>
        </p:nvSpPr>
        <p:spPr>
          <a:xfrm>
            <a:off x="6180683" y="3471193"/>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37" name="Google Shape;637;p16"/>
          <p:cNvSpPr/>
          <p:nvPr/>
        </p:nvSpPr>
        <p:spPr>
          <a:xfrm>
            <a:off x="6276157" y="3471193"/>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38" name="Google Shape;638;p16"/>
          <p:cNvSpPr/>
          <p:nvPr/>
        </p:nvSpPr>
        <p:spPr>
          <a:xfrm>
            <a:off x="6371556" y="3471193"/>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39" name="Google Shape;639;p16"/>
          <p:cNvSpPr/>
          <p:nvPr/>
        </p:nvSpPr>
        <p:spPr>
          <a:xfrm>
            <a:off x="6467029" y="3471193"/>
            <a:ext cx="90600" cy="90600"/>
          </a:xfrm>
          <a:prstGeom prst="rect">
            <a:avLst/>
          </a:prstGeom>
          <a:solidFill>
            <a:srgbClr val="F3EBD9">
              <a:alpha val="7686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40" name="Google Shape;640;p16"/>
          <p:cNvSpPr/>
          <p:nvPr/>
        </p:nvSpPr>
        <p:spPr>
          <a:xfrm>
            <a:off x="6562502" y="3471193"/>
            <a:ext cx="90600" cy="90600"/>
          </a:xfrm>
          <a:prstGeom prst="rect">
            <a:avLst/>
          </a:prstGeom>
          <a:solidFill>
            <a:srgbClr val="F3EBD9">
              <a:alpha val="8392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41" name="Google Shape;641;p16"/>
          <p:cNvSpPr/>
          <p:nvPr/>
        </p:nvSpPr>
        <p:spPr>
          <a:xfrm>
            <a:off x="6657901" y="3471193"/>
            <a:ext cx="90600" cy="90600"/>
          </a:xfrm>
          <a:prstGeom prst="rect">
            <a:avLst/>
          </a:prstGeom>
          <a:solidFill>
            <a:srgbClr val="F3EBD9">
              <a:alpha val="9019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42" name="Google Shape;642;p16"/>
          <p:cNvSpPr/>
          <p:nvPr/>
        </p:nvSpPr>
        <p:spPr>
          <a:xfrm>
            <a:off x="6753374" y="3471193"/>
            <a:ext cx="90600" cy="90600"/>
          </a:xfrm>
          <a:prstGeom prst="rect">
            <a:avLst/>
          </a:prstGeom>
          <a:solidFill>
            <a:srgbClr val="F3EBD9">
              <a:alpha val="9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43" name="Google Shape;643;p16"/>
          <p:cNvSpPr/>
          <p:nvPr/>
        </p:nvSpPr>
        <p:spPr>
          <a:xfrm>
            <a:off x="6848847" y="3471193"/>
            <a:ext cx="90600" cy="90600"/>
          </a:xfrm>
          <a:prstGeom prst="rect">
            <a:avLst/>
          </a:prstGeom>
          <a:solidFill>
            <a:srgbClr val="F3EBD9">
              <a:alpha val="6705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44" name="Google Shape;644;p16"/>
          <p:cNvSpPr/>
          <p:nvPr/>
        </p:nvSpPr>
        <p:spPr>
          <a:xfrm>
            <a:off x="6944246" y="3471193"/>
            <a:ext cx="90600" cy="90600"/>
          </a:xfrm>
          <a:prstGeom prst="rect">
            <a:avLst/>
          </a:prstGeom>
          <a:solidFill>
            <a:srgbClr val="F3EBD9">
              <a:alpha val="7294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45" name="Google Shape;645;p16"/>
          <p:cNvSpPr/>
          <p:nvPr/>
        </p:nvSpPr>
        <p:spPr>
          <a:xfrm>
            <a:off x="7039719" y="3471193"/>
            <a:ext cx="90600" cy="90600"/>
          </a:xfrm>
          <a:prstGeom prst="rect">
            <a:avLst/>
          </a:prstGeom>
          <a:solidFill>
            <a:srgbClr val="F3EBD9">
              <a:alpha val="7882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46" name="Google Shape;646;p16"/>
          <p:cNvSpPr/>
          <p:nvPr/>
        </p:nvSpPr>
        <p:spPr>
          <a:xfrm>
            <a:off x="7135193" y="3471193"/>
            <a:ext cx="90600" cy="90600"/>
          </a:xfrm>
          <a:prstGeom prst="rect">
            <a:avLst/>
          </a:prstGeom>
          <a:solidFill>
            <a:srgbClr val="F3EBD9">
              <a:alpha val="8588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47" name="Google Shape;647;p16"/>
          <p:cNvSpPr/>
          <p:nvPr/>
        </p:nvSpPr>
        <p:spPr>
          <a:xfrm>
            <a:off x="7230591" y="3471193"/>
            <a:ext cx="90600" cy="90600"/>
          </a:xfrm>
          <a:prstGeom prst="rect">
            <a:avLst/>
          </a:prstGeom>
          <a:solidFill>
            <a:srgbClr val="F3EBD9">
              <a:alpha val="9215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48" name="Google Shape;648;p16"/>
          <p:cNvSpPr/>
          <p:nvPr/>
        </p:nvSpPr>
        <p:spPr>
          <a:xfrm>
            <a:off x="7326065" y="3471193"/>
            <a:ext cx="90600" cy="90600"/>
          </a:xfrm>
          <a:prstGeom prst="rect">
            <a:avLst/>
          </a:prstGeom>
          <a:solidFill>
            <a:srgbClr val="F3EBD9">
              <a:alpha val="9803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49" name="Google Shape;649;p16"/>
          <p:cNvSpPr/>
          <p:nvPr/>
        </p:nvSpPr>
        <p:spPr>
          <a:xfrm>
            <a:off x="7421538" y="3471193"/>
            <a:ext cx="90600" cy="90600"/>
          </a:xfrm>
          <a:prstGeom prst="rect">
            <a:avLst/>
          </a:prstGeom>
          <a:solidFill>
            <a:srgbClr val="F3EBD9">
              <a:alpha val="6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50" name="Google Shape;650;p16"/>
          <p:cNvSpPr/>
          <p:nvPr/>
        </p:nvSpPr>
        <p:spPr>
          <a:xfrm>
            <a:off x="7516937" y="3471193"/>
            <a:ext cx="90600" cy="90600"/>
          </a:xfrm>
          <a:prstGeom prst="rect">
            <a:avLst/>
          </a:prstGeom>
          <a:solidFill>
            <a:srgbClr val="F3EBD9">
              <a:alpha val="74901"/>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51" name="Google Shape;651;p16"/>
          <p:cNvSpPr/>
          <p:nvPr/>
        </p:nvSpPr>
        <p:spPr>
          <a:xfrm>
            <a:off x="7612410" y="3471193"/>
            <a:ext cx="90600" cy="90600"/>
          </a:xfrm>
          <a:prstGeom prst="rect">
            <a:avLst/>
          </a:prstGeom>
          <a:solidFill>
            <a:srgbClr val="F3EBD9">
              <a:alpha val="81176"/>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52" name="Google Shape;652;p16"/>
          <p:cNvSpPr/>
          <p:nvPr/>
        </p:nvSpPr>
        <p:spPr>
          <a:xfrm>
            <a:off x="7707883" y="3471193"/>
            <a:ext cx="90600" cy="90600"/>
          </a:xfrm>
          <a:prstGeom prst="rect">
            <a:avLst/>
          </a:prstGeom>
          <a:solidFill>
            <a:srgbClr val="F3EBD9">
              <a:alpha val="87843"/>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53" name="Google Shape;653;p16"/>
          <p:cNvSpPr/>
          <p:nvPr/>
        </p:nvSpPr>
        <p:spPr>
          <a:xfrm>
            <a:off x="7803282" y="3471193"/>
            <a:ext cx="90600" cy="90600"/>
          </a:xfrm>
          <a:prstGeom prst="rect">
            <a:avLst/>
          </a:prstGeom>
          <a:solidFill>
            <a:srgbClr val="F3EBD9">
              <a:alpha val="94117"/>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54" name="Google Shape;654;p16"/>
          <p:cNvSpPr/>
          <p:nvPr/>
        </p:nvSpPr>
        <p:spPr>
          <a:xfrm>
            <a:off x="7898755" y="3471193"/>
            <a:ext cx="90600" cy="90600"/>
          </a:xfrm>
          <a:prstGeom prst="rect">
            <a:avLst/>
          </a:prstGeom>
          <a:solidFill>
            <a:srgbClr val="F3EBD9">
              <a:alpha val="6509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55" name="Google Shape;655;p16"/>
          <p:cNvSpPr/>
          <p:nvPr/>
        </p:nvSpPr>
        <p:spPr>
          <a:xfrm>
            <a:off x="7994229" y="3471193"/>
            <a:ext cx="90600" cy="90600"/>
          </a:xfrm>
          <a:prstGeom prst="rect">
            <a:avLst/>
          </a:prstGeom>
          <a:solidFill>
            <a:srgbClr val="F3EBD9">
              <a:alpha val="7098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56" name="Google Shape;656;p16"/>
          <p:cNvSpPr/>
          <p:nvPr/>
        </p:nvSpPr>
        <p:spPr>
          <a:xfrm>
            <a:off x="4724975" y="3644400"/>
            <a:ext cx="4147500" cy="343800"/>
          </a:xfrm>
          <a:prstGeom prst="rect">
            <a:avLst/>
          </a:prstGeom>
          <a:noFill/>
          <a:ln>
            <a:noFill/>
          </a:ln>
        </p:spPr>
        <p:txBody>
          <a:bodyPr anchorCtr="0" anchor="t" bIns="12700" lIns="12700" spcFirstLastPara="1" rIns="12700" wrap="square" tIns="12700">
            <a:noAutofit/>
          </a:bodyPr>
          <a:lstStyle/>
          <a:p>
            <a:pPr indent="0" lvl="0" marL="0" marR="0" rtl="0" algn="ctr">
              <a:lnSpc>
                <a:spcPct val="140000"/>
              </a:lnSpc>
              <a:spcBef>
                <a:spcPts val="0"/>
              </a:spcBef>
              <a:spcAft>
                <a:spcPts val="0"/>
              </a:spcAft>
              <a:buClr>
                <a:srgbClr val="7A1F10"/>
              </a:buClr>
              <a:buSzPts val="900"/>
              <a:buFont typeface="IBM Plex Mono"/>
              <a:buNone/>
            </a:pPr>
            <a:r>
              <a:rPr i="0" lang="en" sz="900" u="none" cap="none" strike="noStrike">
                <a:solidFill>
                  <a:srgbClr val="7A1F10"/>
                </a:solidFill>
                <a:latin typeface="Calibri"/>
                <a:ea typeface="Calibri"/>
                <a:cs typeface="Calibri"/>
                <a:sym typeface="Calibri"/>
              </a:rPr>
              <a:t>Fig. i </a:t>
            </a:r>
            <a:r>
              <a:rPr i="1" lang="en" sz="900" u="none" cap="none" strike="noStrike">
                <a:solidFill>
                  <a:srgbClr val="4A3A28"/>
                </a:solidFill>
                <a:latin typeface="Calibri"/>
                <a:ea typeface="Calibri"/>
                <a:cs typeface="Calibri"/>
                <a:sym typeface="Calibri"/>
              </a:rPr>
              <a:t>576 patches; the </a:t>
            </a:r>
            <a:r>
              <a:rPr i="0" lang="en" sz="900" u="none" cap="none" strike="noStrike">
                <a:solidFill>
                  <a:srgbClr val="7A1F10"/>
                </a:solidFill>
                <a:latin typeface="Calibri"/>
                <a:ea typeface="Calibri"/>
                <a:cs typeface="Calibri"/>
                <a:sym typeface="Calibri"/>
              </a:rPr>
              <a:t>scarlet </a:t>
            </a:r>
            <a:r>
              <a:rPr i="1" lang="en" sz="900" u="none" cap="none" strike="noStrike">
                <a:solidFill>
                  <a:srgbClr val="4A3A28"/>
                </a:solidFill>
                <a:latin typeface="Calibri"/>
                <a:ea typeface="Calibri"/>
                <a:cs typeface="Calibri"/>
                <a:sym typeface="Calibri"/>
              </a:rPr>
              <a:t>few are what the question is actually about</a:t>
            </a:r>
            <a:endParaRPr i="0" sz="900" u="none" cap="none" strike="noStrike">
              <a:solidFill>
                <a:schemeClr val="dk1"/>
              </a:solidFill>
              <a:latin typeface="Calibri"/>
              <a:ea typeface="Calibri"/>
              <a:cs typeface="Calibri"/>
              <a:sym typeface="Calibri"/>
            </a:endParaRPr>
          </a:p>
        </p:txBody>
      </p:sp>
      <p:sp>
        <p:nvSpPr>
          <p:cNvPr id="657" name="Google Shape;657;p16"/>
          <p:cNvSpPr/>
          <p:nvPr/>
        </p:nvSpPr>
        <p:spPr>
          <a:xfrm>
            <a:off x="476250" y="4643438"/>
            <a:ext cx="8191500" cy="4763"/>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58" name="Google Shape;658;p16"/>
          <p:cNvSpPr/>
          <p:nvPr/>
        </p:nvSpPr>
        <p:spPr>
          <a:xfrm>
            <a:off x="476250" y="4743450"/>
            <a:ext cx="1375728" cy="1476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i="1" lang="en" sz="900" u="none" cap="none" strike="noStrike">
                <a:solidFill>
                  <a:srgbClr val="8A7A64"/>
                </a:solidFill>
                <a:latin typeface="Calibri"/>
                <a:ea typeface="Calibri"/>
                <a:cs typeface="Calibri"/>
                <a:sym typeface="Calibri"/>
              </a:rPr>
              <a:t>PAPIT · an essay in pruning</a:t>
            </a:r>
            <a:endParaRPr i="0" sz="900" u="none" cap="none" strike="noStrike">
              <a:solidFill>
                <a:schemeClr val="dk1"/>
              </a:solidFill>
              <a:latin typeface="Calibri"/>
              <a:ea typeface="Calibri"/>
              <a:cs typeface="Calibri"/>
              <a:sym typeface="Calibri"/>
            </a:endParaRPr>
          </a:p>
        </p:txBody>
      </p:sp>
      <p:sp>
        <p:nvSpPr>
          <p:cNvPr id="659" name="Google Shape;659;p16"/>
          <p:cNvSpPr/>
          <p:nvPr/>
        </p:nvSpPr>
        <p:spPr>
          <a:xfrm>
            <a:off x="7947645" y="4724400"/>
            <a:ext cx="758205" cy="1714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IBM Plex Mono"/>
              <a:buNone/>
            </a:pPr>
            <a:r>
              <a:rPr i="0" lang="en" sz="900" u="none" cap="none" strike="noStrike">
                <a:solidFill>
                  <a:srgbClr val="8A7A64"/>
                </a:solidFill>
                <a:latin typeface="Calibri"/>
                <a:ea typeface="Calibri"/>
                <a:cs typeface="Calibri"/>
                <a:sym typeface="Calibri"/>
              </a:rPr>
              <a:t>02 / 10</a:t>
            </a:r>
            <a:endParaRPr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4" name="Shape 664"/>
        <p:cNvGrpSpPr/>
        <p:nvPr/>
      </p:nvGrpSpPr>
      <p:grpSpPr>
        <a:xfrm>
          <a:off x="0" y="0"/>
          <a:ext cx="0" cy="0"/>
          <a:chOff x="0" y="0"/>
          <a:chExt cx="0" cy="0"/>
        </a:xfrm>
      </p:grpSpPr>
      <p:sp>
        <p:nvSpPr>
          <p:cNvPr id="665" name="Google Shape;665;p17"/>
          <p:cNvSpPr/>
          <p:nvPr/>
        </p:nvSpPr>
        <p:spPr>
          <a:xfrm>
            <a:off x="476250" y="485775"/>
            <a:ext cx="8191500" cy="4763"/>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66" name="Google Shape;666;p17"/>
          <p:cNvSpPr/>
          <p:nvPr/>
        </p:nvSpPr>
        <p:spPr>
          <a:xfrm>
            <a:off x="476250" y="276225"/>
            <a:ext cx="1516911" cy="1476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lang="en" sz="1200">
                <a:solidFill>
                  <a:srgbClr val="8A7A64"/>
                </a:solidFill>
                <a:latin typeface="Calibri"/>
                <a:ea typeface="Calibri"/>
                <a:cs typeface="Calibri"/>
                <a:sym typeface="Calibri"/>
              </a:rPr>
              <a:t>Problem Statement</a:t>
            </a:r>
            <a:endParaRPr i="0" sz="1200" u="none" cap="none" strike="noStrike">
              <a:solidFill>
                <a:schemeClr val="dk1"/>
              </a:solidFill>
              <a:latin typeface="Calibri"/>
              <a:ea typeface="Calibri"/>
              <a:cs typeface="Calibri"/>
              <a:sym typeface="Calibri"/>
            </a:endParaRPr>
          </a:p>
        </p:txBody>
      </p:sp>
      <p:sp>
        <p:nvSpPr>
          <p:cNvPr id="667" name="Google Shape;667;p17"/>
          <p:cNvSpPr/>
          <p:nvPr/>
        </p:nvSpPr>
        <p:spPr>
          <a:xfrm>
            <a:off x="476250" y="1888969"/>
            <a:ext cx="7848600" cy="873300"/>
          </a:xfrm>
          <a:prstGeom prst="rect">
            <a:avLst/>
          </a:prstGeom>
          <a:noFill/>
          <a:ln>
            <a:noFill/>
          </a:ln>
        </p:spPr>
        <p:txBody>
          <a:bodyPr anchorCtr="0" anchor="t" bIns="12700" lIns="12700" spcFirstLastPara="1" rIns="12700" wrap="square" tIns="12700">
            <a:noAutofit/>
          </a:bodyPr>
          <a:lstStyle/>
          <a:p>
            <a:pPr indent="0" lvl="0" marL="0" marR="0" rtl="0" algn="ctr">
              <a:lnSpc>
                <a:spcPct val="118000"/>
              </a:lnSpc>
              <a:spcBef>
                <a:spcPts val="0"/>
              </a:spcBef>
              <a:spcAft>
                <a:spcPts val="0"/>
              </a:spcAft>
              <a:buClr>
                <a:srgbClr val="7A1F10"/>
              </a:buClr>
              <a:buSzPts val="3400"/>
              <a:buFont typeface="Times New Roman"/>
              <a:buNone/>
            </a:pPr>
            <a:r>
              <a:rPr i="1" lang="en" sz="2400" u="none" cap="none" strike="noStrike">
                <a:solidFill>
                  <a:srgbClr val="7A1F10"/>
                </a:solidFill>
                <a:latin typeface="Calibri"/>
                <a:ea typeface="Calibri"/>
                <a:cs typeface="Calibri"/>
                <a:sym typeface="Calibri"/>
              </a:rPr>
              <a:t>“</a:t>
            </a:r>
            <a:r>
              <a:rPr i="1" lang="en" sz="2400">
                <a:solidFill>
                  <a:srgbClr val="1A140C"/>
                </a:solidFill>
                <a:latin typeface="Calibri"/>
                <a:ea typeface="Calibri"/>
                <a:cs typeface="Calibri"/>
                <a:sym typeface="Calibri"/>
              </a:rPr>
              <a:t>U</a:t>
            </a:r>
            <a:r>
              <a:rPr i="1" lang="en" sz="2400" u="none" cap="none" strike="noStrike">
                <a:solidFill>
                  <a:srgbClr val="1A140C"/>
                </a:solidFill>
                <a:latin typeface="Calibri"/>
                <a:ea typeface="Calibri"/>
                <a:cs typeface="Calibri"/>
                <a:sym typeface="Calibri"/>
              </a:rPr>
              <a:t>ser's </a:t>
            </a:r>
            <a:r>
              <a:rPr i="1" lang="en" sz="2400" u="none" cap="none" strike="noStrike">
                <a:solidFill>
                  <a:srgbClr val="7A1F10"/>
                </a:solidFill>
                <a:latin typeface="Calibri"/>
                <a:ea typeface="Calibri"/>
                <a:cs typeface="Calibri"/>
                <a:sym typeface="Calibri"/>
              </a:rPr>
              <a:t>prompt</a:t>
            </a:r>
            <a:r>
              <a:rPr i="1" lang="en" sz="2400">
                <a:solidFill>
                  <a:srgbClr val="7A1F10"/>
                </a:solidFill>
                <a:latin typeface="Calibri"/>
                <a:ea typeface="Calibri"/>
                <a:cs typeface="Calibri"/>
                <a:sym typeface="Calibri"/>
              </a:rPr>
              <a:t> +CLIP</a:t>
            </a:r>
            <a:r>
              <a:rPr i="1" lang="en" sz="2400" u="none" cap="none" strike="noStrike">
                <a:solidFill>
                  <a:srgbClr val="7A1F10"/>
                </a:solidFill>
                <a:latin typeface="Calibri"/>
                <a:ea typeface="Calibri"/>
                <a:cs typeface="Calibri"/>
                <a:sym typeface="Calibri"/>
              </a:rPr>
              <a:t> </a:t>
            </a:r>
            <a:r>
              <a:rPr i="1" lang="en" sz="2400" u="none" cap="none" strike="noStrike">
                <a:solidFill>
                  <a:srgbClr val="1A140C"/>
                </a:solidFill>
                <a:latin typeface="Calibri"/>
                <a:ea typeface="Calibri"/>
                <a:cs typeface="Calibri"/>
                <a:sym typeface="Calibri"/>
              </a:rPr>
              <a:t>alone should tell us which patches to keep — without any further training. </a:t>
            </a:r>
            <a:r>
              <a:rPr i="1" lang="en" sz="2400" u="none" cap="none" strike="noStrike">
                <a:solidFill>
                  <a:srgbClr val="7A1F10"/>
                </a:solidFill>
                <a:latin typeface="Calibri"/>
                <a:ea typeface="Calibri"/>
                <a:cs typeface="Calibri"/>
                <a:sym typeface="Calibri"/>
              </a:rPr>
              <a:t>”</a:t>
            </a:r>
            <a:endParaRPr i="0" sz="2400" u="none" cap="none" strike="noStrike">
              <a:solidFill>
                <a:schemeClr val="dk1"/>
              </a:solidFill>
              <a:latin typeface="Calibri"/>
              <a:ea typeface="Calibri"/>
              <a:cs typeface="Calibri"/>
              <a:sym typeface="Calibri"/>
            </a:endParaRPr>
          </a:p>
        </p:txBody>
      </p:sp>
      <p:sp>
        <p:nvSpPr>
          <p:cNvPr id="668" name="Google Shape;668;p17"/>
          <p:cNvSpPr/>
          <p:nvPr/>
        </p:nvSpPr>
        <p:spPr>
          <a:xfrm>
            <a:off x="4210124" y="3015481"/>
            <a:ext cx="723751" cy="195263"/>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A1F10"/>
              </a:buClr>
              <a:buSzPts val="1200"/>
              <a:buFont typeface="Times New Roman"/>
              <a:buNone/>
            </a:pPr>
            <a:r>
              <a:rPr i="0" lang="en" sz="1200" u="none" cap="none" strike="noStrike">
                <a:solidFill>
                  <a:srgbClr val="7A1F10"/>
                </a:solidFill>
                <a:latin typeface="Calibri"/>
                <a:ea typeface="Calibri"/>
                <a:cs typeface="Calibri"/>
                <a:sym typeface="Calibri"/>
              </a:rPr>
              <a:t>· · ·</a:t>
            </a:r>
            <a:endParaRPr i="0" sz="1200" u="none" cap="none" strike="noStrike">
              <a:solidFill>
                <a:schemeClr val="dk1"/>
              </a:solidFill>
              <a:latin typeface="Calibri"/>
              <a:ea typeface="Calibri"/>
              <a:cs typeface="Calibri"/>
              <a:sym typeface="Calibri"/>
            </a:endParaRPr>
          </a:p>
        </p:txBody>
      </p:sp>
      <p:sp>
        <p:nvSpPr>
          <p:cNvPr id="669" name="Google Shape;669;p17"/>
          <p:cNvSpPr/>
          <p:nvPr/>
        </p:nvSpPr>
        <p:spPr>
          <a:xfrm>
            <a:off x="476249" y="3085350"/>
            <a:ext cx="7321500" cy="47640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1A140C"/>
              </a:buClr>
              <a:buSzPts val="1200"/>
              <a:buFont typeface="Times New Roman"/>
              <a:buNone/>
            </a:pPr>
            <a:r>
              <a:rPr i="0" lang="en" sz="1500" u="none" cap="none" strike="noStrike">
                <a:solidFill>
                  <a:srgbClr val="1A140C"/>
                </a:solidFill>
                <a:latin typeface="Calibri"/>
                <a:ea typeface="Calibri"/>
                <a:cs typeface="Calibri"/>
                <a:sym typeface="Calibri"/>
              </a:rPr>
              <a:t>After all, LLaVA's vision tower </a:t>
            </a:r>
            <a:r>
              <a:rPr i="1" lang="en" sz="1500" u="none" cap="none" strike="noStrike">
                <a:solidFill>
                  <a:srgbClr val="7A1F10"/>
                </a:solidFill>
                <a:latin typeface="Calibri"/>
                <a:ea typeface="Calibri"/>
                <a:cs typeface="Calibri"/>
                <a:sym typeface="Calibri"/>
              </a:rPr>
              <a:t>is </a:t>
            </a:r>
            <a:r>
              <a:rPr i="0" lang="en" sz="1500" u="none" cap="none" strike="noStrike">
                <a:solidFill>
                  <a:srgbClr val="1A140C"/>
                </a:solidFill>
                <a:latin typeface="Calibri"/>
                <a:ea typeface="Calibri"/>
                <a:cs typeface="Calibri"/>
                <a:sym typeface="Calibri"/>
              </a:rPr>
              <a:t>CLIP — and CLIP was trained to align image patches with text. Reading saliency from the prompt </a:t>
            </a:r>
            <a:r>
              <a:rPr lang="en" sz="1500">
                <a:solidFill>
                  <a:srgbClr val="1A140C"/>
                </a:solidFill>
                <a:latin typeface="Calibri"/>
                <a:ea typeface="Calibri"/>
                <a:cs typeface="Calibri"/>
                <a:sym typeface="Calibri"/>
              </a:rPr>
              <a:t>should</a:t>
            </a:r>
            <a:r>
              <a:rPr i="0" lang="en" sz="1500" u="none" cap="none" strike="noStrike">
                <a:solidFill>
                  <a:srgbClr val="1A140C"/>
                </a:solidFill>
                <a:latin typeface="Calibri"/>
                <a:ea typeface="Calibri"/>
                <a:cs typeface="Calibri"/>
                <a:sym typeface="Calibri"/>
              </a:rPr>
              <a:t> beat random.</a:t>
            </a:r>
            <a:endParaRPr i="0" sz="1500" u="none" cap="none" strike="noStrike">
              <a:solidFill>
                <a:schemeClr val="dk1"/>
              </a:solidFill>
              <a:latin typeface="Calibri"/>
              <a:ea typeface="Calibri"/>
              <a:cs typeface="Calibri"/>
              <a:sym typeface="Calibri"/>
            </a:endParaRPr>
          </a:p>
        </p:txBody>
      </p:sp>
      <p:sp>
        <p:nvSpPr>
          <p:cNvPr id="670" name="Google Shape;670;p17"/>
          <p:cNvSpPr/>
          <p:nvPr/>
        </p:nvSpPr>
        <p:spPr>
          <a:xfrm>
            <a:off x="476250" y="4643438"/>
            <a:ext cx="8191500" cy="4763"/>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71" name="Google Shape;671;p17"/>
          <p:cNvSpPr/>
          <p:nvPr/>
        </p:nvSpPr>
        <p:spPr>
          <a:xfrm>
            <a:off x="476250" y="4743450"/>
            <a:ext cx="1375728" cy="1476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i="1" lang="en" sz="900" u="none" cap="none" strike="noStrike">
                <a:solidFill>
                  <a:srgbClr val="8A7A64"/>
                </a:solidFill>
                <a:latin typeface="Calibri"/>
                <a:ea typeface="Calibri"/>
                <a:cs typeface="Calibri"/>
                <a:sym typeface="Calibri"/>
              </a:rPr>
              <a:t>PAPIT </a:t>
            </a:r>
            <a:r>
              <a:rPr i="1" lang="en" sz="900" u="none" cap="none" strike="noStrike">
                <a:solidFill>
                  <a:srgbClr val="8A7A64"/>
                </a:solidFill>
                <a:latin typeface="Calibri"/>
                <a:ea typeface="Calibri"/>
                <a:cs typeface="Calibri"/>
                <a:sym typeface="Calibri"/>
              </a:rPr>
              <a:t>· an essay in pruning</a:t>
            </a:r>
            <a:endParaRPr i="0" sz="900" u="none" cap="none" strike="noStrike">
              <a:solidFill>
                <a:schemeClr val="dk1"/>
              </a:solidFill>
              <a:latin typeface="Calibri"/>
              <a:ea typeface="Calibri"/>
              <a:cs typeface="Calibri"/>
              <a:sym typeface="Calibri"/>
            </a:endParaRPr>
          </a:p>
        </p:txBody>
      </p:sp>
      <p:sp>
        <p:nvSpPr>
          <p:cNvPr id="672" name="Google Shape;672;p17"/>
          <p:cNvSpPr/>
          <p:nvPr/>
        </p:nvSpPr>
        <p:spPr>
          <a:xfrm>
            <a:off x="7947645" y="4724400"/>
            <a:ext cx="758205" cy="1714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IBM Plex Mono"/>
              <a:buNone/>
            </a:pPr>
            <a:r>
              <a:rPr i="0" lang="en" sz="900" u="none" cap="none" strike="noStrike">
                <a:solidFill>
                  <a:srgbClr val="8A7A64"/>
                </a:solidFill>
                <a:latin typeface="Calibri"/>
                <a:ea typeface="Calibri"/>
                <a:cs typeface="Calibri"/>
                <a:sym typeface="Calibri"/>
              </a:rPr>
              <a:t>03 / 10</a:t>
            </a:r>
            <a:endParaRPr i="0" sz="900" u="none" cap="none" strike="noStrike">
              <a:solidFill>
                <a:schemeClr val="dk1"/>
              </a:solidFill>
              <a:latin typeface="Calibri"/>
              <a:ea typeface="Calibri"/>
              <a:cs typeface="Calibri"/>
              <a:sym typeface="Calibri"/>
            </a:endParaRPr>
          </a:p>
        </p:txBody>
      </p:sp>
      <p:sp>
        <p:nvSpPr>
          <p:cNvPr id="673" name="Google Shape;673;p17"/>
          <p:cNvSpPr/>
          <p:nvPr/>
        </p:nvSpPr>
        <p:spPr>
          <a:xfrm>
            <a:off x="447975" y="824250"/>
            <a:ext cx="5866200" cy="811500"/>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A140C"/>
              </a:buClr>
              <a:buSzPts val="3000"/>
              <a:buFont typeface="Times New Roman"/>
              <a:buNone/>
            </a:pPr>
            <a:r>
              <a:rPr lang="en" sz="3000">
                <a:solidFill>
                  <a:srgbClr val="1A140C"/>
                </a:solidFill>
                <a:latin typeface="Calibri"/>
                <a:ea typeface="Calibri"/>
                <a:cs typeface="Calibri"/>
                <a:sym typeface="Calibri"/>
              </a:rPr>
              <a:t>A Tempting Hypothesis</a:t>
            </a:r>
            <a:endParaRPr i="0" sz="3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8" name="Shape 678"/>
        <p:cNvGrpSpPr/>
        <p:nvPr/>
      </p:nvGrpSpPr>
      <p:grpSpPr>
        <a:xfrm>
          <a:off x="0" y="0"/>
          <a:ext cx="0" cy="0"/>
          <a:chOff x="0" y="0"/>
          <a:chExt cx="0" cy="0"/>
        </a:xfrm>
      </p:grpSpPr>
      <p:sp>
        <p:nvSpPr>
          <p:cNvPr id="679" name="Google Shape;679;p18"/>
          <p:cNvSpPr/>
          <p:nvPr/>
        </p:nvSpPr>
        <p:spPr>
          <a:xfrm>
            <a:off x="476250" y="485775"/>
            <a:ext cx="8191500" cy="4763"/>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80" name="Google Shape;680;p18"/>
          <p:cNvSpPr/>
          <p:nvPr/>
        </p:nvSpPr>
        <p:spPr>
          <a:xfrm>
            <a:off x="476250" y="276225"/>
            <a:ext cx="1415737" cy="1476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lang="en" sz="1200">
                <a:solidFill>
                  <a:srgbClr val="8A7A64"/>
                </a:solidFill>
                <a:latin typeface="Calibri"/>
                <a:ea typeface="Calibri"/>
                <a:cs typeface="Calibri"/>
                <a:sym typeface="Calibri"/>
              </a:rPr>
              <a:t>Model / Method</a:t>
            </a:r>
            <a:endParaRPr i="0" sz="1200" u="none" cap="none" strike="noStrike">
              <a:solidFill>
                <a:schemeClr val="dk1"/>
              </a:solidFill>
              <a:latin typeface="Calibri"/>
              <a:ea typeface="Calibri"/>
              <a:cs typeface="Calibri"/>
              <a:sym typeface="Calibri"/>
            </a:endParaRPr>
          </a:p>
        </p:txBody>
      </p:sp>
      <p:sp>
        <p:nvSpPr>
          <p:cNvPr id="681" name="Google Shape;681;p18"/>
          <p:cNvSpPr/>
          <p:nvPr/>
        </p:nvSpPr>
        <p:spPr>
          <a:xfrm>
            <a:off x="465750" y="1311050"/>
            <a:ext cx="2964000" cy="1046700"/>
          </a:xfrm>
          <a:prstGeom prst="rect">
            <a:avLst/>
          </a:prstGeom>
          <a:noFill/>
          <a:ln>
            <a:noFill/>
          </a:ln>
        </p:spPr>
        <p:txBody>
          <a:bodyPr anchorCtr="0" anchor="t" bIns="12700" lIns="12700" spcFirstLastPara="1" rIns="12700" wrap="square" tIns="12700">
            <a:noAutofit/>
          </a:bodyPr>
          <a:lstStyle/>
          <a:p>
            <a:pPr indent="-381000" lvl="0" marL="457200" marR="0" rtl="0" algn="l">
              <a:lnSpc>
                <a:spcPct val="104000"/>
              </a:lnSpc>
              <a:spcBef>
                <a:spcPts val="0"/>
              </a:spcBef>
              <a:spcAft>
                <a:spcPts val="0"/>
              </a:spcAft>
              <a:buSzPts val="2400"/>
              <a:buFont typeface="Calibri"/>
              <a:buAutoNum type="arabicPeriod"/>
            </a:pPr>
            <a:r>
              <a:rPr i="0" lang="en" sz="2400" u="none" cap="none" strike="noStrike">
                <a:solidFill>
                  <a:srgbClr val="1A140C"/>
                </a:solidFill>
                <a:latin typeface="Calibri"/>
                <a:ea typeface="Calibri"/>
                <a:cs typeface="Calibri"/>
                <a:sym typeface="Calibri"/>
              </a:rPr>
              <a:t>Score with CLIP, </a:t>
            </a:r>
            <a:endParaRPr i="0" sz="2400" u="none" cap="none" strike="noStrike">
              <a:solidFill>
                <a:srgbClr val="1A140C"/>
              </a:solidFill>
              <a:latin typeface="Calibri"/>
              <a:ea typeface="Calibri"/>
              <a:cs typeface="Calibri"/>
              <a:sym typeface="Calibri"/>
            </a:endParaRPr>
          </a:p>
          <a:p>
            <a:pPr indent="-381000" lvl="0" marL="457200" marR="0" rtl="0" algn="l">
              <a:lnSpc>
                <a:spcPct val="104000"/>
              </a:lnSpc>
              <a:spcBef>
                <a:spcPts val="0"/>
              </a:spcBef>
              <a:spcAft>
                <a:spcPts val="0"/>
              </a:spcAft>
              <a:buSzPts val="2400"/>
              <a:buFont typeface="Calibri"/>
              <a:buAutoNum type="arabicPeriod"/>
            </a:pPr>
            <a:r>
              <a:rPr i="0" lang="en" sz="2400" u="none" cap="none" strike="noStrike">
                <a:solidFill>
                  <a:srgbClr val="1A140C"/>
                </a:solidFill>
                <a:latin typeface="Calibri"/>
                <a:ea typeface="Calibri"/>
                <a:cs typeface="Calibri"/>
                <a:sym typeface="Calibri"/>
              </a:rPr>
              <a:t>prune to top-</a:t>
            </a:r>
            <a:r>
              <a:rPr i="1" lang="en" sz="2400" u="none" cap="none" strike="noStrike">
                <a:solidFill>
                  <a:srgbClr val="7A1F10"/>
                </a:solidFill>
                <a:latin typeface="Calibri"/>
                <a:ea typeface="Calibri"/>
                <a:cs typeface="Calibri"/>
                <a:sym typeface="Calibri"/>
              </a:rPr>
              <a:t>k</a:t>
            </a:r>
            <a:endParaRPr sz="2400">
              <a:solidFill>
                <a:srgbClr val="1A140C"/>
              </a:solidFill>
              <a:latin typeface="Calibri"/>
              <a:ea typeface="Calibri"/>
              <a:cs typeface="Calibri"/>
              <a:sym typeface="Calibri"/>
            </a:endParaRPr>
          </a:p>
          <a:p>
            <a:pPr indent="-381000" lvl="0" marL="457200" marR="0" rtl="0" algn="l">
              <a:lnSpc>
                <a:spcPct val="104000"/>
              </a:lnSpc>
              <a:spcBef>
                <a:spcPts val="0"/>
              </a:spcBef>
              <a:spcAft>
                <a:spcPts val="0"/>
              </a:spcAft>
              <a:buSzPts val="2400"/>
              <a:buFont typeface="Calibri"/>
              <a:buAutoNum type="arabicPeriod"/>
            </a:pPr>
            <a:r>
              <a:rPr i="0" lang="en" sz="2400" u="none" cap="none" strike="noStrike">
                <a:solidFill>
                  <a:srgbClr val="1A140C"/>
                </a:solidFill>
                <a:latin typeface="Calibri"/>
                <a:ea typeface="Calibri"/>
                <a:cs typeface="Calibri"/>
                <a:sym typeface="Calibri"/>
              </a:rPr>
              <a:t>send the survivors.</a:t>
            </a:r>
            <a:endParaRPr i="0" sz="2400" u="none" cap="none" strike="noStrike">
              <a:solidFill>
                <a:schemeClr val="dk1"/>
              </a:solidFill>
              <a:latin typeface="Calibri"/>
              <a:ea typeface="Calibri"/>
              <a:cs typeface="Calibri"/>
              <a:sym typeface="Calibri"/>
            </a:endParaRPr>
          </a:p>
        </p:txBody>
      </p:sp>
      <p:sp>
        <p:nvSpPr>
          <p:cNvPr id="682" name="Google Shape;682;p18"/>
          <p:cNvSpPr/>
          <p:nvPr/>
        </p:nvSpPr>
        <p:spPr>
          <a:xfrm>
            <a:off x="3735368" y="1716841"/>
            <a:ext cx="603900" cy="276300"/>
          </a:xfrm>
          <a:prstGeom prst="rect">
            <a:avLst/>
          </a:prstGeom>
          <a:noFill/>
          <a:ln cap="flat" cmpd="sng" w="9525">
            <a:solidFill>
              <a:srgbClr val="1A140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83" name="Google Shape;683;p18"/>
          <p:cNvSpPr/>
          <p:nvPr/>
        </p:nvSpPr>
        <p:spPr>
          <a:xfrm>
            <a:off x="3825856" y="1778754"/>
            <a:ext cx="461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A140C"/>
              </a:buClr>
              <a:buSzPts val="900"/>
              <a:buFont typeface="IBM Plex Mono"/>
              <a:buNone/>
            </a:pPr>
            <a:r>
              <a:rPr b="0" i="0" lang="en" sz="900" u="none" cap="none" strike="noStrike">
                <a:solidFill>
                  <a:srgbClr val="1A140C"/>
                </a:solidFill>
                <a:latin typeface="IBM Plex Mono"/>
                <a:ea typeface="IBM Plex Mono"/>
                <a:cs typeface="IBM Plex Mono"/>
                <a:sym typeface="IBM Plex Mono"/>
              </a:rPr>
              <a:t>IMAGE</a:t>
            </a:r>
            <a:endParaRPr b="0" i="0" sz="900" u="none" cap="none" strike="noStrike">
              <a:solidFill>
                <a:schemeClr val="dk1"/>
              </a:solidFill>
              <a:latin typeface="Calibri"/>
              <a:ea typeface="Calibri"/>
              <a:cs typeface="Calibri"/>
              <a:sym typeface="Calibri"/>
            </a:endParaRPr>
          </a:p>
        </p:txBody>
      </p:sp>
      <p:sp>
        <p:nvSpPr>
          <p:cNvPr id="684" name="Google Shape;684;p18"/>
          <p:cNvSpPr/>
          <p:nvPr/>
        </p:nvSpPr>
        <p:spPr>
          <a:xfrm>
            <a:off x="4405988" y="1778754"/>
            <a:ext cx="171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1100"/>
              <a:buFont typeface="Times New Roman"/>
              <a:buNone/>
            </a:pPr>
            <a:r>
              <a:rPr b="0" i="0" lang="en" sz="1100" u="none" cap="none" strike="noStrike">
                <a:solidFill>
                  <a:srgbClr val="8A7A64"/>
                </a:solidFill>
                <a:latin typeface="Times New Roman"/>
                <a:ea typeface="Times New Roman"/>
                <a:cs typeface="Times New Roman"/>
                <a:sym typeface="Times New Roman"/>
              </a:rPr>
              <a:t>→</a:t>
            </a:r>
            <a:endParaRPr b="0" i="0" sz="1100" u="none" cap="none" strike="noStrike">
              <a:solidFill>
                <a:schemeClr val="dk1"/>
              </a:solidFill>
              <a:latin typeface="Calibri"/>
              <a:ea typeface="Calibri"/>
              <a:cs typeface="Calibri"/>
              <a:sym typeface="Calibri"/>
            </a:endParaRPr>
          </a:p>
        </p:txBody>
      </p:sp>
      <p:sp>
        <p:nvSpPr>
          <p:cNvPr id="685" name="Google Shape;685;p18"/>
          <p:cNvSpPr/>
          <p:nvPr/>
        </p:nvSpPr>
        <p:spPr>
          <a:xfrm>
            <a:off x="4606013" y="1716841"/>
            <a:ext cx="857700" cy="276300"/>
          </a:xfrm>
          <a:prstGeom prst="rect">
            <a:avLst/>
          </a:prstGeom>
          <a:noFill/>
          <a:ln cap="flat" cmpd="sng" w="9525">
            <a:solidFill>
              <a:srgbClr val="1A140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86" name="Google Shape;686;p18"/>
          <p:cNvSpPr/>
          <p:nvPr/>
        </p:nvSpPr>
        <p:spPr>
          <a:xfrm>
            <a:off x="4696501" y="1778754"/>
            <a:ext cx="714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A140C"/>
              </a:buClr>
              <a:buSzPts val="900"/>
              <a:buFont typeface="IBM Plex Mono"/>
              <a:buNone/>
            </a:pPr>
            <a:r>
              <a:rPr b="0" i="0" lang="en" sz="900" u="none" cap="none" strike="noStrike">
                <a:solidFill>
                  <a:srgbClr val="1A140C"/>
                </a:solidFill>
                <a:latin typeface="IBM Plex Mono"/>
                <a:ea typeface="IBM Plex Mono"/>
                <a:cs typeface="IBM Plex Mono"/>
                <a:sym typeface="IBM Plex Mono"/>
              </a:rPr>
              <a:t>CLIP VIT</a:t>
            </a:r>
            <a:endParaRPr b="0" i="0" sz="900" u="none" cap="none" strike="noStrike">
              <a:solidFill>
                <a:schemeClr val="dk1"/>
              </a:solidFill>
              <a:latin typeface="Calibri"/>
              <a:ea typeface="Calibri"/>
              <a:cs typeface="Calibri"/>
              <a:sym typeface="Calibri"/>
            </a:endParaRPr>
          </a:p>
        </p:txBody>
      </p:sp>
      <p:sp>
        <p:nvSpPr>
          <p:cNvPr id="687" name="Google Shape;687;p18"/>
          <p:cNvSpPr/>
          <p:nvPr/>
        </p:nvSpPr>
        <p:spPr>
          <a:xfrm>
            <a:off x="5530385" y="1778754"/>
            <a:ext cx="171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1100"/>
              <a:buFont typeface="Times New Roman"/>
              <a:buNone/>
            </a:pPr>
            <a:r>
              <a:rPr b="0" i="0" lang="en" sz="1100" u="none" cap="none" strike="noStrike">
                <a:solidFill>
                  <a:srgbClr val="8A7A64"/>
                </a:solidFill>
                <a:latin typeface="Times New Roman"/>
                <a:ea typeface="Times New Roman"/>
                <a:cs typeface="Times New Roman"/>
                <a:sym typeface="Times New Roman"/>
              </a:rPr>
              <a:t>→</a:t>
            </a:r>
            <a:endParaRPr b="0" i="0" sz="1100" u="none" cap="none" strike="noStrike">
              <a:solidFill>
                <a:schemeClr val="dk1"/>
              </a:solidFill>
              <a:latin typeface="Calibri"/>
              <a:ea typeface="Calibri"/>
              <a:cs typeface="Calibri"/>
              <a:sym typeface="Calibri"/>
            </a:endParaRPr>
          </a:p>
        </p:txBody>
      </p:sp>
      <p:sp>
        <p:nvSpPr>
          <p:cNvPr id="688" name="Google Shape;688;p18"/>
          <p:cNvSpPr/>
          <p:nvPr/>
        </p:nvSpPr>
        <p:spPr>
          <a:xfrm>
            <a:off x="5730410" y="1716841"/>
            <a:ext cx="857700" cy="276300"/>
          </a:xfrm>
          <a:prstGeom prst="rect">
            <a:avLst/>
          </a:prstGeom>
          <a:solidFill>
            <a:srgbClr val="7A1F10">
              <a:alpha val="5098"/>
            </a:srgbClr>
          </a:solidFill>
          <a:ln cap="flat" cmpd="sng" w="9525">
            <a:solidFill>
              <a:srgbClr val="7A1F1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89" name="Google Shape;689;p18"/>
          <p:cNvSpPr/>
          <p:nvPr/>
        </p:nvSpPr>
        <p:spPr>
          <a:xfrm>
            <a:off x="5820897" y="1778754"/>
            <a:ext cx="7149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A1F10"/>
              </a:buClr>
              <a:buSzPts val="900"/>
              <a:buFont typeface="IBM Plex Mono"/>
              <a:buNone/>
            </a:pPr>
            <a:r>
              <a:rPr b="0" i="0" lang="en" sz="900" u="none" cap="none" strike="noStrike">
                <a:solidFill>
                  <a:srgbClr val="7A1F10"/>
                </a:solidFill>
                <a:latin typeface="IBM Plex Mono"/>
                <a:ea typeface="IBM Plex Mono"/>
                <a:cs typeface="IBM Plex Mono"/>
                <a:sym typeface="IBM Plex Mono"/>
              </a:rPr>
              <a:t>GRAD-CAM</a:t>
            </a:r>
            <a:endParaRPr b="0" i="0" sz="900" u="none" cap="none" strike="noStrike">
              <a:solidFill>
                <a:schemeClr val="dk1"/>
              </a:solidFill>
              <a:latin typeface="Calibri"/>
              <a:ea typeface="Calibri"/>
              <a:cs typeface="Calibri"/>
              <a:sym typeface="Calibri"/>
            </a:endParaRPr>
          </a:p>
        </p:txBody>
      </p:sp>
      <p:sp>
        <p:nvSpPr>
          <p:cNvPr id="690" name="Google Shape;690;p18"/>
          <p:cNvSpPr/>
          <p:nvPr/>
        </p:nvSpPr>
        <p:spPr>
          <a:xfrm>
            <a:off x="6654781" y="1778754"/>
            <a:ext cx="171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1100"/>
              <a:buFont typeface="Times New Roman"/>
              <a:buNone/>
            </a:pPr>
            <a:r>
              <a:rPr b="0" i="0" lang="en" sz="1100" u="none" cap="none" strike="noStrike">
                <a:solidFill>
                  <a:srgbClr val="8A7A64"/>
                </a:solidFill>
                <a:latin typeface="Times New Roman"/>
                <a:ea typeface="Times New Roman"/>
                <a:cs typeface="Times New Roman"/>
                <a:sym typeface="Times New Roman"/>
              </a:rPr>
              <a:t>→</a:t>
            </a:r>
            <a:endParaRPr b="0" i="0" sz="1100" u="none" cap="none" strike="noStrike">
              <a:solidFill>
                <a:schemeClr val="dk1"/>
              </a:solidFill>
              <a:latin typeface="Calibri"/>
              <a:ea typeface="Calibri"/>
              <a:cs typeface="Calibri"/>
              <a:sym typeface="Calibri"/>
            </a:endParaRPr>
          </a:p>
        </p:txBody>
      </p:sp>
      <p:sp>
        <p:nvSpPr>
          <p:cNvPr id="691" name="Google Shape;691;p18"/>
          <p:cNvSpPr/>
          <p:nvPr/>
        </p:nvSpPr>
        <p:spPr>
          <a:xfrm>
            <a:off x="6854806" y="1716841"/>
            <a:ext cx="603900" cy="276300"/>
          </a:xfrm>
          <a:prstGeom prst="rect">
            <a:avLst/>
          </a:prstGeom>
          <a:solidFill>
            <a:srgbClr val="7A1F10">
              <a:alpha val="5098"/>
            </a:srgbClr>
          </a:solidFill>
          <a:ln cap="flat" cmpd="sng" w="9525">
            <a:solidFill>
              <a:srgbClr val="7A1F1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92" name="Google Shape;692;p18"/>
          <p:cNvSpPr/>
          <p:nvPr/>
        </p:nvSpPr>
        <p:spPr>
          <a:xfrm>
            <a:off x="6945294" y="1778754"/>
            <a:ext cx="461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A1F10"/>
              </a:buClr>
              <a:buSzPts val="900"/>
              <a:buFont typeface="IBM Plex Mono"/>
              <a:buNone/>
            </a:pPr>
            <a:r>
              <a:rPr b="0" i="0" lang="en" sz="900" u="none" cap="none" strike="noStrike">
                <a:solidFill>
                  <a:srgbClr val="7A1F10"/>
                </a:solidFill>
                <a:latin typeface="IBM Plex Mono"/>
                <a:ea typeface="IBM Plex Mono"/>
                <a:cs typeface="IBM Plex Mono"/>
                <a:sym typeface="IBM Plex Mono"/>
              </a:rPr>
              <a:t>TOP-K</a:t>
            </a:r>
            <a:endParaRPr b="0" i="0" sz="900" u="none" cap="none" strike="noStrike">
              <a:solidFill>
                <a:schemeClr val="dk1"/>
              </a:solidFill>
              <a:latin typeface="Calibri"/>
              <a:ea typeface="Calibri"/>
              <a:cs typeface="Calibri"/>
              <a:sym typeface="Calibri"/>
            </a:endParaRPr>
          </a:p>
        </p:txBody>
      </p:sp>
      <p:sp>
        <p:nvSpPr>
          <p:cNvPr id="693" name="Google Shape;693;p18"/>
          <p:cNvSpPr/>
          <p:nvPr/>
        </p:nvSpPr>
        <p:spPr>
          <a:xfrm>
            <a:off x="7525426" y="1778754"/>
            <a:ext cx="171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1100"/>
              <a:buFont typeface="Times New Roman"/>
              <a:buNone/>
            </a:pPr>
            <a:r>
              <a:rPr b="0" i="0" lang="en" sz="1100" u="none" cap="none" strike="noStrike">
                <a:solidFill>
                  <a:srgbClr val="8A7A64"/>
                </a:solidFill>
                <a:latin typeface="Times New Roman"/>
                <a:ea typeface="Times New Roman"/>
                <a:cs typeface="Times New Roman"/>
                <a:sym typeface="Times New Roman"/>
              </a:rPr>
              <a:t>→</a:t>
            </a:r>
            <a:endParaRPr b="0" i="0" sz="1100" u="none" cap="none" strike="noStrike">
              <a:solidFill>
                <a:schemeClr val="dk1"/>
              </a:solidFill>
              <a:latin typeface="Calibri"/>
              <a:ea typeface="Calibri"/>
              <a:cs typeface="Calibri"/>
              <a:sym typeface="Calibri"/>
            </a:endParaRPr>
          </a:p>
        </p:txBody>
      </p:sp>
      <p:sp>
        <p:nvSpPr>
          <p:cNvPr id="694" name="Google Shape;694;p18"/>
          <p:cNvSpPr/>
          <p:nvPr/>
        </p:nvSpPr>
        <p:spPr>
          <a:xfrm>
            <a:off x="7725451" y="1716841"/>
            <a:ext cx="942300" cy="276300"/>
          </a:xfrm>
          <a:prstGeom prst="rect">
            <a:avLst/>
          </a:prstGeom>
          <a:noFill/>
          <a:ln cap="flat" cmpd="sng" w="9525">
            <a:solidFill>
              <a:srgbClr val="1A140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95" name="Google Shape;695;p18"/>
          <p:cNvSpPr/>
          <p:nvPr/>
        </p:nvSpPr>
        <p:spPr>
          <a:xfrm>
            <a:off x="7815938" y="1778754"/>
            <a:ext cx="7995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A140C"/>
              </a:buClr>
              <a:buSzPts val="900"/>
              <a:buFont typeface="IBM Plex Mono"/>
              <a:buNone/>
            </a:pPr>
            <a:r>
              <a:rPr b="0" i="0" lang="en" sz="900" u="none" cap="none" strike="noStrike">
                <a:solidFill>
                  <a:srgbClr val="1A140C"/>
                </a:solidFill>
                <a:latin typeface="IBM Plex Mono"/>
                <a:ea typeface="IBM Plex Mono"/>
                <a:cs typeface="IBM Plex Mono"/>
                <a:sym typeface="IBM Plex Mono"/>
              </a:rPr>
              <a:t>LLAVA LLM</a:t>
            </a:r>
            <a:endParaRPr b="0" i="0" sz="900" u="none" cap="none" strike="noStrike">
              <a:solidFill>
                <a:schemeClr val="dk1"/>
              </a:solidFill>
              <a:latin typeface="Calibri"/>
              <a:ea typeface="Calibri"/>
              <a:cs typeface="Calibri"/>
              <a:sym typeface="Calibri"/>
            </a:endParaRPr>
          </a:p>
        </p:txBody>
      </p:sp>
      <p:sp>
        <p:nvSpPr>
          <p:cNvPr id="696" name="Google Shape;696;p18"/>
          <p:cNvSpPr/>
          <p:nvPr/>
        </p:nvSpPr>
        <p:spPr>
          <a:xfrm>
            <a:off x="3653150" y="2299300"/>
            <a:ext cx="5442600" cy="194700"/>
          </a:xfrm>
          <a:prstGeom prst="rect">
            <a:avLst/>
          </a:prstGeom>
          <a:noFill/>
          <a:ln>
            <a:noFill/>
          </a:ln>
        </p:spPr>
        <p:txBody>
          <a:bodyPr anchorCtr="0" anchor="t" bIns="13675" lIns="13675" spcFirstLastPara="1" rIns="13675" wrap="square" tIns="13675">
            <a:noAutofit/>
          </a:bodyPr>
          <a:lstStyle/>
          <a:p>
            <a:pPr indent="0" lvl="0" marL="0" marR="0" rtl="0" algn="ctr">
              <a:lnSpc>
                <a:spcPct val="140000"/>
              </a:lnSpc>
              <a:spcBef>
                <a:spcPts val="0"/>
              </a:spcBef>
              <a:spcAft>
                <a:spcPts val="0"/>
              </a:spcAft>
              <a:buClr>
                <a:srgbClr val="7A1F10"/>
              </a:buClr>
              <a:buSzPts val="969"/>
              <a:buFont typeface="IBM Plex Mono"/>
              <a:buNone/>
            </a:pPr>
            <a:r>
              <a:rPr i="0" lang="en" sz="969" u="none" cap="none" strike="noStrike">
                <a:solidFill>
                  <a:srgbClr val="7A1F10"/>
                </a:solidFill>
                <a:latin typeface="Calibri"/>
                <a:ea typeface="Calibri"/>
                <a:cs typeface="Calibri"/>
                <a:sym typeface="Calibri"/>
              </a:rPr>
              <a:t>Fig. ii </a:t>
            </a:r>
            <a:r>
              <a:rPr i="1" lang="en" sz="969" u="none" cap="none" strike="noStrike">
                <a:solidFill>
                  <a:srgbClr val="4A3A28"/>
                </a:solidFill>
                <a:latin typeface="Calibri"/>
                <a:ea typeface="Calibri"/>
                <a:cs typeface="Calibri"/>
                <a:sym typeface="Calibri"/>
              </a:rPr>
              <a:t>“What is the brand of this camera?” — TextVQA, k = 25%</a:t>
            </a:r>
            <a:endParaRPr i="0" sz="969" u="none" cap="none" strike="noStrike">
              <a:solidFill>
                <a:schemeClr val="dk1"/>
              </a:solidFill>
              <a:latin typeface="Calibri"/>
              <a:ea typeface="Calibri"/>
              <a:cs typeface="Calibri"/>
              <a:sym typeface="Calibri"/>
            </a:endParaRPr>
          </a:p>
        </p:txBody>
      </p:sp>
      <p:sp>
        <p:nvSpPr>
          <p:cNvPr id="697" name="Google Shape;697;p18"/>
          <p:cNvSpPr/>
          <p:nvPr/>
        </p:nvSpPr>
        <p:spPr>
          <a:xfrm>
            <a:off x="3749821" y="2553594"/>
            <a:ext cx="1582200" cy="1582200"/>
          </a:xfrm>
          <a:prstGeom prst="rect">
            <a:avLst/>
          </a:prstGeom>
          <a:solidFill>
            <a:srgbClr val="000000"/>
          </a:solidFill>
          <a:ln cap="flat" cmpd="sng" w="10250">
            <a:solidFill>
              <a:srgbClr val="1A140C"/>
            </a:solidFill>
            <a:prstDash val="solid"/>
            <a:round/>
            <a:headEnd len="sm" w="sm" type="none"/>
            <a:tailEnd len="sm" w="sm" type="none"/>
          </a:ln>
        </p:spPr>
        <p:txBody>
          <a:bodyPr anchorCtr="0" anchor="ctr" bIns="49250" lIns="49250" spcFirstLastPara="1" rIns="49250" wrap="square" tIns="49250">
            <a:noAutofit/>
          </a:bodyPr>
          <a:lstStyle/>
          <a:p>
            <a:pPr indent="0" lvl="0" marL="0" rtl="0" algn="l">
              <a:spcBef>
                <a:spcPts val="0"/>
              </a:spcBef>
              <a:spcAft>
                <a:spcPts val="0"/>
              </a:spcAft>
              <a:buNone/>
            </a:pPr>
            <a:r>
              <a:t/>
            </a:r>
            <a:endParaRPr/>
          </a:p>
        </p:txBody>
      </p:sp>
      <p:pic>
        <p:nvPicPr>
          <p:cNvPr descr="preencoded.png" id="698" name="Google Shape;698;p18"/>
          <p:cNvPicPr preferRelativeResize="0"/>
          <p:nvPr/>
        </p:nvPicPr>
        <p:blipFill rotWithShape="1">
          <a:blip r:embed="rId3">
            <a:alphaModFix/>
          </a:blip>
          <a:srcRect b="0" l="0" r="0" t="0"/>
          <a:stretch/>
        </p:blipFill>
        <p:spPr>
          <a:xfrm>
            <a:off x="3754950" y="2558723"/>
            <a:ext cx="1572068" cy="1572068"/>
          </a:xfrm>
          <a:prstGeom prst="rect">
            <a:avLst/>
          </a:prstGeom>
          <a:noFill/>
          <a:ln>
            <a:noFill/>
          </a:ln>
        </p:spPr>
      </p:pic>
      <p:sp>
        <p:nvSpPr>
          <p:cNvPr id="699" name="Google Shape;699;p18"/>
          <p:cNvSpPr/>
          <p:nvPr/>
        </p:nvSpPr>
        <p:spPr>
          <a:xfrm>
            <a:off x="3749821" y="4187210"/>
            <a:ext cx="1582200" cy="5100"/>
          </a:xfrm>
          <a:prstGeom prst="rect">
            <a:avLst/>
          </a:prstGeom>
          <a:solidFill>
            <a:srgbClr val="B8A47A"/>
          </a:solidFill>
          <a:ln>
            <a:noFill/>
          </a:ln>
        </p:spPr>
        <p:txBody>
          <a:bodyPr anchorCtr="0" anchor="ctr" bIns="49250" lIns="49250" spcFirstLastPara="1" rIns="49250" wrap="square" tIns="49250">
            <a:noAutofit/>
          </a:bodyPr>
          <a:lstStyle/>
          <a:p>
            <a:pPr indent="0" lvl="0" marL="0" rtl="0" algn="l">
              <a:spcBef>
                <a:spcPts val="0"/>
              </a:spcBef>
              <a:spcAft>
                <a:spcPts val="0"/>
              </a:spcAft>
              <a:buNone/>
            </a:pPr>
            <a:r>
              <a:t/>
            </a:r>
            <a:endParaRPr/>
          </a:p>
        </p:txBody>
      </p:sp>
      <p:sp>
        <p:nvSpPr>
          <p:cNvPr id="700" name="Google Shape;700;p18"/>
          <p:cNvSpPr/>
          <p:nvPr/>
        </p:nvSpPr>
        <p:spPr>
          <a:xfrm>
            <a:off x="3958511" y="4253888"/>
            <a:ext cx="630300" cy="159000"/>
          </a:xfrm>
          <a:prstGeom prst="rect">
            <a:avLst/>
          </a:prstGeom>
          <a:noFill/>
          <a:ln>
            <a:noFill/>
          </a:ln>
        </p:spPr>
        <p:txBody>
          <a:bodyPr anchorCtr="0" anchor="t" bIns="13675" lIns="13675" spcFirstLastPara="1" rIns="13675" wrap="square" tIns="13675">
            <a:noAutofit/>
          </a:bodyPr>
          <a:lstStyle/>
          <a:p>
            <a:pPr indent="0" lvl="0" marL="0" marR="0" rtl="0" algn="l">
              <a:spcBef>
                <a:spcPts val="0"/>
              </a:spcBef>
              <a:spcAft>
                <a:spcPts val="0"/>
              </a:spcAft>
              <a:buClr>
                <a:srgbClr val="8A7A64"/>
              </a:buClr>
              <a:buSzPts val="969"/>
              <a:buFont typeface="Times New Roman"/>
              <a:buNone/>
            </a:pPr>
            <a:r>
              <a:rPr i="1" lang="en" sz="969" u="none" cap="none" strike="noStrike">
                <a:solidFill>
                  <a:srgbClr val="8A7A64"/>
                </a:solidFill>
                <a:latin typeface="Calibri"/>
                <a:ea typeface="Calibri"/>
                <a:cs typeface="Calibri"/>
                <a:sym typeface="Calibri"/>
              </a:rPr>
              <a:t>Unpruned</a:t>
            </a:r>
            <a:endParaRPr i="0" sz="969" u="none" cap="none" strike="noStrike">
              <a:solidFill>
                <a:schemeClr val="dk1"/>
              </a:solidFill>
              <a:latin typeface="Calibri"/>
              <a:ea typeface="Calibri"/>
              <a:cs typeface="Calibri"/>
              <a:sym typeface="Calibri"/>
            </a:endParaRPr>
          </a:p>
        </p:txBody>
      </p:sp>
      <p:sp>
        <p:nvSpPr>
          <p:cNvPr id="701" name="Google Shape;701;p18"/>
          <p:cNvSpPr/>
          <p:nvPr/>
        </p:nvSpPr>
        <p:spPr>
          <a:xfrm>
            <a:off x="4599248" y="4223114"/>
            <a:ext cx="121500" cy="194700"/>
          </a:xfrm>
          <a:prstGeom prst="rect">
            <a:avLst/>
          </a:prstGeom>
          <a:noFill/>
          <a:ln>
            <a:noFill/>
          </a:ln>
        </p:spPr>
        <p:txBody>
          <a:bodyPr anchorCtr="0" anchor="t" bIns="13675" lIns="13675" spcFirstLastPara="1" rIns="13675" wrap="square" tIns="13675">
            <a:noAutofit/>
          </a:bodyPr>
          <a:lstStyle/>
          <a:p>
            <a:pPr indent="0" lvl="0" marL="0" marR="0" rtl="0" algn="l">
              <a:spcBef>
                <a:spcPts val="0"/>
              </a:spcBef>
              <a:spcAft>
                <a:spcPts val="0"/>
              </a:spcAft>
              <a:buClr>
                <a:srgbClr val="2E6A2E"/>
              </a:buClr>
              <a:buSzPts val="1077"/>
              <a:buFont typeface="IBM Plex Mono"/>
              <a:buNone/>
            </a:pPr>
            <a:r>
              <a:rPr b="1" i="0" lang="en" sz="1077" u="none" cap="none" strike="noStrike">
                <a:solidFill>
                  <a:srgbClr val="2E6A2E"/>
                </a:solidFill>
                <a:latin typeface="Calibri"/>
                <a:ea typeface="Calibri"/>
                <a:cs typeface="Calibri"/>
                <a:sym typeface="Calibri"/>
              </a:rPr>
              <a:t>✓</a:t>
            </a:r>
            <a:endParaRPr i="0" sz="1077" u="none" cap="none" strike="noStrike">
              <a:solidFill>
                <a:schemeClr val="dk1"/>
              </a:solidFill>
              <a:latin typeface="Calibri"/>
              <a:ea typeface="Calibri"/>
              <a:cs typeface="Calibri"/>
              <a:sym typeface="Calibri"/>
            </a:endParaRPr>
          </a:p>
        </p:txBody>
      </p:sp>
      <p:sp>
        <p:nvSpPr>
          <p:cNvPr id="702" name="Google Shape;702;p18"/>
          <p:cNvSpPr/>
          <p:nvPr/>
        </p:nvSpPr>
        <p:spPr>
          <a:xfrm>
            <a:off x="4730841" y="4243630"/>
            <a:ext cx="433500" cy="174600"/>
          </a:xfrm>
          <a:prstGeom prst="rect">
            <a:avLst/>
          </a:prstGeom>
          <a:noFill/>
          <a:ln>
            <a:noFill/>
          </a:ln>
        </p:spPr>
        <p:txBody>
          <a:bodyPr anchorCtr="0" anchor="t" bIns="13675" lIns="13675" spcFirstLastPara="1" rIns="13675" wrap="square" tIns="13675">
            <a:noAutofit/>
          </a:bodyPr>
          <a:lstStyle/>
          <a:p>
            <a:pPr indent="0" lvl="0" marL="0" marR="0" rtl="0" algn="l">
              <a:spcBef>
                <a:spcPts val="0"/>
              </a:spcBef>
              <a:spcAft>
                <a:spcPts val="0"/>
              </a:spcAft>
              <a:buClr>
                <a:srgbClr val="4A3A28"/>
              </a:buClr>
              <a:buSzPts val="1077"/>
              <a:buFont typeface="Times New Roman"/>
              <a:buNone/>
            </a:pPr>
            <a:r>
              <a:rPr i="1" lang="en" sz="1077" u="none" cap="none" strike="noStrike">
                <a:solidFill>
                  <a:srgbClr val="4A3A28"/>
                </a:solidFill>
                <a:latin typeface="Calibri"/>
                <a:ea typeface="Calibri"/>
                <a:cs typeface="Calibri"/>
                <a:sym typeface="Calibri"/>
              </a:rPr>
              <a:t>Dakota</a:t>
            </a:r>
            <a:endParaRPr i="0" sz="1077" u="none" cap="none" strike="noStrike">
              <a:solidFill>
                <a:schemeClr val="dk1"/>
              </a:solidFill>
              <a:latin typeface="Calibri"/>
              <a:ea typeface="Calibri"/>
              <a:cs typeface="Calibri"/>
              <a:sym typeface="Calibri"/>
            </a:endParaRPr>
          </a:p>
        </p:txBody>
      </p:sp>
      <p:sp>
        <p:nvSpPr>
          <p:cNvPr id="703" name="Google Shape;703;p18"/>
          <p:cNvSpPr/>
          <p:nvPr/>
        </p:nvSpPr>
        <p:spPr>
          <a:xfrm>
            <a:off x="5444989" y="2553594"/>
            <a:ext cx="1582200" cy="1582200"/>
          </a:xfrm>
          <a:prstGeom prst="rect">
            <a:avLst/>
          </a:prstGeom>
          <a:solidFill>
            <a:srgbClr val="000000"/>
          </a:solidFill>
          <a:ln cap="flat" cmpd="sng" w="10250">
            <a:solidFill>
              <a:srgbClr val="1A140C"/>
            </a:solidFill>
            <a:prstDash val="solid"/>
            <a:round/>
            <a:headEnd len="sm" w="sm" type="none"/>
            <a:tailEnd len="sm" w="sm" type="none"/>
          </a:ln>
        </p:spPr>
        <p:txBody>
          <a:bodyPr anchorCtr="0" anchor="ctr" bIns="49250" lIns="49250" spcFirstLastPara="1" rIns="49250" wrap="square" tIns="49250">
            <a:noAutofit/>
          </a:bodyPr>
          <a:lstStyle/>
          <a:p>
            <a:pPr indent="0" lvl="0" marL="0" rtl="0" algn="l">
              <a:spcBef>
                <a:spcPts val="0"/>
              </a:spcBef>
              <a:spcAft>
                <a:spcPts val="0"/>
              </a:spcAft>
              <a:buNone/>
            </a:pPr>
            <a:r>
              <a:t/>
            </a:r>
            <a:endParaRPr/>
          </a:p>
        </p:txBody>
      </p:sp>
      <p:pic>
        <p:nvPicPr>
          <p:cNvPr descr="preencoded.png" id="704" name="Google Shape;704;p18"/>
          <p:cNvPicPr preferRelativeResize="0"/>
          <p:nvPr/>
        </p:nvPicPr>
        <p:blipFill rotWithShape="1">
          <a:blip r:embed="rId4">
            <a:alphaModFix/>
          </a:blip>
          <a:srcRect b="0" l="0" r="0" t="0"/>
          <a:stretch/>
        </p:blipFill>
        <p:spPr>
          <a:xfrm>
            <a:off x="5450118" y="2558723"/>
            <a:ext cx="1572068" cy="1572068"/>
          </a:xfrm>
          <a:prstGeom prst="rect">
            <a:avLst/>
          </a:prstGeom>
          <a:noFill/>
          <a:ln>
            <a:noFill/>
          </a:ln>
        </p:spPr>
      </p:pic>
      <p:sp>
        <p:nvSpPr>
          <p:cNvPr id="705" name="Google Shape;705;p18"/>
          <p:cNvSpPr/>
          <p:nvPr/>
        </p:nvSpPr>
        <p:spPr>
          <a:xfrm>
            <a:off x="5444989" y="4187210"/>
            <a:ext cx="1582200" cy="5100"/>
          </a:xfrm>
          <a:prstGeom prst="rect">
            <a:avLst/>
          </a:prstGeom>
          <a:solidFill>
            <a:srgbClr val="B8A47A"/>
          </a:solidFill>
          <a:ln>
            <a:noFill/>
          </a:ln>
        </p:spPr>
        <p:txBody>
          <a:bodyPr anchorCtr="0" anchor="ctr" bIns="49250" lIns="49250" spcFirstLastPara="1" rIns="49250" wrap="square" tIns="49250">
            <a:noAutofit/>
          </a:bodyPr>
          <a:lstStyle/>
          <a:p>
            <a:pPr indent="0" lvl="0" marL="0" rtl="0" algn="l">
              <a:spcBef>
                <a:spcPts val="0"/>
              </a:spcBef>
              <a:spcAft>
                <a:spcPts val="0"/>
              </a:spcAft>
              <a:buNone/>
            </a:pPr>
            <a:r>
              <a:t/>
            </a:r>
            <a:endParaRPr/>
          </a:p>
        </p:txBody>
      </p:sp>
      <p:sp>
        <p:nvSpPr>
          <p:cNvPr id="706" name="Google Shape;706;p18"/>
          <p:cNvSpPr/>
          <p:nvPr/>
        </p:nvSpPr>
        <p:spPr>
          <a:xfrm>
            <a:off x="5737347" y="4253888"/>
            <a:ext cx="500100" cy="159000"/>
          </a:xfrm>
          <a:prstGeom prst="rect">
            <a:avLst/>
          </a:prstGeom>
          <a:noFill/>
          <a:ln>
            <a:noFill/>
          </a:ln>
        </p:spPr>
        <p:txBody>
          <a:bodyPr anchorCtr="0" anchor="t" bIns="13675" lIns="13675" spcFirstLastPara="1" rIns="13675" wrap="square" tIns="13675">
            <a:noAutofit/>
          </a:bodyPr>
          <a:lstStyle/>
          <a:p>
            <a:pPr indent="0" lvl="0" marL="0" marR="0" rtl="0" algn="l">
              <a:spcBef>
                <a:spcPts val="0"/>
              </a:spcBef>
              <a:spcAft>
                <a:spcPts val="0"/>
              </a:spcAft>
              <a:buClr>
                <a:srgbClr val="8A7A64"/>
              </a:buClr>
              <a:buSzPts val="969"/>
              <a:buFont typeface="Times New Roman"/>
              <a:buNone/>
            </a:pPr>
            <a:r>
              <a:rPr i="1" lang="en" sz="969" u="none" cap="none" strike="noStrike">
                <a:solidFill>
                  <a:srgbClr val="8A7A64"/>
                </a:solidFill>
                <a:latin typeface="Calibri"/>
                <a:ea typeface="Calibri"/>
                <a:cs typeface="Calibri"/>
                <a:sym typeface="Calibri"/>
              </a:rPr>
              <a:t>Random</a:t>
            </a:r>
            <a:endParaRPr i="0" sz="969" u="none" cap="none" strike="noStrike">
              <a:solidFill>
                <a:schemeClr val="dk1"/>
              </a:solidFill>
              <a:latin typeface="Calibri"/>
              <a:ea typeface="Calibri"/>
              <a:cs typeface="Calibri"/>
              <a:sym typeface="Calibri"/>
            </a:endParaRPr>
          </a:p>
        </p:txBody>
      </p:sp>
      <p:sp>
        <p:nvSpPr>
          <p:cNvPr id="707" name="Google Shape;707;p18"/>
          <p:cNvSpPr/>
          <p:nvPr/>
        </p:nvSpPr>
        <p:spPr>
          <a:xfrm>
            <a:off x="6247693" y="4223114"/>
            <a:ext cx="121500" cy="194700"/>
          </a:xfrm>
          <a:prstGeom prst="rect">
            <a:avLst/>
          </a:prstGeom>
          <a:noFill/>
          <a:ln>
            <a:noFill/>
          </a:ln>
        </p:spPr>
        <p:txBody>
          <a:bodyPr anchorCtr="0" anchor="t" bIns="13675" lIns="13675" spcFirstLastPara="1" rIns="13675" wrap="square" tIns="13675">
            <a:noAutofit/>
          </a:bodyPr>
          <a:lstStyle/>
          <a:p>
            <a:pPr indent="0" lvl="0" marL="0" marR="0" rtl="0" algn="l">
              <a:spcBef>
                <a:spcPts val="0"/>
              </a:spcBef>
              <a:spcAft>
                <a:spcPts val="0"/>
              </a:spcAft>
              <a:buClr>
                <a:srgbClr val="7A1F10"/>
              </a:buClr>
              <a:buSzPts val="1077"/>
              <a:buFont typeface="IBM Plex Mono"/>
              <a:buNone/>
            </a:pPr>
            <a:r>
              <a:rPr b="1" i="0" lang="en" sz="1077" u="none" cap="none" strike="noStrike">
                <a:solidFill>
                  <a:srgbClr val="7A1F10"/>
                </a:solidFill>
                <a:latin typeface="Calibri"/>
                <a:ea typeface="Calibri"/>
                <a:cs typeface="Calibri"/>
                <a:sym typeface="Calibri"/>
              </a:rPr>
              <a:t>✗</a:t>
            </a:r>
            <a:endParaRPr i="0" sz="1077" u="none" cap="none" strike="noStrike">
              <a:solidFill>
                <a:schemeClr val="dk1"/>
              </a:solidFill>
              <a:latin typeface="Calibri"/>
              <a:ea typeface="Calibri"/>
              <a:cs typeface="Calibri"/>
              <a:sym typeface="Calibri"/>
            </a:endParaRPr>
          </a:p>
        </p:txBody>
      </p:sp>
      <p:sp>
        <p:nvSpPr>
          <p:cNvPr id="708" name="Google Shape;708;p18"/>
          <p:cNvSpPr/>
          <p:nvPr/>
        </p:nvSpPr>
        <p:spPr>
          <a:xfrm>
            <a:off x="6379286" y="4243630"/>
            <a:ext cx="396900" cy="174600"/>
          </a:xfrm>
          <a:prstGeom prst="rect">
            <a:avLst/>
          </a:prstGeom>
          <a:noFill/>
          <a:ln>
            <a:noFill/>
          </a:ln>
        </p:spPr>
        <p:txBody>
          <a:bodyPr anchorCtr="0" anchor="t" bIns="13675" lIns="13675" spcFirstLastPara="1" rIns="13675" wrap="square" tIns="13675">
            <a:noAutofit/>
          </a:bodyPr>
          <a:lstStyle/>
          <a:p>
            <a:pPr indent="0" lvl="0" marL="0" marR="0" rtl="0" algn="l">
              <a:spcBef>
                <a:spcPts val="0"/>
              </a:spcBef>
              <a:spcAft>
                <a:spcPts val="0"/>
              </a:spcAft>
              <a:buClr>
                <a:srgbClr val="4A3A28"/>
              </a:buClr>
              <a:buSzPts val="1077"/>
              <a:buFont typeface="Times New Roman"/>
              <a:buNone/>
            </a:pPr>
            <a:r>
              <a:rPr i="1" lang="en" sz="1077" u="none" cap="none" strike="noStrike">
                <a:solidFill>
                  <a:srgbClr val="4A3A28"/>
                </a:solidFill>
                <a:latin typeface="Calibri"/>
                <a:ea typeface="Calibri"/>
                <a:cs typeface="Calibri"/>
                <a:sym typeface="Calibri"/>
              </a:rPr>
              <a:t>Canon</a:t>
            </a:r>
            <a:endParaRPr i="0" sz="1077" u="none" cap="none" strike="noStrike">
              <a:solidFill>
                <a:schemeClr val="dk1"/>
              </a:solidFill>
              <a:latin typeface="Calibri"/>
              <a:ea typeface="Calibri"/>
              <a:cs typeface="Calibri"/>
              <a:sym typeface="Calibri"/>
            </a:endParaRPr>
          </a:p>
        </p:txBody>
      </p:sp>
      <p:sp>
        <p:nvSpPr>
          <p:cNvPr id="709" name="Google Shape;709;p18"/>
          <p:cNvSpPr/>
          <p:nvPr/>
        </p:nvSpPr>
        <p:spPr>
          <a:xfrm>
            <a:off x="7140156" y="2553594"/>
            <a:ext cx="1582200" cy="1582200"/>
          </a:xfrm>
          <a:prstGeom prst="rect">
            <a:avLst/>
          </a:prstGeom>
          <a:solidFill>
            <a:srgbClr val="000000"/>
          </a:solidFill>
          <a:ln cap="flat" cmpd="sng" w="10250">
            <a:solidFill>
              <a:srgbClr val="1A140C"/>
            </a:solidFill>
            <a:prstDash val="solid"/>
            <a:round/>
            <a:headEnd len="sm" w="sm" type="none"/>
            <a:tailEnd len="sm" w="sm" type="none"/>
          </a:ln>
        </p:spPr>
        <p:txBody>
          <a:bodyPr anchorCtr="0" anchor="ctr" bIns="49250" lIns="49250" spcFirstLastPara="1" rIns="49250" wrap="square" tIns="49250">
            <a:noAutofit/>
          </a:bodyPr>
          <a:lstStyle/>
          <a:p>
            <a:pPr indent="0" lvl="0" marL="0" rtl="0" algn="l">
              <a:spcBef>
                <a:spcPts val="0"/>
              </a:spcBef>
              <a:spcAft>
                <a:spcPts val="0"/>
              </a:spcAft>
              <a:buNone/>
            </a:pPr>
            <a:r>
              <a:t/>
            </a:r>
            <a:endParaRPr/>
          </a:p>
        </p:txBody>
      </p:sp>
      <p:pic>
        <p:nvPicPr>
          <p:cNvPr descr="preencoded.png" id="710" name="Google Shape;710;p18"/>
          <p:cNvPicPr preferRelativeResize="0"/>
          <p:nvPr/>
        </p:nvPicPr>
        <p:blipFill rotWithShape="1">
          <a:blip r:embed="rId5">
            <a:alphaModFix/>
          </a:blip>
          <a:srcRect b="0" l="0" r="0" t="0"/>
          <a:stretch/>
        </p:blipFill>
        <p:spPr>
          <a:xfrm>
            <a:off x="7145285" y="2558723"/>
            <a:ext cx="1572068" cy="1572068"/>
          </a:xfrm>
          <a:prstGeom prst="rect">
            <a:avLst/>
          </a:prstGeom>
          <a:noFill/>
          <a:ln>
            <a:noFill/>
          </a:ln>
        </p:spPr>
      </p:pic>
      <p:sp>
        <p:nvSpPr>
          <p:cNvPr id="711" name="Google Shape;711;p18"/>
          <p:cNvSpPr/>
          <p:nvPr/>
        </p:nvSpPr>
        <p:spPr>
          <a:xfrm>
            <a:off x="7140156" y="4187210"/>
            <a:ext cx="1582200" cy="5100"/>
          </a:xfrm>
          <a:prstGeom prst="rect">
            <a:avLst/>
          </a:prstGeom>
          <a:solidFill>
            <a:srgbClr val="B8A47A"/>
          </a:solidFill>
          <a:ln>
            <a:noFill/>
          </a:ln>
        </p:spPr>
        <p:txBody>
          <a:bodyPr anchorCtr="0" anchor="ctr" bIns="49250" lIns="49250" spcFirstLastPara="1" rIns="49250" wrap="square" tIns="49250">
            <a:noAutofit/>
          </a:bodyPr>
          <a:lstStyle/>
          <a:p>
            <a:pPr indent="0" lvl="0" marL="0" rtl="0" algn="l">
              <a:spcBef>
                <a:spcPts val="0"/>
              </a:spcBef>
              <a:spcAft>
                <a:spcPts val="0"/>
              </a:spcAft>
              <a:buNone/>
            </a:pPr>
            <a:r>
              <a:t/>
            </a:r>
            <a:endParaRPr/>
          </a:p>
        </p:txBody>
      </p:sp>
      <p:sp>
        <p:nvSpPr>
          <p:cNvPr id="712" name="Google Shape;712;p18"/>
          <p:cNvSpPr/>
          <p:nvPr/>
        </p:nvSpPr>
        <p:spPr>
          <a:xfrm>
            <a:off x="7234804" y="4253888"/>
            <a:ext cx="781800" cy="159000"/>
          </a:xfrm>
          <a:prstGeom prst="rect">
            <a:avLst/>
          </a:prstGeom>
          <a:noFill/>
          <a:ln>
            <a:noFill/>
          </a:ln>
        </p:spPr>
        <p:txBody>
          <a:bodyPr anchorCtr="0" anchor="t" bIns="13675" lIns="13675" spcFirstLastPara="1" rIns="13675" wrap="square" tIns="13675">
            <a:noAutofit/>
          </a:bodyPr>
          <a:lstStyle/>
          <a:p>
            <a:pPr indent="0" lvl="0" marL="0" marR="0" rtl="0" algn="l">
              <a:spcBef>
                <a:spcPts val="0"/>
              </a:spcBef>
              <a:spcAft>
                <a:spcPts val="0"/>
              </a:spcAft>
              <a:buClr>
                <a:srgbClr val="8A7A64"/>
              </a:buClr>
              <a:buSzPts val="969"/>
              <a:buFont typeface="Times New Roman"/>
              <a:buNone/>
            </a:pPr>
            <a:r>
              <a:rPr i="1" lang="en" sz="969" u="none" cap="none" strike="noStrike">
                <a:solidFill>
                  <a:srgbClr val="8A7A64"/>
                </a:solidFill>
                <a:latin typeface="Calibri"/>
                <a:ea typeface="Calibri"/>
                <a:cs typeface="Calibri"/>
                <a:sym typeface="Calibri"/>
              </a:rPr>
              <a:t>PAPIT-CLIP</a:t>
            </a:r>
            <a:endParaRPr i="0" sz="969" u="none" cap="none" strike="noStrike">
              <a:solidFill>
                <a:schemeClr val="dk1"/>
              </a:solidFill>
              <a:latin typeface="Calibri"/>
              <a:ea typeface="Calibri"/>
              <a:cs typeface="Calibri"/>
              <a:sym typeface="Calibri"/>
            </a:endParaRPr>
          </a:p>
        </p:txBody>
      </p:sp>
      <p:sp>
        <p:nvSpPr>
          <p:cNvPr id="713" name="Google Shape;713;p18"/>
          <p:cNvSpPr/>
          <p:nvPr/>
        </p:nvSpPr>
        <p:spPr>
          <a:xfrm>
            <a:off x="8027009" y="4223114"/>
            <a:ext cx="121500" cy="194700"/>
          </a:xfrm>
          <a:prstGeom prst="rect">
            <a:avLst/>
          </a:prstGeom>
          <a:noFill/>
          <a:ln>
            <a:noFill/>
          </a:ln>
        </p:spPr>
        <p:txBody>
          <a:bodyPr anchorCtr="0" anchor="t" bIns="13675" lIns="13675" spcFirstLastPara="1" rIns="13675" wrap="square" tIns="13675">
            <a:noAutofit/>
          </a:bodyPr>
          <a:lstStyle/>
          <a:p>
            <a:pPr indent="0" lvl="0" marL="0" marR="0" rtl="0" algn="l">
              <a:spcBef>
                <a:spcPts val="0"/>
              </a:spcBef>
              <a:spcAft>
                <a:spcPts val="0"/>
              </a:spcAft>
              <a:buClr>
                <a:srgbClr val="7A1F10"/>
              </a:buClr>
              <a:buSzPts val="1077"/>
              <a:buFont typeface="IBM Plex Mono"/>
              <a:buNone/>
            </a:pPr>
            <a:r>
              <a:rPr b="1" i="0" lang="en" sz="1077" u="none" cap="none" strike="noStrike">
                <a:solidFill>
                  <a:srgbClr val="7A1F10"/>
                </a:solidFill>
                <a:latin typeface="Calibri"/>
                <a:ea typeface="Calibri"/>
                <a:cs typeface="Calibri"/>
                <a:sym typeface="Calibri"/>
              </a:rPr>
              <a:t>✗</a:t>
            </a:r>
            <a:endParaRPr i="0" sz="1077" u="none" cap="none" strike="noStrike">
              <a:solidFill>
                <a:schemeClr val="dk1"/>
              </a:solidFill>
              <a:latin typeface="Calibri"/>
              <a:ea typeface="Calibri"/>
              <a:cs typeface="Calibri"/>
              <a:sym typeface="Calibri"/>
            </a:endParaRPr>
          </a:p>
        </p:txBody>
      </p:sp>
      <p:sp>
        <p:nvSpPr>
          <p:cNvPr id="714" name="Google Shape;714;p18"/>
          <p:cNvSpPr/>
          <p:nvPr/>
        </p:nvSpPr>
        <p:spPr>
          <a:xfrm>
            <a:off x="8158603" y="4243630"/>
            <a:ext cx="510300" cy="174600"/>
          </a:xfrm>
          <a:prstGeom prst="rect">
            <a:avLst/>
          </a:prstGeom>
          <a:noFill/>
          <a:ln>
            <a:noFill/>
          </a:ln>
        </p:spPr>
        <p:txBody>
          <a:bodyPr anchorCtr="0" anchor="t" bIns="13675" lIns="13675" spcFirstLastPara="1" rIns="13675" wrap="square" tIns="13675">
            <a:noAutofit/>
          </a:bodyPr>
          <a:lstStyle/>
          <a:p>
            <a:pPr indent="0" lvl="0" marL="0" marR="0" rtl="0" algn="l">
              <a:spcBef>
                <a:spcPts val="0"/>
              </a:spcBef>
              <a:spcAft>
                <a:spcPts val="0"/>
              </a:spcAft>
              <a:buClr>
                <a:srgbClr val="4A3A28"/>
              </a:buClr>
              <a:buSzPts val="1077"/>
              <a:buFont typeface="Times New Roman"/>
              <a:buNone/>
            </a:pPr>
            <a:r>
              <a:rPr i="1" lang="en" sz="1077" u="none" cap="none" strike="noStrike">
                <a:solidFill>
                  <a:srgbClr val="4A3A28"/>
                </a:solidFill>
                <a:latin typeface="Calibri"/>
                <a:ea typeface="Calibri"/>
                <a:cs typeface="Calibri"/>
                <a:sym typeface="Calibri"/>
              </a:rPr>
              <a:t>Polaroid</a:t>
            </a:r>
            <a:endParaRPr i="0" sz="1077" u="none" cap="none" strike="noStrike">
              <a:solidFill>
                <a:schemeClr val="dk1"/>
              </a:solidFill>
              <a:latin typeface="Calibri"/>
              <a:ea typeface="Calibri"/>
              <a:cs typeface="Calibri"/>
              <a:sym typeface="Calibri"/>
            </a:endParaRPr>
          </a:p>
        </p:txBody>
      </p:sp>
      <p:sp>
        <p:nvSpPr>
          <p:cNvPr id="715" name="Google Shape;715;p18"/>
          <p:cNvSpPr/>
          <p:nvPr/>
        </p:nvSpPr>
        <p:spPr>
          <a:xfrm>
            <a:off x="476250" y="4643438"/>
            <a:ext cx="8191500" cy="4800"/>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16" name="Google Shape;716;p18"/>
          <p:cNvSpPr/>
          <p:nvPr/>
        </p:nvSpPr>
        <p:spPr>
          <a:xfrm>
            <a:off x="476250" y="4743450"/>
            <a:ext cx="1375728" cy="1476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i="1" lang="en" sz="900" u="none" cap="none" strike="noStrike">
                <a:solidFill>
                  <a:srgbClr val="8A7A64"/>
                </a:solidFill>
                <a:latin typeface="Calibri"/>
                <a:ea typeface="Calibri"/>
                <a:cs typeface="Calibri"/>
                <a:sym typeface="Calibri"/>
              </a:rPr>
              <a:t>PAPIT · an essay in pruning</a:t>
            </a:r>
            <a:endParaRPr i="0" sz="900" u="none" cap="none" strike="noStrike">
              <a:solidFill>
                <a:schemeClr val="dk1"/>
              </a:solidFill>
              <a:latin typeface="Calibri"/>
              <a:ea typeface="Calibri"/>
              <a:cs typeface="Calibri"/>
              <a:sym typeface="Calibri"/>
            </a:endParaRPr>
          </a:p>
        </p:txBody>
      </p:sp>
      <p:sp>
        <p:nvSpPr>
          <p:cNvPr id="717" name="Google Shape;717;p18"/>
          <p:cNvSpPr/>
          <p:nvPr/>
        </p:nvSpPr>
        <p:spPr>
          <a:xfrm>
            <a:off x="7947645" y="4724400"/>
            <a:ext cx="758205" cy="1714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IBM Plex Mono"/>
              <a:buNone/>
            </a:pPr>
            <a:r>
              <a:rPr i="0" lang="en" sz="900" u="none" cap="none" strike="noStrike">
                <a:solidFill>
                  <a:srgbClr val="8A7A64"/>
                </a:solidFill>
                <a:latin typeface="Calibri"/>
                <a:ea typeface="Calibri"/>
                <a:cs typeface="Calibri"/>
                <a:sym typeface="Calibri"/>
              </a:rPr>
              <a:t>04 / 10</a:t>
            </a:r>
            <a:endParaRPr i="0" sz="900" u="none" cap="none" strike="noStrike">
              <a:solidFill>
                <a:schemeClr val="dk1"/>
              </a:solidFill>
              <a:latin typeface="Calibri"/>
              <a:ea typeface="Calibri"/>
              <a:cs typeface="Calibri"/>
              <a:sym typeface="Calibri"/>
            </a:endParaRPr>
          </a:p>
        </p:txBody>
      </p:sp>
      <p:sp>
        <p:nvSpPr>
          <p:cNvPr id="718" name="Google Shape;718;p18"/>
          <p:cNvSpPr/>
          <p:nvPr/>
        </p:nvSpPr>
        <p:spPr>
          <a:xfrm>
            <a:off x="447975" y="824250"/>
            <a:ext cx="5866200" cy="486900"/>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A140C"/>
              </a:buClr>
              <a:buSzPts val="3000"/>
              <a:buFont typeface="Times New Roman"/>
              <a:buNone/>
            </a:pPr>
            <a:r>
              <a:rPr lang="en" sz="3000">
                <a:solidFill>
                  <a:srgbClr val="1A140C"/>
                </a:solidFill>
                <a:latin typeface="Calibri"/>
                <a:ea typeface="Calibri"/>
                <a:cs typeface="Calibri"/>
                <a:sym typeface="Calibri"/>
              </a:rPr>
              <a:t>Attempt 1: PAPIT-CLIP</a:t>
            </a:r>
            <a:endParaRPr sz="3000">
              <a:solidFill>
                <a:srgbClr val="1A140C"/>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3" name="Shape 723"/>
        <p:cNvGrpSpPr/>
        <p:nvPr/>
      </p:nvGrpSpPr>
      <p:grpSpPr>
        <a:xfrm>
          <a:off x="0" y="0"/>
          <a:ext cx="0" cy="0"/>
          <a:chOff x="0" y="0"/>
          <a:chExt cx="0" cy="0"/>
        </a:xfrm>
      </p:grpSpPr>
      <p:sp>
        <p:nvSpPr>
          <p:cNvPr id="724" name="Google Shape;724;p19"/>
          <p:cNvSpPr/>
          <p:nvPr/>
        </p:nvSpPr>
        <p:spPr>
          <a:xfrm>
            <a:off x="476250" y="485775"/>
            <a:ext cx="8191500" cy="4763"/>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25" name="Google Shape;725;p19"/>
          <p:cNvSpPr/>
          <p:nvPr/>
        </p:nvSpPr>
        <p:spPr>
          <a:xfrm>
            <a:off x="476250" y="276225"/>
            <a:ext cx="2131539" cy="1476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i="0" lang="en" sz="1200" u="none" cap="none" strike="noStrike">
                <a:solidFill>
                  <a:srgbClr val="8A7A64"/>
                </a:solidFill>
                <a:latin typeface="Calibri"/>
                <a:ea typeface="Calibri"/>
                <a:cs typeface="Calibri"/>
                <a:sym typeface="Calibri"/>
              </a:rPr>
              <a:t>R</a:t>
            </a:r>
            <a:r>
              <a:rPr lang="en" sz="1200">
                <a:solidFill>
                  <a:srgbClr val="8A7A64"/>
                </a:solidFill>
                <a:latin typeface="Calibri"/>
                <a:ea typeface="Calibri"/>
                <a:cs typeface="Calibri"/>
                <a:sym typeface="Calibri"/>
              </a:rPr>
              <a:t>esult - PAPIT-CLIP</a:t>
            </a:r>
            <a:endParaRPr sz="1200">
              <a:solidFill>
                <a:srgbClr val="8A7A64"/>
              </a:solidFill>
              <a:latin typeface="Calibri"/>
              <a:ea typeface="Calibri"/>
              <a:cs typeface="Calibri"/>
              <a:sym typeface="Calibri"/>
            </a:endParaRPr>
          </a:p>
        </p:txBody>
      </p:sp>
      <p:sp>
        <p:nvSpPr>
          <p:cNvPr id="726" name="Google Shape;726;p19"/>
          <p:cNvSpPr/>
          <p:nvPr/>
        </p:nvSpPr>
        <p:spPr>
          <a:xfrm>
            <a:off x="476250" y="1301775"/>
            <a:ext cx="8191500" cy="613200"/>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A140C"/>
              </a:buClr>
              <a:buSzPts val="2300"/>
              <a:buFont typeface="Times New Roman"/>
              <a:buNone/>
            </a:pPr>
            <a:r>
              <a:rPr i="0" lang="en" sz="2300" u="none" cap="none" strike="noStrike">
                <a:solidFill>
                  <a:srgbClr val="1A140C"/>
                </a:solidFill>
                <a:latin typeface="Calibri"/>
                <a:ea typeface="Calibri"/>
                <a:cs typeface="Calibri"/>
                <a:sym typeface="Calibri"/>
              </a:rPr>
              <a:t>CLIP </a:t>
            </a:r>
            <a:r>
              <a:rPr i="1" lang="en" sz="2300" u="none" cap="none" strike="noStrike">
                <a:solidFill>
                  <a:srgbClr val="7A1F10"/>
                </a:solidFill>
                <a:latin typeface="Calibri"/>
                <a:ea typeface="Calibri"/>
                <a:cs typeface="Calibri"/>
                <a:sym typeface="Calibri"/>
              </a:rPr>
              <a:t>localises. </a:t>
            </a:r>
            <a:r>
              <a:rPr i="0" lang="en" sz="2300" u="none" cap="none" strike="noStrike">
                <a:solidFill>
                  <a:srgbClr val="1A140C"/>
                </a:solidFill>
                <a:latin typeface="Calibri"/>
                <a:ea typeface="Calibri"/>
                <a:cs typeface="Calibri"/>
                <a:sym typeface="Calibri"/>
              </a:rPr>
              <a:t>The LLM looks </a:t>
            </a:r>
            <a:r>
              <a:rPr i="1" lang="en" sz="2300" u="none" cap="none" strike="noStrike">
                <a:solidFill>
                  <a:srgbClr val="7A1F10"/>
                </a:solidFill>
                <a:latin typeface="Calibri"/>
                <a:ea typeface="Calibri"/>
                <a:cs typeface="Calibri"/>
                <a:sym typeface="Calibri"/>
              </a:rPr>
              <a:t>elsewhere.</a:t>
            </a:r>
            <a:endParaRPr i="1" sz="2300" u="none" cap="none" strike="noStrike">
              <a:solidFill>
                <a:srgbClr val="7A1F10"/>
              </a:solidFill>
              <a:latin typeface="Calibri"/>
              <a:ea typeface="Calibri"/>
              <a:cs typeface="Calibri"/>
              <a:sym typeface="Calibri"/>
            </a:endParaRPr>
          </a:p>
          <a:p>
            <a:pPr indent="0" lvl="0" marL="0" marR="0" rtl="0" algn="l">
              <a:lnSpc>
                <a:spcPct val="104000"/>
              </a:lnSpc>
              <a:spcBef>
                <a:spcPts val="0"/>
              </a:spcBef>
              <a:spcAft>
                <a:spcPts val="0"/>
              </a:spcAft>
              <a:buClr>
                <a:srgbClr val="1A140C"/>
              </a:buClr>
              <a:buSzPts val="2300"/>
              <a:buFont typeface="Times New Roman"/>
              <a:buNone/>
            </a:pPr>
            <a:r>
              <a:rPr i="1" lang="en" sz="2300">
                <a:solidFill>
                  <a:srgbClr val="7A1F10"/>
                </a:solidFill>
                <a:latin typeface="Calibri"/>
                <a:ea typeface="Calibri"/>
                <a:cs typeface="Calibri"/>
                <a:sym typeface="Calibri"/>
              </a:rPr>
              <a:t>A whole family of training-free, CLIP-aligned scorers — ruled out</a:t>
            </a:r>
            <a:endParaRPr i="1" sz="2300">
              <a:solidFill>
                <a:srgbClr val="7A1F10"/>
              </a:solidFill>
              <a:latin typeface="Calibri"/>
              <a:ea typeface="Calibri"/>
              <a:cs typeface="Calibri"/>
              <a:sym typeface="Calibri"/>
            </a:endParaRPr>
          </a:p>
        </p:txBody>
      </p:sp>
      <p:sp>
        <p:nvSpPr>
          <p:cNvPr id="727" name="Google Shape;727;p19"/>
          <p:cNvSpPr/>
          <p:nvPr/>
        </p:nvSpPr>
        <p:spPr>
          <a:xfrm>
            <a:off x="6735225" y="2919375"/>
            <a:ext cx="1625100" cy="44760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A3A28"/>
              </a:buClr>
              <a:buSzPts val="1100"/>
              <a:buFont typeface="Times New Roman"/>
              <a:buNone/>
            </a:pPr>
            <a:r>
              <a:rPr i="1" lang="en" sz="1100" u="none" cap="none" strike="noStrike">
                <a:solidFill>
                  <a:srgbClr val="4A3A28"/>
                </a:solidFill>
                <a:latin typeface="Calibri"/>
                <a:ea typeface="Calibri"/>
                <a:cs typeface="Calibri"/>
                <a:sym typeface="Calibri"/>
              </a:rPr>
              <a:t>essentially zero. </a:t>
            </a:r>
            <a:endParaRPr i="1" sz="1100" u="none" cap="none" strike="noStrike">
              <a:solidFill>
                <a:srgbClr val="4A3A28"/>
              </a:solidFill>
              <a:latin typeface="Calibri"/>
              <a:ea typeface="Calibri"/>
              <a:cs typeface="Calibri"/>
              <a:sym typeface="Calibri"/>
            </a:endParaRPr>
          </a:p>
          <a:p>
            <a:pPr indent="0" lvl="0" marL="0" marR="0" rtl="0" algn="l">
              <a:lnSpc>
                <a:spcPct val="150000"/>
              </a:lnSpc>
              <a:spcBef>
                <a:spcPts val="0"/>
              </a:spcBef>
              <a:spcAft>
                <a:spcPts val="0"/>
              </a:spcAft>
              <a:buClr>
                <a:srgbClr val="4A3A28"/>
              </a:buClr>
              <a:buSzPts val="1100"/>
              <a:buFont typeface="Times New Roman"/>
              <a:buNone/>
            </a:pPr>
            <a:r>
              <a:rPr i="1" lang="en" sz="1100" u="none" cap="none" strike="noStrike">
                <a:solidFill>
                  <a:srgbClr val="4A3A28"/>
                </a:solidFill>
                <a:latin typeface="Calibri"/>
                <a:ea typeface="Calibri"/>
                <a:cs typeface="Calibri"/>
                <a:sym typeface="Calibri"/>
              </a:rPr>
              <a:t>Top-10% overlap below uniform-random.</a:t>
            </a:r>
            <a:endParaRPr i="0" sz="1100" u="none" cap="none" strike="noStrike">
              <a:solidFill>
                <a:schemeClr val="dk1"/>
              </a:solidFill>
              <a:latin typeface="Calibri"/>
              <a:ea typeface="Calibri"/>
              <a:cs typeface="Calibri"/>
              <a:sym typeface="Calibri"/>
            </a:endParaRPr>
          </a:p>
        </p:txBody>
      </p:sp>
      <p:sp>
        <p:nvSpPr>
          <p:cNvPr id="728" name="Google Shape;728;p19"/>
          <p:cNvSpPr/>
          <p:nvPr/>
        </p:nvSpPr>
        <p:spPr>
          <a:xfrm>
            <a:off x="1353566" y="2221000"/>
            <a:ext cx="5742300" cy="248100"/>
          </a:xfrm>
          <a:prstGeom prst="rect">
            <a:avLst/>
          </a:prstGeom>
          <a:noFill/>
          <a:ln>
            <a:noFill/>
          </a:ln>
        </p:spPr>
        <p:txBody>
          <a:bodyPr anchorCtr="0" anchor="t" bIns="15950" lIns="15950" spcFirstLastPara="1" rIns="15950" wrap="square" tIns="15950">
            <a:noAutofit/>
          </a:bodyPr>
          <a:lstStyle/>
          <a:p>
            <a:pPr indent="0" lvl="0" marL="0" marR="0" rtl="0" algn="l">
              <a:spcBef>
                <a:spcPts val="0"/>
              </a:spcBef>
              <a:spcAft>
                <a:spcPts val="0"/>
              </a:spcAft>
              <a:buClr>
                <a:srgbClr val="7A1F10"/>
              </a:buClr>
              <a:buSzPts val="1003"/>
              <a:buFont typeface="IBM Plex Mono"/>
              <a:buNone/>
            </a:pPr>
            <a:r>
              <a:rPr i="0" lang="en" sz="1003" u="none" cap="none" strike="noStrike">
                <a:solidFill>
                  <a:srgbClr val="7A1F10"/>
                </a:solidFill>
                <a:latin typeface="Calibri"/>
                <a:ea typeface="Calibri"/>
                <a:cs typeface="Calibri"/>
                <a:sym typeface="Calibri"/>
              </a:rPr>
              <a:t>Tab. i </a:t>
            </a:r>
            <a:r>
              <a:rPr i="1" lang="en" sz="1129" u="none" cap="none" strike="noStrike">
                <a:solidFill>
                  <a:srgbClr val="8A7A64"/>
                </a:solidFill>
                <a:latin typeface="Calibri"/>
                <a:ea typeface="Calibri"/>
                <a:cs typeface="Calibri"/>
                <a:sym typeface="Calibri"/>
              </a:rPr>
              <a:t>Alignment of PAPIT-CLIP scores with last-layer LLM attention (n=100 per dataset).</a:t>
            </a:r>
            <a:endParaRPr i="0" sz="1129" u="none" cap="none" strike="noStrike">
              <a:solidFill>
                <a:schemeClr val="dk1"/>
              </a:solidFill>
              <a:latin typeface="Calibri"/>
              <a:ea typeface="Calibri"/>
              <a:cs typeface="Calibri"/>
              <a:sym typeface="Calibri"/>
            </a:endParaRPr>
          </a:p>
        </p:txBody>
      </p:sp>
      <p:sp>
        <p:nvSpPr>
          <p:cNvPr id="729" name="Google Shape;729;p19"/>
          <p:cNvSpPr/>
          <p:nvPr/>
        </p:nvSpPr>
        <p:spPr>
          <a:xfrm>
            <a:off x="1661675" y="2704437"/>
            <a:ext cx="1809300" cy="6000"/>
          </a:xfrm>
          <a:prstGeom prst="rect">
            <a:avLst/>
          </a:prstGeom>
          <a:solidFill>
            <a:srgbClr val="4A3A28"/>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30" name="Google Shape;730;p19"/>
          <p:cNvSpPr/>
          <p:nvPr/>
        </p:nvSpPr>
        <p:spPr>
          <a:xfrm>
            <a:off x="3470940" y="2704437"/>
            <a:ext cx="927000" cy="6000"/>
          </a:xfrm>
          <a:prstGeom prst="rect">
            <a:avLst/>
          </a:prstGeom>
          <a:solidFill>
            <a:srgbClr val="4A3A28"/>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31" name="Google Shape;731;p19"/>
          <p:cNvSpPr/>
          <p:nvPr/>
        </p:nvSpPr>
        <p:spPr>
          <a:xfrm>
            <a:off x="3518729" y="2474452"/>
            <a:ext cx="783600" cy="182100"/>
          </a:xfrm>
          <a:prstGeom prst="rect">
            <a:avLst/>
          </a:prstGeom>
          <a:noFill/>
          <a:ln>
            <a:noFill/>
          </a:ln>
        </p:spPr>
        <p:txBody>
          <a:bodyPr anchorCtr="0" anchor="ctr" bIns="15950" lIns="15950" spcFirstLastPara="1" rIns="15950" wrap="square" tIns="15950">
            <a:noAutofit/>
          </a:bodyPr>
          <a:lstStyle/>
          <a:p>
            <a:pPr indent="0" lvl="0" marL="0" marR="0" rtl="0" algn="r">
              <a:spcBef>
                <a:spcPts val="0"/>
              </a:spcBef>
              <a:spcAft>
                <a:spcPts val="0"/>
              </a:spcAft>
              <a:buClr>
                <a:srgbClr val="8A7A64"/>
              </a:buClr>
              <a:buSzPts val="1129"/>
              <a:buFont typeface="Times New Roman"/>
              <a:buNone/>
            </a:pPr>
            <a:r>
              <a:rPr b="1" i="0" lang="en" sz="1129" u="none" cap="none" strike="noStrike">
                <a:solidFill>
                  <a:srgbClr val="8A7A64"/>
                </a:solidFill>
                <a:latin typeface="Calibri"/>
                <a:ea typeface="Calibri"/>
                <a:cs typeface="Calibri"/>
                <a:sym typeface="Calibri"/>
              </a:rPr>
              <a:t>GQA</a:t>
            </a:r>
            <a:endParaRPr i="0" sz="1129" u="none" cap="none" strike="noStrike">
              <a:solidFill>
                <a:schemeClr val="dk1"/>
              </a:solidFill>
              <a:latin typeface="Calibri"/>
              <a:ea typeface="Calibri"/>
              <a:cs typeface="Calibri"/>
              <a:sym typeface="Calibri"/>
            </a:endParaRPr>
          </a:p>
        </p:txBody>
      </p:sp>
      <p:sp>
        <p:nvSpPr>
          <p:cNvPr id="732" name="Google Shape;732;p19"/>
          <p:cNvSpPr/>
          <p:nvPr/>
        </p:nvSpPr>
        <p:spPr>
          <a:xfrm>
            <a:off x="4397601" y="2704437"/>
            <a:ext cx="1235700" cy="6000"/>
          </a:xfrm>
          <a:prstGeom prst="rect">
            <a:avLst/>
          </a:prstGeom>
          <a:solidFill>
            <a:srgbClr val="4A3A28"/>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33" name="Google Shape;733;p19"/>
          <p:cNvSpPr/>
          <p:nvPr/>
        </p:nvSpPr>
        <p:spPr>
          <a:xfrm>
            <a:off x="4445390" y="2474452"/>
            <a:ext cx="1092300" cy="182100"/>
          </a:xfrm>
          <a:prstGeom prst="rect">
            <a:avLst/>
          </a:prstGeom>
          <a:noFill/>
          <a:ln>
            <a:noFill/>
          </a:ln>
        </p:spPr>
        <p:txBody>
          <a:bodyPr anchorCtr="0" anchor="ctr" bIns="15950" lIns="15950" spcFirstLastPara="1" rIns="15950" wrap="square" tIns="15950">
            <a:noAutofit/>
          </a:bodyPr>
          <a:lstStyle/>
          <a:p>
            <a:pPr indent="0" lvl="0" marL="0" marR="0" rtl="0" algn="r">
              <a:spcBef>
                <a:spcPts val="0"/>
              </a:spcBef>
              <a:spcAft>
                <a:spcPts val="0"/>
              </a:spcAft>
              <a:buClr>
                <a:srgbClr val="8A7A64"/>
              </a:buClr>
              <a:buSzPts val="1129"/>
              <a:buFont typeface="Times New Roman"/>
              <a:buNone/>
            </a:pPr>
            <a:r>
              <a:rPr b="1" i="0" lang="en" sz="1129" u="none" cap="none" strike="noStrike">
                <a:solidFill>
                  <a:srgbClr val="8A7A64"/>
                </a:solidFill>
                <a:latin typeface="Calibri"/>
                <a:ea typeface="Calibri"/>
                <a:cs typeface="Calibri"/>
                <a:sym typeface="Calibri"/>
              </a:rPr>
              <a:t>TEXTVQA</a:t>
            </a:r>
            <a:endParaRPr i="0" sz="1129" u="none" cap="none" strike="noStrike">
              <a:solidFill>
                <a:schemeClr val="dk1"/>
              </a:solidFill>
              <a:latin typeface="Calibri"/>
              <a:ea typeface="Calibri"/>
              <a:cs typeface="Calibri"/>
              <a:sym typeface="Calibri"/>
            </a:endParaRPr>
          </a:p>
        </p:txBody>
      </p:sp>
      <p:sp>
        <p:nvSpPr>
          <p:cNvPr id="734" name="Google Shape;734;p19"/>
          <p:cNvSpPr/>
          <p:nvPr/>
        </p:nvSpPr>
        <p:spPr>
          <a:xfrm>
            <a:off x="5633304" y="2704437"/>
            <a:ext cx="927000" cy="6000"/>
          </a:xfrm>
          <a:prstGeom prst="rect">
            <a:avLst/>
          </a:prstGeom>
          <a:solidFill>
            <a:srgbClr val="4A3A28"/>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35" name="Google Shape;735;p19"/>
          <p:cNvSpPr/>
          <p:nvPr/>
        </p:nvSpPr>
        <p:spPr>
          <a:xfrm>
            <a:off x="5681093" y="2474452"/>
            <a:ext cx="783600" cy="182100"/>
          </a:xfrm>
          <a:prstGeom prst="rect">
            <a:avLst/>
          </a:prstGeom>
          <a:noFill/>
          <a:ln>
            <a:noFill/>
          </a:ln>
        </p:spPr>
        <p:txBody>
          <a:bodyPr anchorCtr="0" anchor="ctr" bIns="15950" lIns="15950" spcFirstLastPara="1" rIns="15950" wrap="square" tIns="15950">
            <a:noAutofit/>
          </a:bodyPr>
          <a:lstStyle/>
          <a:p>
            <a:pPr indent="0" lvl="0" marL="0" marR="0" rtl="0" algn="r">
              <a:spcBef>
                <a:spcPts val="0"/>
              </a:spcBef>
              <a:spcAft>
                <a:spcPts val="0"/>
              </a:spcAft>
              <a:buClr>
                <a:srgbClr val="8A7A64"/>
              </a:buClr>
              <a:buSzPts val="1129"/>
              <a:buFont typeface="Times New Roman"/>
              <a:buNone/>
            </a:pPr>
            <a:r>
              <a:rPr b="1" i="0" lang="en" sz="1129" u="none" cap="none" strike="noStrike">
                <a:solidFill>
                  <a:srgbClr val="8A7A64"/>
                </a:solidFill>
                <a:latin typeface="Calibri"/>
                <a:ea typeface="Calibri"/>
                <a:cs typeface="Calibri"/>
                <a:sym typeface="Calibri"/>
              </a:rPr>
              <a:t>VQAV2</a:t>
            </a:r>
            <a:endParaRPr i="0" sz="1129" u="none" cap="none" strike="noStrike">
              <a:solidFill>
                <a:schemeClr val="dk1"/>
              </a:solidFill>
              <a:latin typeface="Calibri"/>
              <a:ea typeface="Calibri"/>
              <a:cs typeface="Calibri"/>
              <a:sym typeface="Calibri"/>
            </a:endParaRPr>
          </a:p>
        </p:txBody>
      </p:sp>
      <p:sp>
        <p:nvSpPr>
          <p:cNvPr id="736" name="Google Shape;736;p19"/>
          <p:cNvSpPr/>
          <p:nvPr/>
        </p:nvSpPr>
        <p:spPr>
          <a:xfrm>
            <a:off x="1661675" y="3056881"/>
            <a:ext cx="18093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37" name="Google Shape;737;p19"/>
          <p:cNvSpPr/>
          <p:nvPr/>
        </p:nvSpPr>
        <p:spPr>
          <a:xfrm>
            <a:off x="1757253" y="2782094"/>
            <a:ext cx="1672200" cy="226500"/>
          </a:xfrm>
          <a:prstGeom prst="rect">
            <a:avLst/>
          </a:prstGeom>
          <a:noFill/>
          <a:ln>
            <a:noFill/>
          </a:ln>
        </p:spPr>
        <p:txBody>
          <a:bodyPr anchorCtr="0" anchor="ctr" bIns="15950" lIns="15950" spcFirstLastPara="1" rIns="15950" wrap="square" tIns="15950">
            <a:noAutofit/>
          </a:bodyPr>
          <a:lstStyle/>
          <a:p>
            <a:pPr indent="0" lvl="0" marL="0" marR="0" rtl="0" algn="l">
              <a:spcBef>
                <a:spcPts val="0"/>
              </a:spcBef>
              <a:spcAft>
                <a:spcPts val="0"/>
              </a:spcAft>
              <a:buClr>
                <a:srgbClr val="1A140C"/>
              </a:buClr>
              <a:buSzPts val="1254"/>
              <a:buFont typeface="Times New Roman"/>
              <a:buNone/>
            </a:pPr>
            <a:r>
              <a:rPr i="1" lang="en" sz="1254" u="none" cap="none" strike="noStrike">
                <a:solidFill>
                  <a:srgbClr val="1A140C"/>
                </a:solidFill>
                <a:latin typeface="Calibri"/>
                <a:ea typeface="Calibri"/>
                <a:cs typeface="Calibri"/>
                <a:sym typeface="Calibri"/>
              </a:rPr>
              <a:t>ρ (mean)</a:t>
            </a:r>
            <a:endParaRPr i="0" sz="1254" u="none" cap="none" strike="noStrike">
              <a:solidFill>
                <a:schemeClr val="dk1"/>
              </a:solidFill>
              <a:latin typeface="Calibri"/>
              <a:ea typeface="Calibri"/>
              <a:cs typeface="Calibri"/>
              <a:sym typeface="Calibri"/>
            </a:endParaRPr>
          </a:p>
        </p:txBody>
      </p:sp>
      <p:sp>
        <p:nvSpPr>
          <p:cNvPr id="738" name="Google Shape;738;p19"/>
          <p:cNvSpPr/>
          <p:nvPr/>
        </p:nvSpPr>
        <p:spPr>
          <a:xfrm>
            <a:off x="3470940" y="3056881"/>
            <a:ext cx="9270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39" name="Google Shape;739;p19"/>
          <p:cNvSpPr/>
          <p:nvPr/>
        </p:nvSpPr>
        <p:spPr>
          <a:xfrm>
            <a:off x="3518729" y="2782094"/>
            <a:ext cx="783600" cy="226500"/>
          </a:xfrm>
          <a:prstGeom prst="rect">
            <a:avLst/>
          </a:prstGeom>
          <a:noFill/>
          <a:ln>
            <a:noFill/>
          </a:ln>
        </p:spPr>
        <p:txBody>
          <a:bodyPr anchorCtr="0" anchor="ctr" bIns="15950" lIns="15950" spcFirstLastPara="1" rIns="15950" wrap="square" tIns="15950">
            <a:noAutofit/>
          </a:bodyPr>
          <a:lstStyle/>
          <a:p>
            <a:pPr indent="0" lvl="0" marL="0" marR="0" rtl="0" algn="r">
              <a:spcBef>
                <a:spcPts val="0"/>
              </a:spcBef>
              <a:spcAft>
                <a:spcPts val="0"/>
              </a:spcAft>
              <a:buClr>
                <a:srgbClr val="1A140C"/>
              </a:buClr>
              <a:buSzPts val="1254"/>
              <a:buFont typeface="IBM Plex Mono"/>
              <a:buNone/>
            </a:pPr>
            <a:r>
              <a:rPr i="0" lang="en" sz="1254" u="none" cap="none" strike="noStrike">
                <a:solidFill>
                  <a:srgbClr val="1A140C"/>
                </a:solidFill>
                <a:latin typeface="Calibri"/>
                <a:ea typeface="Calibri"/>
                <a:cs typeface="Calibri"/>
                <a:sym typeface="Calibri"/>
              </a:rPr>
              <a:t>−0.018</a:t>
            </a:r>
            <a:endParaRPr i="0" sz="1254" u="none" cap="none" strike="noStrike">
              <a:solidFill>
                <a:schemeClr val="dk1"/>
              </a:solidFill>
              <a:latin typeface="Calibri"/>
              <a:ea typeface="Calibri"/>
              <a:cs typeface="Calibri"/>
              <a:sym typeface="Calibri"/>
            </a:endParaRPr>
          </a:p>
        </p:txBody>
      </p:sp>
      <p:sp>
        <p:nvSpPr>
          <p:cNvPr id="740" name="Google Shape;740;p19"/>
          <p:cNvSpPr/>
          <p:nvPr/>
        </p:nvSpPr>
        <p:spPr>
          <a:xfrm>
            <a:off x="4397601" y="3056881"/>
            <a:ext cx="12357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41" name="Google Shape;741;p19"/>
          <p:cNvSpPr/>
          <p:nvPr/>
        </p:nvSpPr>
        <p:spPr>
          <a:xfrm>
            <a:off x="4445390" y="2782094"/>
            <a:ext cx="1092300" cy="226500"/>
          </a:xfrm>
          <a:prstGeom prst="rect">
            <a:avLst/>
          </a:prstGeom>
          <a:noFill/>
          <a:ln>
            <a:noFill/>
          </a:ln>
        </p:spPr>
        <p:txBody>
          <a:bodyPr anchorCtr="0" anchor="ctr" bIns="15950" lIns="15950" spcFirstLastPara="1" rIns="15950" wrap="square" tIns="15950">
            <a:noAutofit/>
          </a:bodyPr>
          <a:lstStyle/>
          <a:p>
            <a:pPr indent="0" lvl="0" marL="0" marR="0" rtl="0" algn="r">
              <a:spcBef>
                <a:spcPts val="0"/>
              </a:spcBef>
              <a:spcAft>
                <a:spcPts val="0"/>
              </a:spcAft>
              <a:buClr>
                <a:srgbClr val="1A140C"/>
              </a:buClr>
              <a:buSzPts val="1254"/>
              <a:buFont typeface="IBM Plex Mono"/>
              <a:buNone/>
            </a:pPr>
            <a:r>
              <a:rPr i="0" lang="en" sz="1254" u="none" cap="none" strike="noStrike">
                <a:solidFill>
                  <a:srgbClr val="1A140C"/>
                </a:solidFill>
                <a:latin typeface="Calibri"/>
                <a:ea typeface="Calibri"/>
                <a:cs typeface="Calibri"/>
                <a:sym typeface="Calibri"/>
              </a:rPr>
              <a:t>−0.016</a:t>
            </a:r>
            <a:endParaRPr i="0" sz="1254" u="none" cap="none" strike="noStrike">
              <a:solidFill>
                <a:schemeClr val="dk1"/>
              </a:solidFill>
              <a:latin typeface="Calibri"/>
              <a:ea typeface="Calibri"/>
              <a:cs typeface="Calibri"/>
              <a:sym typeface="Calibri"/>
            </a:endParaRPr>
          </a:p>
        </p:txBody>
      </p:sp>
      <p:sp>
        <p:nvSpPr>
          <p:cNvPr id="742" name="Google Shape;742;p19"/>
          <p:cNvSpPr/>
          <p:nvPr/>
        </p:nvSpPr>
        <p:spPr>
          <a:xfrm>
            <a:off x="5633304" y="3056881"/>
            <a:ext cx="9270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43" name="Google Shape;743;p19"/>
          <p:cNvSpPr/>
          <p:nvPr/>
        </p:nvSpPr>
        <p:spPr>
          <a:xfrm>
            <a:off x="5681093" y="2782094"/>
            <a:ext cx="783600" cy="226500"/>
          </a:xfrm>
          <a:prstGeom prst="rect">
            <a:avLst/>
          </a:prstGeom>
          <a:noFill/>
          <a:ln>
            <a:noFill/>
          </a:ln>
        </p:spPr>
        <p:txBody>
          <a:bodyPr anchorCtr="0" anchor="ctr" bIns="15950" lIns="15950" spcFirstLastPara="1" rIns="15950" wrap="square" tIns="15950">
            <a:noAutofit/>
          </a:bodyPr>
          <a:lstStyle/>
          <a:p>
            <a:pPr indent="0" lvl="0" marL="0" marR="0" rtl="0" algn="r">
              <a:spcBef>
                <a:spcPts val="0"/>
              </a:spcBef>
              <a:spcAft>
                <a:spcPts val="0"/>
              </a:spcAft>
              <a:buClr>
                <a:srgbClr val="1A140C"/>
              </a:buClr>
              <a:buSzPts val="1254"/>
              <a:buFont typeface="IBM Plex Mono"/>
              <a:buNone/>
            </a:pPr>
            <a:r>
              <a:rPr i="0" lang="en" sz="1254" u="none" cap="none" strike="noStrike">
                <a:solidFill>
                  <a:srgbClr val="1A140C"/>
                </a:solidFill>
                <a:latin typeface="Calibri"/>
                <a:ea typeface="Calibri"/>
                <a:cs typeface="Calibri"/>
                <a:sym typeface="Calibri"/>
              </a:rPr>
              <a:t>+0.014</a:t>
            </a:r>
            <a:endParaRPr i="0" sz="1254" u="none" cap="none" strike="noStrike">
              <a:solidFill>
                <a:schemeClr val="dk1"/>
              </a:solidFill>
              <a:latin typeface="Calibri"/>
              <a:ea typeface="Calibri"/>
              <a:cs typeface="Calibri"/>
              <a:sym typeface="Calibri"/>
            </a:endParaRPr>
          </a:p>
        </p:txBody>
      </p:sp>
      <p:sp>
        <p:nvSpPr>
          <p:cNvPr id="744" name="Google Shape;744;p19"/>
          <p:cNvSpPr/>
          <p:nvPr/>
        </p:nvSpPr>
        <p:spPr>
          <a:xfrm>
            <a:off x="1661675" y="3409325"/>
            <a:ext cx="18093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45" name="Google Shape;745;p19"/>
          <p:cNvSpPr/>
          <p:nvPr/>
        </p:nvSpPr>
        <p:spPr>
          <a:xfrm>
            <a:off x="1757253" y="3134538"/>
            <a:ext cx="1672200" cy="226500"/>
          </a:xfrm>
          <a:prstGeom prst="rect">
            <a:avLst/>
          </a:prstGeom>
          <a:noFill/>
          <a:ln>
            <a:noFill/>
          </a:ln>
        </p:spPr>
        <p:txBody>
          <a:bodyPr anchorCtr="0" anchor="ctr" bIns="15950" lIns="15950" spcFirstLastPara="1" rIns="15950" wrap="square" tIns="15950">
            <a:noAutofit/>
          </a:bodyPr>
          <a:lstStyle/>
          <a:p>
            <a:pPr indent="0" lvl="0" marL="0" marR="0" rtl="0" algn="l">
              <a:spcBef>
                <a:spcPts val="0"/>
              </a:spcBef>
              <a:spcAft>
                <a:spcPts val="0"/>
              </a:spcAft>
              <a:buClr>
                <a:srgbClr val="1A140C"/>
              </a:buClr>
              <a:buSzPts val="1254"/>
              <a:buFont typeface="Times New Roman"/>
              <a:buNone/>
            </a:pPr>
            <a:r>
              <a:rPr i="1" lang="en" sz="1254" u="none" cap="none" strike="noStrike">
                <a:solidFill>
                  <a:srgbClr val="1A140C"/>
                </a:solidFill>
                <a:latin typeface="Calibri"/>
                <a:ea typeface="Calibri"/>
                <a:cs typeface="Calibri"/>
                <a:sym typeface="Calibri"/>
              </a:rPr>
              <a:t>ρ (median)</a:t>
            </a:r>
            <a:endParaRPr i="0" sz="1254" u="none" cap="none" strike="noStrike">
              <a:solidFill>
                <a:schemeClr val="dk1"/>
              </a:solidFill>
              <a:latin typeface="Calibri"/>
              <a:ea typeface="Calibri"/>
              <a:cs typeface="Calibri"/>
              <a:sym typeface="Calibri"/>
            </a:endParaRPr>
          </a:p>
        </p:txBody>
      </p:sp>
      <p:sp>
        <p:nvSpPr>
          <p:cNvPr id="746" name="Google Shape;746;p19"/>
          <p:cNvSpPr/>
          <p:nvPr/>
        </p:nvSpPr>
        <p:spPr>
          <a:xfrm>
            <a:off x="3470940" y="3409325"/>
            <a:ext cx="9270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47" name="Google Shape;747;p19"/>
          <p:cNvSpPr/>
          <p:nvPr/>
        </p:nvSpPr>
        <p:spPr>
          <a:xfrm>
            <a:off x="3518729" y="3134538"/>
            <a:ext cx="783600" cy="226500"/>
          </a:xfrm>
          <a:prstGeom prst="rect">
            <a:avLst/>
          </a:prstGeom>
          <a:noFill/>
          <a:ln>
            <a:noFill/>
          </a:ln>
        </p:spPr>
        <p:txBody>
          <a:bodyPr anchorCtr="0" anchor="ctr" bIns="15950" lIns="15950" spcFirstLastPara="1" rIns="15950" wrap="square" tIns="15950">
            <a:noAutofit/>
          </a:bodyPr>
          <a:lstStyle/>
          <a:p>
            <a:pPr indent="0" lvl="0" marL="0" marR="0" rtl="0" algn="r">
              <a:spcBef>
                <a:spcPts val="0"/>
              </a:spcBef>
              <a:spcAft>
                <a:spcPts val="0"/>
              </a:spcAft>
              <a:buClr>
                <a:srgbClr val="1A140C"/>
              </a:buClr>
              <a:buSzPts val="1254"/>
              <a:buFont typeface="IBM Plex Mono"/>
              <a:buNone/>
            </a:pPr>
            <a:r>
              <a:rPr i="0" lang="en" sz="1254" u="none" cap="none" strike="noStrike">
                <a:solidFill>
                  <a:srgbClr val="1A140C"/>
                </a:solidFill>
                <a:latin typeface="Calibri"/>
                <a:ea typeface="Calibri"/>
                <a:cs typeface="Calibri"/>
                <a:sym typeface="Calibri"/>
              </a:rPr>
              <a:t>+0.008</a:t>
            </a:r>
            <a:endParaRPr i="0" sz="1254" u="none" cap="none" strike="noStrike">
              <a:solidFill>
                <a:schemeClr val="dk1"/>
              </a:solidFill>
              <a:latin typeface="Calibri"/>
              <a:ea typeface="Calibri"/>
              <a:cs typeface="Calibri"/>
              <a:sym typeface="Calibri"/>
            </a:endParaRPr>
          </a:p>
        </p:txBody>
      </p:sp>
      <p:sp>
        <p:nvSpPr>
          <p:cNvPr id="748" name="Google Shape;748;p19"/>
          <p:cNvSpPr/>
          <p:nvPr/>
        </p:nvSpPr>
        <p:spPr>
          <a:xfrm>
            <a:off x="4397601" y="3409325"/>
            <a:ext cx="12357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49" name="Google Shape;749;p19"/>
          <p:cNvSpPr/>
          <p:nvPr/>
        </p:nvSpPr>
        <p:spPr>
          <a:xfrm>
            <a:off x="4445390" y="3134538"/>
            <a:ext cx="1092300" cy="226500"/>
          </a:xfrm>
          <a:prstGeom prst="rect">
            <a:avLst/>
          </a:prstGeom>
          <a:noFill/>
          <a:ln>
            <a:noFill/>
          </a:ln>
        </p:spPr>
        <p:txBody>
          <a:bodyPr anchorCtr="0" anchor="ctr" bIns="15950" lIns="15950" spcFirstLastPara="1" rIns="15950" wrap="square" tIns="15950">
            <a:noAutofit/>
          </a:bodyPr>
          <a:lstStyle/>
          <a:p>
            <a:pPr indent="0" lvl="0" marL="0" marR="0" rtl="0" algn="r">
              <a:spcBef>
                <a:spcPts val="0"/>
              </a:spcBef>
              <a:spcAft>
                <a:spcPts val="0"/>
              </a:spcAft>
              <a:buClr>
                <a:srgbClr val="1A140C"/>
              </a:buClr>
              <a:buSzPts val="1254"/>
              <a:buFont typeface="IBM Plex Mono"/>
              <a:buNone/>
            </a:pPr>
            <a:r>
              <a:rPr i="0" lang="en" sz="1254" u="none" cap="none" strike="noStrike">
                <a:solidFill>
                  <a:srgbClr val="1A140C"/>
                </a:solidFill>
                <a:latin typeface="Calibri"/>
                <a:ea typeface="Calibri"/>
                <a:cs typeface="Calibri"/>
                <a:sym typeface="Calibri"/>
              </a:rPr>
              <a:t>+0.019</a:t>
            </a:r>
            <a:endParaRPr i="0" sz="1254" u="none" cap="none" strike="noStrike">
              <a:solidFill>
                <a:schemeClr val="dk1"/>
              </a:solidFill>
              <a:latin typeface="Calibri"/>
              <a:ea typeface="Calibri"/>
              <a:cs typeface="Calibri"/>
              <a:sym typeface="Calibri"/>
            </a:endParaRPr>
          </a:p>
        </p:txBody>
      </p:sp>
      <p:sp>
        <p:nvSpPr>
          <p:cNvPr id="750" name="Google Shape;750;p19"/>
          <p:cNvSpPr/>
          <p:nvPr/>
        </p:nvSpPr>
        <p:spPr>
          <a:xfrm>
            <a:off x="5633304" y="3409325"/>
            <a:ext cx="9270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51" name="Google Shape;751;p19"/>
          <p:cNvSpPr/>
          <p:nvPr/>
        </p:nvSpPr>
        <p:spPr>
          <a:xfrm>
            <a:off x="5681093" y="3134538"/>
            <a:ext cx="783600" cy="226500"/>
          </a:xfrm>
          <a:prstGeom prst="rect">
            <a:avLst/>
          </a:prstGeom>
          <a:noFill/>
          <a:ln>
            <a:noFill/>
          </a:ln>
        </p:spPr>
        <p:txBody>
          <a:bodyPr anchorCtr="0" anchor="ctr" bIns="15950" lIns="15950" spcFirstLastPara="1" rIns="15950" wrap="square" tIns="15950">
            <a:noAutofit/>
          </a:bodyPr>
          <a:lstStyle/>
          <a:p>
            <a:pPr indent="0" lvl="0" marL="0" marR="0" rtl="0" algn="r">
              <a:spcBef>
                <a:spcPts val="0"/>
              </a:spcBef>
              <a:spcAft>
                <a:spcPts val="0"/>
              </a:spcAft>
              <a:buClr>
                <a:srgbClr val="1A140C"/>
              </a:buClr>
              <a:buSzPts val="1254"/>
              <a:buFont typeface="IBM Plex Mono"/>
              <a:buNone/>
            </a:pPr>
            <a:r>
              <a:rPr i="0" lang="en" sz="1254" u="none" cap="none" strike="noStrike">
                <a:solidFill>
                  <a:srgbClr val="1A140C"/>
                </a:solidFill>
                <a:latin typeface="Calibri"/>
                <a:ea typeface="Calibri"/>
                <a:cs typeface="Calibri"/>
                <a:sym typeface="Calibri"/>
              </a:rPr>
              <a:t>+0.010</a:t>
            </a:r>
            <a:endParaRPr i="0" sz="1254" u="none" cap="none" strike="noStrike">
              <a:solidFill>
                <a:schemeClr val="dk1"/>
              </a:solidFill>
              <a:latin typeface="Calibri"/>
              <a:ea typeface="Calibri"/>
              <a:cs typeface="Calibri"/>
              <a:sym typeface="Calibri"/>
            </a:endParaRPr>
          </a:p>
        </p:txBody>
      </p:sp>
      <p:sp>
        <p:nvSpPr>
          <p:cNvPr id="752" name="Google Shape;752;p19"/>
          <p:cNvSpPr/>
          <p:nvPr/>
        </p:nvSpPr>
        <p:spPr>
          <a:xfrm>
            <a:off x="1661675" y="3761769"/>
            <a:ext cx="18093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53" name="Google Shape;753;p19"/>
          <p:cNvSpPr/>
          <p:nvPr/>
        </p:nvSpPr>
        <p:spPr>
          <a:xfrm>
            <a:off x="1757253" y="3486982"/>
            <a:ext cx="1672200" cy="226500"/>
          </a:xfrm>
          <a:prstGeom prst="rect">
            <a:avLst/>
          </a:prstGeom>
          <a:noFill/>
          <a:ln>
            <a:noFill/>
          </a:ln>
        </p:spPr>
        <p:txBody>
          <a:bodyPr anchorCtr="0" anchor="ctr" bIns="15950" lIns="15950" spcFirstLastPara="1" rIns="15950" wrap="square" tIns="15950">
            <a:noAutofit/>
          </a:bodyPr>
          <a:lstStyle/>
          <a:p>
            <a:pPr indent="0" lvl="0" marL="0" marR="0" rtl="0" algn="l">
              <a:spcBef>
                <a:spcPts val="0"/>
              </a:spcBef>
              <a:spcAft>
                <a:spcPts val="0"/>
              </a:spcAft>
              <a:buClr>
                <a:srgbClr val="1A140C"/>
              </a:buClr>
              <a:buSzPts val="1254"/>
              <a:buFont typeface="Times New Roman"/>
              <a:buNone/>
            </a:pPr>
            <a:r>
              <a:rPr i="1" lang="en" sz="1254" u="none" cap="none" strike="noStrike">
                <a:solidFill>
                  <a:srgbClr val="1A140C"/>
                </a:solidFill>
                <a:latin typeface="Calibri"/>
                <a:ea typeface="Calibri"/>
                <a:cs typeface="Calibri"/>
                <a:sym typeface="Calibri"/>
              </a:rPr>
              <a:t>% samples ρ &gt; 0.3</a:t>
            </a:r>
            <a:endParaRPr i="0" sz="1254" u="none" cap="none" strike="noStrike">
              <a:solidFill>
                <a:schemeClr val="dk1"/>
              </a:solidFill>
              <a:latin typeface="Calibri"/>
              <a:ea typeface="Calibri"/>
              <a:cs typeface="Calibri"/>
              <a:sym typeface="Calibri"/>
            </a:endParaRPr>
          </a:p>
        </p:txBody>
      </p:sp>
      <p:sp>
        <p:nvSpPr>
          <p:cNvPr id="754" name="Google Shape;754;p19"/>
          <p:cNvSpPr/>
          <p:nvPr/>
        </p:nvSpPr>
        <p:spPr>
          <a:xfrm>
            <a:off x="3470940" y="3761769"/>
            <a:ext cx="9270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55" name="Google Shape;755;p19"/>
          <p:cNvSpPr/>
          <p:nvPr/>
        </p:nvSpPr>
        <p:spPr>
          <a:xfrm>
            <a:off x="3518729" y="3486982"/>
            <a:ext cx="783600" cy="226500"/>
          </a:xfrm>
          <a:prstGeom prst="rect">
            <a:avLst/>
          </a:prstGeom>
          <a:noFill/>
          <a:ln>
            <a:noFill/>
          </a:ln>
        </p:spPr>
        <p:txBody>
          <a:bodyPr anchorCtr="0" anchor="ctr" bIns="15950" lIns="15950" spcFirstLastPara="1" rIns="15950" wrap="square" tIns="15950">
            <a:noAutofit/>
          </a:bodyPr>
          <a:lstStyle/>
          <a:p>
            <a:pPr indent="0" lvl="0" marL="0" marR="0" rtl="0" algn="r">
              <a:spcBef>
                <a:spcPts val="0"/>
              </a:spcBef>
              <a:spcAft>
                <a:spcPts val="0"/>
              </a:spcAft>
              <a:buClr>
                <a:srgbClr val="1A140C"/>
              </a:buClr>
              <a:buSzPts val="1254"/>
              <a:buFont typeface="IBM Plex Mono"/>
              <a:buNone/>
            </a:pPr>
            <a:r>
              <a:rPr i="0" lang="en" sz="1254" u="none" cap="none" strike="noStrike">
                <a:solidFill>
                  <a:srgbClr val="1A140C"/>
                </a:solidFill>
                <a:latin typeface="Calibri"/>
                <a:ea typeface="Calibri"/>
                <a:cs typeface="Calibri"/>
                <a:sym typeface="Calibri"/>
              </a:rPr>
              <a:t>0%</a:t>
            </a:r>
            <a:endParaRPr i="0" sz="1254" u="none" cap="none" strike="noStrike">
              <a:solidFill>
                <a:schemeClr val="dk1"/>
              </a:solidFill>
              <a:latin typeface="Calibri"/>
              <a:ea typeface="Calibri"/>
              <a:cs typeface="Calibri"/>
              <a:sym typeface="Calibri"/>
            </a:endParaRPr>
          </a:p>
        </p:txBody>
      </p:sp>
      <p:sp>
        <p:nvSpPr>
          <p:cNvPr id="756" name="Google Shape;756;p19"/>
          <p:cNvSpPr/>
          <p:nvPr/>
        </p:nvSpPr>
        <p:spPr>
          <a:xfrm>
            <a:off x="4397601" y="3761769"/>
            <a:ext cx="12357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57" name="Google Shape;757;p19"/>
          <p:cNvSpPr/>
          <p:nvPr/>
        </p:nvSpPr>
        <p:spPr>
          <a:xfrm>
            <a:off x="4445390" y="3486982"/>
            <a:ext cx="1092300" cy="226500"/>
          </a:xfrm>
          <a:prstGeom prst="rect">
            <a:avLst/>
          </a:prstGeom>
          <a:noFill/>
          <a:ln>
            <a:noFill/>
          </a:ln>
        </p:spPr>
        <p:txBody>
          <a:bodyPr anchorCtr="0" anchor="ctr" bIns="15950" lIns="15950" spcFirstLastPara="1" rIns="15950" wrap="square" tIns="15950">
            <a:noAutofit/>
          </a:bodyPr>
          <a:lstStyle/>
          <a:p>
            <a:pPr indent="0" lvl="0" marL="0" marR="0" rtl="0" algn="r">
              <a:spcBef>
                <a:spcPts val="0"/>
              </a:spcBef>
              <a:spcAft>
                <a:spcPts val="0"/>
              </a:spcAft>
              <a:buClr>
                <a:srgbClr val="1A140C"/>
              </a:buClr>
              <a:buSzPts val="1254"/>
              <a:buFont typeface="IBM Plex Mono"/>
              <a:buNone/>
            </a:pPr>
            <a:r>
              <a:rPr i="0" lang="en" sz="1254" u="none" cap="none" strike="noStrike">
                <a:solidFill>
                  <a:srgbClr val="1A140C"/>
                </a:solidFill>
                <a:latin typeface="Calibri"/>
                <a:ea typeface="Calibri"/>
                <a:cs typeface="Calibri"/>
                <a:sym typeface="Calibri"/>
              </a:rPr>
              <a:t>0%</a:t>
            </a:r>
            <a:endParaRPr i="0" sz="1254" u="none" cap="none" strike="noStrike">
              <a:solidFill>
                <a:schemeClr val="dk1"/>
              </a:solidFill>
              <a:latin typeface="Calibri"/>
              <a:ea typeface="Calibri"/>
              <a:cs typeface="Calibri"/>
              <a:sym typeface="Calibri"/>
            </a:endParaRPr>
          </a:p>
        </p:txBody>
      </p:sp>
      <p:sp>
        <p:nvSpPr>
          <p:cNvPr id="758" name="Google Shape;758;p19"/>
          <p:cNvSpPr/>
          <p:nvPr/>
        </p:nvSpPr>
        <p:spPr>
          <a:xfrm>
            <a:off x="5633304" y="3761769"/>
            <a:ext cx="9270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59" name="Google Shape;759;p19"/>
          <p:cNvSpPr/>
          <p:nvPr/>
        </p:nvSpPr>
        <p:spPr>
          <a:xfrm>
            <a:off x="5681093" y="3486982"/>
            <a:ext cx="783600" cy="226500"/>
          </a:xfrm>
          <a:prstGeom prst="rect">
            <a:avLst/>
          </a:prstGeom>
          <a:noFill/>
          <a:ln>
            <a:noFill/>
          </a:ln>
        </p:spPr>
        <p:txBody>
          <a:bodyPr anchorCtr="0" anchor="ctr" bIns="15950" lIns="15950" spcFirstLastPara="1" rIns="15950" wrap="square" tIns="15950">
            <a:noAutofit/>
          </a:bodyPr>
          <a:lstStyle/>
          <a:p>
            <a:pPr indent="0" lvl="0" marL="0" marR="0" rtl="0" algn="r">
              <a:spcBef>
                <a:spcPts val="0"/>
              </a:spcBef>
              <a:spcAft>
                <a:spcPts val="0"/>
              </a:spcAft>
              <a:buClr>
                <a:srgbClr val="1A140C"/>
              </a:buClr>
              <a:buSzPts val="1254"/>
              <a:buFont typeface="IBM Plex Mono"/>
              <a:buNone/>
            </a:pPr>
            <a:r>
              <a:rPr i="0" lang="en" sz="1254" u="none" cap="none" strike="noStrike">
                <a:solidFill>
                  <a:srgbClr val="1A140C"/>
                </a:solidFill>
                <a:latin typeface="Calibri"/>
                <a:ea typeface="Calibri"/>
                <a:cs typeface="Calibri"/>
                <a:sym typeface="Calibri"/>
              </a:rPr>
              <a:t>0%</a:t>
            </a:r>
            <a:endParaRPr i="0" sz="1254" u="none" cap="none" strike="noStrike">
              <a:solidFill>
                <a:schemeClr val="dk1"/>
              </a:solidFill>
              <a:latin typeface="Calibri"/>
              <a:ea typeface="Calibri"/>
              <a:cs typeface="Calibri"/>
              <a:sym typeface="Calibri"/>
            </a:endParaRPr>
          </a:p>
        </p:txBody>
      </p:sp>
      <p:sp>
        <p:nvSpPr>
          <p:cNvPr id="760" name="Google Shape;760;p19"/>
          <p:cNvSpPr/>
          <p:nvPr/>
        </p:nvSpPr>
        <p:spPr>
          <a:xfrm>
            <a:off x="1661675" y="4114213"/>
            <a:ext cx="18093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61" name="Google Shape;761;p19"/>
          <p:cNvSpPr/>
          <p:nvPr/>
        </p:nvSpPr>
        <p:spPr>
          <a:xfrm>
            <a:off x="1757253" y="3839426"/>
            <a:ext cx="1672200" cy="226500"/>
          </a:xfrm>
          <a:prstGeom prst="rect">
            <a:avLst/>
          </a:prstGeom>
          <a:noFill/>
          <a:ln>
            <a:noFill/>
          </a:ln>
        </p:spPr>
        <p:txBody>
          <a:bodyPr anchorCtr="0" anchor="ctr" bIns="15950" lIns="15950" spcFirstLastPara="1" rIns="15950" wrap="square" tIns="15950">
            <a:noAutofit/>
          </a:bodyPr>
          <a:lstStyle/>
          <a:p>
            <a:pPr indent="0" lvl="0" marL="0" marR="0" rtl="0" algn="l">
              <a:spcBef>
                <a:spcPts val="0"/>
              </a:spcBef>
              <a:spcAft>
                <a:spcPts val="0"/>
              </a:spcAft>
              <a:buClr>
                <a:srgbClr val="7A1F10"/>
              </a:buClr>
              <a:buSzPts val="1254"/>
              <a:buFont typeface="Times New Roman"/>
              <a:buNone/>
            </a:pPr>
            <a:r>
              <a:rPr b="1" i="1" lang="en" sz="1254" u="none" cap="none" strike="noStrike">
                <a:solidFill>
                  <a:srgbClr val="7A1F10"/>
                </a:solidFill>
                <a:latin typeface="Calibri"/>
                <a:ea typeface="Calibri"/>
                <a:cs typeface="Calibri"/>
                <a:sym typeface="Calibri"/>
              </a:rPr>
              <a:t>Top-10% Jaccard</a:t>
            </a:r>
            <a:endParaRPr i="0" sz="1254" u="none" cap="none" strike="noStrike">
              <a:solidFill>
                <a:schemeClr val="dk1"/>
              </a:solidFill>
              <a:latin typeface="Calibri"/>
              <a:ea typeface="Calibri"/>
              <a:cs typeface="Calibri"/>
              <a:sym typeface="Calibri"/>
            </a:endParaRPr>
          </a:p>
        </p:txBody>
      </p:sp>
      <p:sp>
        <p:nvSpPr>
          <p:cNvPr id="762" name="Google Shape;762;p19"/>
          <p:cNvSpPr/>
          <p:nvPr/>
        </p:nvSpPr>
        <p:spPr>
          <a:xfrm>
            <a:off x="3470940" y="4114213"/>
            <a:ext cx="9270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63" name="Google Shape;763;p19"/>
          <p:cNvSpPr/>
          <p:nvPr/>
        </p:nvSpPr>
        <p:spPr>
          <a:xfrm>
            <a:off x="3518729" y="3839426"/>
            <a:ext cx="783600" cy="226500"/>
          </a:xfrm>
          <a:prstGeom prst="rect">
            <a:avLst/>
          </a:prstGeom>
          <a:noFill/>
          <a:ln>
            <a:noFill/>
          </a:ln>
        </p:spPr>
        <p:txBody>
          <a:bodyPr anchorCtr="0" anchor="ctr" bIns="15950" lIns="15950" spcFirstLastPara="1" rIns="15950" wrap="square" tIns="15950">
            <a:noAutofit/>
          </a:bodyPr>
          <a:lstStyle/>
          <a:p>
            <a:pPr indent="0" lvl="0" marL="0" marR="0" rtl="0" algn="r">
              <a:spcBef>
                <a:spcPts val="0"/>
              </a:spcBef>
              <a:spcAft>
                <a:spcPts val="0"/>
              </a:spcAft>
              <a:buClr>
                <a:srgbClr val="7A1F10"/>
              </a:buClr>
              <a:buSzPts val="1254"/>
              <a:buFont typeface="IBM Plex Mono"/>
              <a:buNone/>
            </a:pPr>
            <a:r>
              <a:rPr b="1" i="0" lang="en" sz="1254" u="none" cap="none" strike="noStrike">
                <a:solidFill>
                  <a:srgbClr val="7A1F10"/>
                </a:solidFill>
                <a:latin typeface="Calibri"/>
                <a:ea typeface="Calibri"/>
                <a:cs typeface="Calibri"/>
                <a:sym typeface="Calibri"/>
              </a:rPr>
              <a:t>0.047</a:t>
            </a:r>
            <a:endParaRPr i="0" sz="1254" u="none" cap="none" strike="noStrike">
              <a:solidFill>
                <a:schemeClr val="dk1"/>
              </a:solidFill>
              <a:latin typeface="Calibri"/>
              <a:ea typeface="Calibri"/>
              <a:cs typeface="Calibri"/>
              <a:sym typeface="Calibri"/>
            </a:endParaRPr>
          </a:p>
        </p:txBody>
      </p:sp>
      <p:sp>
        <p:nvSpPr>
          <p:cNvPr id="764" name="Google Shape;764;p19"/>
          <p:cNvSpPr/>
          <p:nvPr/>
        </p:nvSpPr>
        <p:spPr>
          <a:xfrm>
            <a:off x="4397601" y="4114213"/>
            <a:ext cx="12357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65" name="Google Shape;765;p19"/>
          <p:cNvSpPr/>
          <p:nvPr/>
        </p:nvSpPr>
        <p:spPr>
          <a:xfrm>
            <a:off x="4445390" y="3839426"/>
            <a:ext cx="1092300" cy="226500"/>
          </a:xfrm>
          <a:prstGeom prst="rect">
            <a:avLst/>
          </a:prstGeom>
          <a:noFill/>
          <a:ln>
            <a:noFill/>
          </a:ln>
        </p:spPr>
        <p:txBody>
          <a:bodyPr anchorCtr="0" anchor="ctr" bIns="15950" lIns="15950" spcFirstLastPara="1" rIns="15950" wrap="square" tIns="15950">
            <a:noAutofit/>
          </a:bodyPr>
          <a:lstStyle/>
          <a:p>
            <a:pPr indent="0" lvl="0" marL="0" marR="0" rtl="0" algn="r">
              <a:spcBef>
                <a:spcPts val="0"/>
              </a:spcBef>
              <a:spcAft>
                <a:spcPts val="0"/>
              </a:spcAft>
              <a:buClr>
                <a:srgbClr val="7A1F10"/>
              </a:buClr>
              <a:buSzPts val="1254"/>
              <a:buFont typeface="IBM Plex Mono"/>
              <a:buNone/>
            </a:pPr>
            <a:r>
              <a:rPr b="1" i="0" lang="en" sz="1254" u="none" cap="none" strike="noStrike">
                <a:solidFill>
                  <a:srgbClr val="7A1F10"/>
                </a:solidFill>
                <a:latin typeface="Calibri"/>
                <a:ea typeface="Calibri"/>
                <a:cs typeface="Calibri"/>
                <a:sym typeface="Calibri"/>
              </a:rPr>
              <a:t>0.039</a:t>
            </a:r>
            <a:endParaRPr i="0" sz="1254" u="none" cap="none" strike="noStrike">
              <a:solidFill>
                <a:schemeClr val="dk1"/>
              </a:solidFill>
              <a:latin typeface="Calibri"/>
              <a:ea typeface="Calibri"/>
              <a:cs typeface="Calibri"/>
              <a:sym typeface="Calibri"/>
            </a:endParaRPr>
          </a:p>
        </p:txBody>
      </p:sp>
      <p:sp>
        <p:nvSpPr>
          <p:cNvPr id="766" name="Google Shape;766;p19"/>
          <p:cNvSpPr/>
          <p:nvPr/>
        </p:nvSpPr>
        <p:spPr>
          <a:xfrm>
            <a:off x="5633304" y="4114213"/>
            <a:ext cx="927000" cy="6000"/>
          </a:xfrm>
          <a:prstGeom prst="rect">
            <a:avLst/>
          </a:prstGeom>
          <a:solidFill>
            <a:srgbClr val="D6C79E"/>
          </a:solidFill>
          <a:ln>
            <a:noFill/>
          </a:ln>
        </p:spPr>
        <p:txBody>
          <a:bodyPr anchorCtr="0" anchor="ctr" bIns="57325" lIns="57325" spcFirstLastPara="1" rIns="57325" wrap="square" tIns="573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67" name="Google Shape;767;p19"/>
          <p:cNvSpPr/>
          <p:nvPr/>
        </p:nvSpPr>
        <p:spPr>
          <a:xfrm>
            <a:off x="5681093" y="3839426"/>
            <a:ext cx="783600" cy="226500"/>
          </a:xfrm>
          <a:prstGeom prst="rect">
            <a:avLst/>
          </a:prstGeom>
          <a:noFill/>
          <a:ln>
            <a:noFill/>
          </a:ln>
        </p:spPr>
        <p:txBody>
          <a:bodyPr anchorCtr="0" anchor="ctr" bIns="15950" lIns="15950" spcFirstLastPara="1" rIns="15950" wrap="square" tIns="15950">
            <a:noAutofit/>
          </a:bodyPr>
          <a:lstStyle/>
          <a:p>
            <a:pPr indent="0" lvl="0" marL="0" marR="0" rtl="0" algn="r">
              <a:spcBef>
                <a:spcPts val="0"/>
              </a:spcBef>
              <a:spcAft>
                <a:spcPts val="0"/>
              </a:spcAft>
              <a:buClr>
                <a:srgbClr val="7A1F10"/>
              </a:buClr>
              <a:buSzPts val="1254"/>
              <a:buFont typeface="IBM Plex Mono"/>
              <a:buNone/>
            </a:pPr>
            <a:r>
              <a:rPr b="1" i="0" lang="en" sz="1254" u="none" cap="none" strike="noStrike">
                <a:solidFill>
                  <a:srgbClr val="7A1F10"/>
                </a:solidFill>
                <a:latin typeface="Calibri"/>
                <a:ea typeface="Calibri"/>
                <a:cs typeface="Calibri"/>
                <a:sym typeface="Calibri"/>
              </a:rPr>
              <a:t>0.046</a:t>
            </a:r>
            <a:endParaRPr i="0" sz="1254" u="none" cap="none" strike="noStrike">
              <a:solidFill>
                <a:schemeClr val="dk1"/>
              </a:solidFill>
              <a:latin typeface="Calibri"/>
              <a:ea typeface="Calibri"/>
              <a:cs typeface="Calibri"/>
              <a:sym typeface="Calibri"/>
            </a:endParaRPr>
          </a:p>
        </p:txBody>
      </p:sp>
      <p:sp>
        <p:nvSpPr>
          <p:cNvPr id="768" name="Google Shape;768;p19"/>
          <p:cNvSpPr/>
          <p:nvPr/>
        </p:nvSpPr>
        <p:spPr>
          <a:xfrm>
            <a:off x="1757253" y="4191870"/>
            <a:ext cx="1672200" cy="226500"/>
          </a:xfrm>
          <a:prstGeom prst="rect">
            <a:avLst/>
          </a:prstGeom>
          <a:noFill/>
          <a:ln>
            <a:noFill/>
          </a:ln>
        </p:spPr>
        <p:txBody>
          <a:bodyPr anchorCtr="0" anchor="ctr" bIns="15950" lIns="15950" spcFirstLastPara="1" rIns="15950" wrap="square" tIns="15950">
            <a:noAutofit/>
          </a:bodyPr>
          <a:lstStyle/>
          <a:p>
            <a:pPr indent="0" lvl="0" marL="0" marR="0" rtl="0" algn="l">
              <a:spcBef>
                <a:spcPts val="0"/>
              </a:spcBef>
              <a:spcAft>
                <a:spcPts val="0"/>
              </a:spcAft>
              <a:buClr>
                <a:srgbClr val="8A7A64"/>
              </a:buClr>
              <a:buSzPts val="1254"/>
              <a:buFont typeface="Times New Roman"/>
              <a:buNone/>
            </a:pPr>
            <a:r>
              <a:rPr i="1" lang="en" sz="1254" u="none" cap="none" strike="noStrike">
                <a:solidFill>
                  <a:srgbClr val="8A7A64"/>
                </a:solidFill>
                <a:latin typeface="Calibri"/>
                <a:ea typeface="Calibri"/>
                <a:cs typeface="Calibri"/>
                <a:sym typeface="Calibri"/>
              </a:rPr>
              <a:t>— random reference</a:t>
            </a:r>
            <a:endParaRPr i="0" sz="1254" u="none" cap="none" strike="noStrike">
              <a:solidFill>
                <a:schemeClr val="dk1"/>
              </a:solidFill>
              <a:latin typeface="Calibri"/>
              <a:ea typeface="Calibri"/>
              <a:cs typeface="Calibri"/>
              <a:sym typeface="Calibri"/>
            </a:endParaRPr>
          </a:p>
        </p:txBody>
      </p:sp>
      <p:sp>
        <p:nvSpPr>
          <p:cNvPr id="769" name="Google Shape;769;p19"/>
          <p:cNvSpPr/>
          <p:nvPr/>
        </p:nvSpPr>
        <p:spPr>
          <a:xfrm>
            <a:off x="3566518" y="4191870"/>
            <a:ext cx="2990700" cy="226500"/>
          </a:xfrm>
          <a:prstGeom prst="rect">
            <a:avLst/>
          </a:prstGeom>
          <a:noFill/>
          <a:ln>
            <a:noFill/>
          </a:ln>
        </p:spPr>
        <p:txBody>
          <a:bodyPr anchorCtr="0" anchor="ctr" bIns="15950" lIns="15950" spcFirstLastPara="1" rIns="15950" wrap="square" tIns="15950">
            <a:noAutofit/>
          </a:bodyPr>
          <a:lstStyle/>
          <a:p>
            <a:pPr indent="0" lvl="0" marL="0" marR="0" rtl="0" algn="l">
              <a:spcBef>
                <a:spcPts val="0"/>
              </a:spcBef>
              <a:spcAft>
                <a:spcPts val="0"/>
              </a:spcAft>
              <a:buClr>
                <a:srgbClr val="8A7A64"/>
              </a:buClr>
              <a:buSzPts val="1254"/>
              <a:buFont typeface="IBM Plex Mono"/>
              <a:buNone/>
            </a:pPr>
            <a:r>
              <a:rPr i="1" lang="en" sz="1254" u="none" cap="none" strike="noStrike">
                <a:solidFill>
                  <a:srgbClr val="8A7A64"/>
                </a:solidFill>
                <a:latin typeface="Calibri"/>
                <a:ea typeface="Calibri"/>
                <a:cs typeface="Calibri"/>
                <a:sym typeface="Calibri"/>
              </a:rPr>
              <a:t>0.053</a:t>
            </a:r>
            <a:endParaRPr i="0" sz="1254" u="none" cap="none" strike="noStrike">
              <a:solidFill>
                <a:schemeClr val="dk1"/>
              </a:solidFill>
              <a:latin typeface="Calibri"/>
              <a:ea typeface="Calibri"/>
              <a:cs typeface="Calibri"/>
              <a:sym typeface="Calibri"/>
            </a:endParaRPr>
          </a:p>
        </p:txBody>
      </p:sp>
      <p:sp>
        <p:nvSpPr>
          <p:cNvPr id="770" name="Google Shape;770;p19"/>
          <p:cNvSpPr/>
          <p:nvPr/>
        </p:nvSpPr>
        <p:spPr>
          <a:xfrm>
            <a:off x="476250" y="4743450"/>
            <a:ext cx="13758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i="1" lang="en" sz="900" u="none" cap="none" strike="noStrike">
                <a:solidFill>
                  <a:srgbClr val="8A7A64"/>
                </a:solidFill>
                <a:latin typeface="Calibri"/>
                <a:ea typeface="Calibri"/>
                <a:cs typeface="Calibri"/>
                <a:sym typeface="Calibri"/>
              </a:rPr>
              <a:t>PAPIT · an essay in pruning</a:t>
            </a:r>
            <a:endParaRPr i="0" sz="900" u="none" cap="none" strike="noStrike">
              <a:solidFill>
                <a:schemeClr val="dk1"/>
              </a:solidFill>
              <a:latin typeface="Calibri"/>
              <a:ea typeface="Calibri"/>
              <a:cs typeface="Calibri"/>
              <a:sym typeface="Calibri"/>
            </a:endParaRPr>
          </a:p>
        </p:txBody>
      </p:sp>
      <p:sp>
        <p:nvSpPr>
          <p:cNvPr id="771" name="Google Shape;771;p19"/>
          <p:cNvSpPr/>
          <p:nvPr/>
        </p:nvSpPr>
        <p:spPr>
          <a:xfrm>
            <a:off x="7947645" y="4724400"/>
            <a:ext cx="758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IBM Plex Mono"/>
              <a:buNone/>
            </a:pPr>
            <a:r>
              <a:rPr i="0" lang="en" sz="900" u="none" cap="none" strike="noStrike">
                <a:solidFill>
                  <a:srgbClr val="8A7A64"/>
                </a:solidFill>
                <a:latin typeface="Calibri"/>
                <a:ea typeface="Calibri"/>
                <a:cs typeface="Calibri"/>
                <a:sym typeface="Calibri"/>
              </a:rPr>
              <a:t>05 / 10</a:t>
            </a:r>
            <a:endParaRPr i="0" sz="900" u="none" cap="none" strike="noStrike">
              <a:solidFill>
                <a:schemeClr val="dk1"/>
              </a:solidFill>
              <a:latin typeface="Calibri"/>
              <a:ea typeface="Calibri"/>
              <a:cs typeface="Calibri"/>
              <a:sym typeface="Calibri"/>
            </a:endParaRPr>
          </a:p>
        </p:txBody>
      </p:sp>
      <p:sp>
        <p:nvSpPr>
          <p:cNvPr id="772" name="Google Shape;772;p19"/>
          <p:cNvSpPr/>
          <p:nvPr/>
        </p:nvSpPr>
        <p:spPr>
          <a:xfrm>
            <a:off x="447975" y="824250"/>
            <a:ext cx="5866200" cy="447600"/>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A140C"/>
              </a:buClr>
              <a:buSzPts val="3000"/>
              <a:buFont typeface="Times New Roman"/>
              <a:buNone/>
            </a:pPr>
            <a:r>
              <a:rPr lang="en" sz="3000">
                <a:solidFill>
                  <a:srgbClr val="1A140C"/>
                </a:solidFill>
                <a:latin typeface="Calibri"/>
                <a:ea typeface="Calibri"/>
                <a:cs typeface="Calibri"/>
                <a:sym typeface="Calibri"/>
              </a:rPr>
              <a:t>Why PAPIT-CLIP fails</a:t>
            </a:r>
            <a:endParaRPr i="0" sz="3000" u="none" cap="none" strike="noStrike">
              <a:solidFill>
                <a:schemeClr val="dk1"/>
              </a:solidFill>
              <a:latin typeface="Calibri"/>
              <a:ea typeface="Calibri"/>
              <a:cs typeface="Calibri"/>
              <a:sym typeface="Calibri"/>
            </a:endParaRPr>
          </a:p>
        </p:txBody>
      </p:sp>
      <p:sp>
        <p:nvSpPr>
          <p:cNvPr id="773" name="Google Shape;773;p19"/>
          <p:cNvSpPr/>
          <p:nvPr/>
        </p:nvSpPr>
        <p:spPr>
          <a:xfrm>
            <a:off x="476250" y="4643438"/>
            <a:ext cx="8191500" cy="4800"/>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8" name="Shape 778"/>
        <p:cNvGrpSpPr/>
        <p:nvPr/>
      </p:nvGrpSpPr>
      <p:grpSpPr>
        <a:xfrm>
          <a:off x="0" y="0"/>
          <a:ext cx="0" cy="0"/>
          <a:chOff x="0" y="0"/>
          <a:chExt cx="0" cy="0"/>
        </a:xfrm>
      </p:grpSpPr>
      <p:sp>
        <p:nvSpPr>
          <p:cNvPr id="779" name="Google Shape;779;p20"/>
          <p:cNvSpPr/>
          <p:nvPr/>
        </p:nvSpPr>
        <p:spPr>
          <a:xfrm>
            <a:off x="476250" y="485775"/>
            <a:ext cx="8191500" cy="4763"/>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80" name="Google Shape;780;p20"/>
          <p:cNvSpPr/>
          <p:nvPr/>
        </p:nvSpPr>
        <p:spPr>
          <a:xfrm>
            <a:off x="476250" y="276225"/>
            <a:ext cx="1688700" cy="157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lang="en" sz="1200">
                <a:solidFill>
                  <a:srgbClr val="8A7A64"/>
                </a:solidFill>
                <a:latin typeface="Calibri"/>
                <a:ea typeface="Calibri"/>
                <a:cs typeface="Calibri"/>
                <a:sym typeface="Calibri"/>
              </a:rPr>
              <a:t>Solving the Problem</a:t>
            </a:r>
            <a:endParaRPr i="0" sz="1200" u="none" cap="none" strike="noStrike">
              <a:solidFill>
                <a:schemeClr val="dk1"/>
              </a:solidFill>
              <a:latin typeface="Calibri"/>
              <a:ea typeface="Calibri"/>
              <a:cs typeface="Calibri"/>
              <a:sym typeface="Calibri"/>
            </a:endParaRPr>
          </a:p>
        </p:txBody>
      </p:sp>
      <p:sp>
        <p:nvSpPr>
          <p:cNvPr id="781" name="Google Shape;781;p20"/>
          <p:cNvSpPr/>
          <p:nvPr/>
        </p:nvSpPr>
        <p:spPr>
          <a:xfrm>
            <a:off x="476250" y="1304850"/>
            <a:ext cx="4223400" cy="969900"/>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A140C"/>
              </a:buClr>
              <a:buSzPts val="2400"/>
              <a:buFont typeface="Times New Roman"/>
              <a:buNone/>
            </a:pPr>
            <a:r>
              <a:rPr i="0" lang="en" sz="2400" u="none" cap="none" strike="noStrike">
                <a:solidFill>
                  <a:srgbClr val="1A140C"/>
                </a:solidFill>
                <a:latin typeface="Calibri"/>
                <a:ea typeface="Calibri"/>
                <a:cs typeface="Calibri"/>
                <a:sym typeface="Calibri"/>
              </a:rPr>
              <a:t>The signal lives </a:t>
            </a:r>
            <a:r>
              <a:rPr i="1" lang="en" sz="2400" u="none" cap="none" strike="noStrike">
                <a:solidFill>
                  <a:srgbClr val="7A1F10"/>
                </a:solidFill>
                <a:latin typeface="Calibri"/>
                <a:ea typeface="Calibri"/>
                <a:cs typeface="Calibri"/>
                <a:sym typeface="Calibri"/>
              </a:rPr>
              <a:t>inside </a:t>
            </a:r>
            <a:r>
              <a:rPr i="0" lang="en" sz="2400" u="none" cap="none" strike="noStrike">
                <a:solidFill>
                  <a:srgbClr val="1A140C"/>
                </a:solidFill>
                <a:latin typeface="Calibri"/>
                <a:ea typeface="Calibri"/>
                <a:cs typeface="Calibri"/>
                <a:sym typeface="Calibri"/>
              </a:rPr>
              <a:t>the LLM — and only after a few layers.</a:t>
            </a:r>
            <a:endParaRPr i="0" sz="2400" u="none" cap="none" strike="noStrike">
              <a:solidFill>
                <a:schemeClr val="dk1"/>
              </a:solidFill>
              <a:latin typeface="Calibri"/>
              <a:ea typeface="Calibri"/>
              <a:cs typeface="Calibri"/>
              <a:sym typeface="Calibri"/>
            </a:endParaRPr>
          </a:p>
        </p:txBody>
      </p:sp>
      <p:sp>
        <p:nvSpPr>
          <p:cNvPr id="782" name="Google Shape;782;p20"/>
          <p:cNvSpPr/>
          <p:nvPr/>
        </p:nvSpPr>
        <p:spPr>
          <a:xfrm>
            <a:off x="476250" y="2171602"/>
            <a:ext cx="4223400" cy="66210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1A140C"/>
              </a:buClr>
              <a:buSzPts val="1100"/>
              <a:buFont typeface="Times New Roman"/>
              <a:buNone/>
            </a:pPr>
            <a:r>
              <a:rPr i="0" lang="en" sz="1100" u="none" cap="none" strike="noStrike">
                <a:solidFill>
                  <a:srgbClr val="1A140C"/>
                </a:solidFill>
                <a:latin typeface="Calibri"/>
                <a:ea typeface="Calibri"/>
                <a:cs typeface="Calibri"/>
                <a:sym typeface="Calibri"/>
              </a:rPr>
              <a:t>A two-pass oracle reads the LLM's own attention at layer L, prunes, and regenerates. </a:t>
            </a:r>
            <a:r>
              <a:rPr i="1" lang="en" sz="1100" u="none" cap="none" strike="noStrike">
                <a:solidFill>
                  <a:srgbClr val="7A1F10"/>
                </a:solidFill>
                <a:latin typeface="Calibri"/>
                <a:ea typeface="Calibri"/>
                <a:cs typeface="Calibri"/>
                <a:sym typeface="Calibri"/>
              </a:rPr>
              <a:t>Mid-layer attention </a:t>
            </a:r>
            <a:r>
              <a:rPr i="0" lang="en" sz="1100" u="none" cap="none" strike="noStrike">
                <a:solidFill>
                  <a:srgbClr val="1A140C"/>
                </a:solidFill>
                <a:latin typeface="Calibri"/>
                <a:ea typeface="Calibri"/>
                <a:cs typeface="Calibri"/>
                <a:sym typeface="Calibri"/>
              </a:rPr>
              <a:t>(L ∈ [8, 24]) consistently beats random.</a:t>
            </a:r>
            <a:endParaRPr i="0" sz="1100" u="none" cap="none" strike="noStrike">
              <a:solidFill>
                <a:schemeClr val="dk1"/>
              </a:solidFill>
              <a:latin typeface="Calibri"/>
              <a:ea typeface="Calibri"/>
              <a:cs typeface="Calibri"/>
              <a:sym typeface="Calibri"/>
            </a:endParaRPr>
          </a:p>
        </p:txBody>
      </p:sp>
      <p:sp>
        <p:nvSpPr>
          <p:cNvPr id="783" name="Google Shape;783;p20"/>
          <p:cNvSpPr/>
          <p:nvPr/>
        </p:nvSpPr>
        <p:spPr>
          <a:xfrm>
            <a:off x="4752525" y="1348125"/>
            <a:ext cx="4175700" cy="171600"/>
          </a:xfrm>
          <a:prstGeom prst="rect">
            <a:avLst/>
          </a:prstGeom>
          <a:noFill/>
          <a:ln>
            <a:noFill/>
          </a:ln>
        </p:spPr>
        <p:txBody>
          <a:bodyPr anchorCtr="0" anchor="t" bIns="13875" lIns="13875" spcFirstLastPara="1" rIns="13875" wrap="square" tIns="13875">
            <a:noAutofit/>
          </a:bodyPr>
          <a:lstStyle/>
          <a:p>
            <a:pPr indent="0" lvl="0" marL="0" marR="0" rtl="0" algn="l">
              <a:spcBef>
                <a:spcPts val="0"/>
              </a:spcBef>
              <a:spcAft>
                <a:spcPts val="0"/>
              </a:spcAft>
              <a:buClr>
                <a:srgbClr val="7A1F10"/>
              </a:buClr>
              <a:buSzPts val="874"/>
              <a:buFont typeface="IBM Plex Mono"/>
              <a:buNone/>
            </a:pPr>
            <a:r>
              <a:rPr i="0" lang="en" sz="874" u="none" cap="none" strike="noStrike">
                <a:solidFill>
                  <a:srgbClr val="7A1F10"/>
                </a:solidFill>
                <a:latin typeface="Calibri"/>
                <a:ea typeface="Calibri"/>
                <a:cs typeface="Calibri"/>
                <a:sym typeface="Calibri"/>
              </a:rPr>
              <a:t>Tab. ii </a:t>
            </a:r>
            <a:r>
              <a:rPr i="1" lang="en" sz="983" u="none" cap="none" strike="noStrike">
                <a:solidFill>
                  <a:srgbClr val="8A7A64"/>
                </a:solidFill>
                <a:latin typeface="Calibri"/>
                <a:ea typeface="Calibri"/>
                <a:cs typeface="Calibri"/>
                <a:sym typeface="Calibri"/>
              </a:rPr>
              <a:t>Two-pass oracle on GQA (exact match, n = 100).</a:t>
            </a:r>
            <a:endParaRPr i="0" sz="983" u="none" cap="none" strike="noStrike">
              <a:solidFill>
                <a:schemeClr val="dk1"/>
              </a:solidFill>
              <a:latin typeface="Calibri"/>
              <a:ea typeface="Calibri"/>
              <a:cs typeface="Calibri"/>
              <a:sym typeface="Calibri"/>
            </a:endParaRPr>
          </a:p>
        </p:txBody>
      </p:sp>
      <p:sp>
        <p:nvSpPr>
          <p:cNvPr id="784" name="Google Shape;784;p20"/>
          <p:cNvSpPr/>
          <p:nvPr/>
        </p:nvSpPr>
        <p:spPr>
          <a:xfrm>
            <a:off x="4752525" y="1824304"/>
            <a:ext cx="1472100" cy="5100"/>
          </a:xfrm>
          <a:prstGeom prst="rect">
            <a:avLst/>
          </a:prstGeom>
          <a:solidFill>
            <a:srgbClr val="4A3A28"/>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785" name="Google Shape;785;p20"/>
          <p:cNvSpPr/>
          <p:nvPr/>
        </p:nvSpPr>
        <p:spPr>
          <a:xfrm>
            <a:off x="4835791" y="1623944"/>
            <a:ext cx="1349700" cy="158700"/>
          </a:xfrm>
          <a:prstGeom prst="rect">
            <a:avLst/>
          </a:prstGeom>
          <a:noFill/>
          <a:ln>
            <a:noFill/>
          </a:ln>
        </p:spPr>
        <p:txBody>
          <a:bodyPr anchorCtr="0" anchor="ctr" bIns="13875" lIns="13875" spcFirstLastPara="1" rIns="13875" wrap="square" tIns="13875">
            <a:noAutofit/>
          </a:bodyPr>
          <a:lstStyle/>
          <a:p>
            <a:pPr indent="0" lvl="0" marL="0" marR="0" rtl="0" algn="l">
              <a:spcBef>
                <a:spcPts val="0"/>
              </a:spcBef>
              <a:spcAft>
                <a:spcPts val="0"/>
              </a:spcAft>
              <a:buClr>
                <a:srgbClr val="8A7A64"/>
              </a:buClr>
              <a:buSzPts val="983"/>
              <a:buFont typeface="Times New Roman"/>
              <a:buNone/>
            </a:pPr>
            <a:r>
              <a:rPr b="1" i="0" lang="en" sz="983" u="none" cap="none" strike="noStrike">
                <a:solidFill>
                  <a:srgbClr val="8A7A64"/>
                </a:solidFill>
                <a:latin typeface="Calibri"/>
                <a:ea typeface="Calibri"/>
                <a:cs typeface="Calibri"/>
                <a:sym typeface="Calibri"/>
              </a:rPr>
              <a:t>SELECTOR</a:t>
            </a:r>
            <a:endParaRPr i="0" sz="983" u="none" cap="none" strike="noStrike">
              <a:solidFill>
                <a:schemeClr val="dk1"/>
              </a:solidFill>
              <a:latin typeface="Calibri"/>
              <a:ea typeface="Calibri"/>
              <a:cs typeface="Calibri"/>
              <a:sym typeface="Calibri"/>
            </a:endParaRPr>
          </a:p>
        </p:txBody>
      </p:sp>
      <p:sp>
        <p:nvSpPr>
          <p:cNvPr id="786" name="Google Shape;786;p20"/>
          <p:cNvSpPr/>
          <p:nvPr/>
        </p:nvSpPr>
        <p:spPr>
          <a:xfrm>
            <a:off x="6224558" y="1824304"/>
            <a:ext cx="860700" cy="5100"/>
          </a:xfrm>
          <a:prstGeom prst="rect">
            <a:avLst/>
          </a:prstGeom>
          <a:solidFill>
            <a:srgbClr val="4A3A28"/>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787" name="Google Shape;787;p20"/>
          <p:cNvSpPr/>
          <p:nvPr/>
        </p:nvSpPr>
        <p:spPr>
          <a:xfrm>
            <a:off x="6266191" y="1623944"/>
            <a:ext cx="735900" cy="158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8A7A64"/>
              </a:buClr>
              <a:buSzPts val="983"/>
              <a:buFont typeface="Times New Roman"/>
              <a:buNone/>
            </a:pPr>
            <a:r>
              <a:rPr b="1" i="0" lang="en" sz="983" u="none" cap="none" strike="noStrike">
                <a:solidFill>
                  <a:srgbClr val="8A7A64"/>
                </a:solidFill>
                <a:latin typeface="Calibri"/>
                <a:ea typeface="Calibri"/>
                <a:cs typeface="Calibri"/>
                <a:sym typeface="Calibri"/>
              </a:rPr>
              <a:t>K=25%</a:t>
            </a:r>
            <a:endParaRPr i="0" sz="983" u="none" cap="none" strike="noStrike">
              <a:solidFill>
                <a:schemeClr val="dk1"/>
              </a:solidFill>
              <a:latin typeface="Calibri"/>
              <a:ea typeface="Calibri"/>
              <a:cs typeface="Calibri"/>
              <a:sym typeface="Calibri"/>
            </a:endParaRPr>
          </a:p>
        </p:txBody>
      </p:sp>
      <p:sp>
        <p:nvSpPr>
          <p:cNvPr id="788" name="Google Shape;788;p20"/>
          <p:cNvSpPr/>
          <p:nvPr/>
        </p:nvSpPr>
        <p:spPr>
          <a:xfrm>
            <a:off x="7085188" y="1824304"/>
            <a:ext cx="860700" cy="5100"/>
          </a:xfrm>
          <a:prstGeom prst="rect">
            <a:avLst/>
          </a:prstGeom>
          <a:solidFill>
            <a:srgbClr val="4A3A28"/>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789" name="Google Shape;789;p20"/>
          <p:cNvSpPr/>
          <p:nvPr/>
        </p:nvSpPr>
        <p:spPr>
          <a:xfrm>
            <a:off x="7126821" y="1623944"/>
            <a:ext cx="735900" cy="158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8A7A64"/>
              </a:buClr>
              <a:buSzPts val="983"/>
              <a:buFont typeface="Times New Roman"/>
              <a:buNone/>
            </a:pPr>
            <a:r>
              <a:rPr b="1" i="0" lang="en" sz="983" u="none" cap="none" strike="noStrike">
                <a:solidFill>
                  <a:srgbClr val="8A7A64"/>
                </a:solidFill>
                <a:latin typeface="Calibri"/>
                <a:ea typeface="Calibri"/>
                <a:cs typeface="Calibri"/>
                <a:sym typeface="Calibri"/>
              </a:rPr>
              <a:t>K=50%</a:t>
            </a:r>
            <a:endParaRPr i="0" sz="983" u="none" cap="none" strike="noStrike">
              <a:solidFill>
                <a:schemeClr val="dk1"/>
              </a:solidFill>
              <a:latin typeface="Calibri"/>
              <a:ea typeface="Calibri"/>
              <a:cs typeface="Calibri"/>
              <a:sym typeface="Calibri"/>
            </a:endParaRPr>
          </a:p>
        </p:txBody>
      </p:sp>
      <p:sp>
        <p:nvSpPr>
          <p:cNvPr id="790" name="Google Shape;790;p20"/>
          <p:cNvSpPr/>
          <p:nvPr/>
        </p:nvSpPr>
        <p:spPr>
          <a:xfrm>
            <a:off x="7945818" y="1824304"/>
            <a:ext cx="860700" cy="5100"/>
          </a:xfrm>
          <a:prstGeom prst="rect">
            <a:avLst/>
          </a:prstGeom>
          <a:solidFill>
            <a:srgbClr val="4A3A28"/>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791" name="Google Shape;791;p20"/>
          <p:cNvSpPr/>
          <p:nvPr/>
        </p:nvSpPr>
        <p:spPr>
          <a:xfrm>
            <a:off x="7987451" y="1623944"/>
            <a:ext cx="735900" cy="158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8A7A64"/>
              </a:buClr>
              <a:buSzPts val="983"/>
              <a:buFont typeface="Times New Roman"/>
              <a:buNone/>
            </a:pPr>
            <a:r>
              <a:rPr b="1" i="0" lang="en" sz="983" u="none" cap="none" strike="noStrike">
                <a:solidFill>
                  <a:srgbClr val="8A7A64"/>
                </a:solidFill>
                <a:latin typeface="Calibri"/>
                <a:ea typeface="Calibri"/>
                <a:cs typeface="Calibri"/>
                <a:sym typeface="Calibri"/>
              </a:rPr>
              <a:t>K=75%</a:t>
            </a:r>
            <a:endParaRPr i="0" sz="983" u="none" cap="none" strike="noStrike">
              <a:solidFill>
                <a:schemeClr val="dk1"/>
              </a:solidFill>
              <a:latin typeface="Calibri"/>
              <a:ea typeface="Calibri"/>
              <a:cs typeface="Calibri"/>
              <a:sym typeface="Calibri"/>
            </a:endParaRPr>
          </a:p>
        </p:txBody>
      </p:sp>
      <p:sp>
        <p:nvSpPr>
          <p:cNvPr id="792" name="Google Shape;792;p20"/>
          <p:cNvSpPr/>
          <p:nvPr/>
        </p:nvSpPr>
        <p:spPr>
          <a:xfrm>
            <a:off x="4752525" y="2131348"/>
            <a:ext cx="14721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793" name="Google Shape;793;p20"/>
          <p:cNvSpPr/>
          <p:nvPr/>
        </p:nvSpPr>
        <p:spPr>
          <a:xfrm>
            <a:off x="4835791" y="1891957"/>
            <a:ext cx="1349700" cy="197700"/>
          </a:xfrm>
          <a:prstGeom prst="rect">
            <a:avLst/>
          </a:prstGeom>
          <a:noFill/>
          <a:ln>
            <a:noFill/>
          </a:ln>
        </p:spPr>
        <p:txBody>
          <a:bodyPr anchorCtr="0" anchor="ctr" bIns="13875" lIns="13875" spcFirstLastPara="1" rIns="13875" wrap="square" tIns="13875">
            <a:noAutofit/>
          </a:bodyPr>
          <a:lstStyle/>
          <a:p>
            <a:pPr indent="0" lvl="0" marL="0" marR="0" rtl="0" algn="l">
              <a:spcBef>
                <a:spcPts val="0"/>
              </a:spcBef>
              <a:spcAft>
                <a:spcPts val="0"/>
              </a:spcAft>
              <a:buClr>
                <a:srgbClr val="4A3A28"/>
              </a:buClr>
              <a:buSzPts val="1093"/>
              <a:buFont typeface="Times New Roman"/>
              <a:buNone/>
            </a:pPr>
            <a:r>
              <a:rPr i="1" lang="en" sz="1093" u="none" cap="none" strike="noStrike">
                <a:solidFill>
                  <a:srgbClr val="4A3A28"/>
                </a:solidFill>
                <a:latin typeface="Calibri"/>
                <a:ea typeface="Calibri"/>
                <a:cs typeface="Calibri"/>
                <a:sym typeface="Calibri"/>
              </a:rPr>
              <a:t>Unpruned (</a:t>
            </a:r>
            <a:r>
              <a:rPr i="1" lang="en" sz="1093">
                <a:solidFill>
                  <a:srgbClr val="4A3A28"/>
                </a:solidFill>
                <a:latin typeface="Calibri"/>
                <a:ea typeface="Calibri"/>
                <a:cs typeface="Calibri"/>
                <a:sym typeface="Calibri"/>
              </a:rPr>
              <a:t>K = 100%)</a:t>
            </a:r>
            <a:endParaRPr i="0" sz="1093" u="none" cap="none" strike="noStrike">
              <a:solidFill>
                <a:schemeClr val="dk1"/>
              </a:solidFill>
              <a:latin typeface="Calibri"/>
              <a:ea typeface="Calibri"/>
              <a:cs typeface="Calibri"/>
              <a:sym typeface="Calibri"/>
            </a:endParaRPr>
          </a:p>
        </p:txBody>
      </p:sp>
      <p:sp>
        <p:nvSpPr>
          <p:cNvPr id="794" name="Google Shape;794;p20"/>
          <p:cNvSpPr/>
          <p:nvPr/>
        </p:nvSpPr>
        <p:spPr>
          <a:xfrm>
            <a:off x="6224558" y="2131348"/>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795" name="Google Shape;795;p20"/>
          <p:cNvSpPr/>
          <p:nvPr/>
        </p:nvSpPr>
        <p:spPr>
          <a:xfrm>
            <a:off x="6266191" y="1891957"/>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8A7A64"/>
              </a:buClr>
              <a:buSzPts val="1093"/>
              <a:buFont typeface="IBM Plex Mono"/>
              <a:buNone/>
            </a:pPr>
            <a:r>
              <a:rPr i="1" lang="en" sz="1093" u="none" cap="none" strike="noStrike">
                <a:solidFill>
                  <a:srgbClr val="8A7A64"/>
                </a:solidFill>
                <a:latin typeface="Calibri"/>
                <a:ea typeface="Calibri"/>
                <a:cs typeface="Calibri"/>
                <a:sym typeface="Calibri"/>
              </a:rPr>
              <a:t>0.58</a:t>
            </a:r>
            <a:endParaRPr i="0" sz="1093" u="none" cap="none" strike="noStrike">
              <a:solidFill>
                <a:schemeClr val="dk1"/>
              </a:solidFill>
              <a:latin typeface="Calibri"/>
              <a:ea typeface="Calibri"/>
              <a:cs typeface="Calibri"/>
              <a:sym typeface="Calibri"/>
            </a:endParaRPr>
          </a:p>
        </p:txBody>
      </p:sp>
      <p:sp>
        <p:nvSpPr>
          <p:cNvPr id="796" name="Google Shape;796;p20"/>
          <p:cNvSpPr/>
          <p:nvPr/>
        </p:nvSpPr>
        <p:spPr>
          <a:xfrm>
            <a:off x="7085188" y="2131348"/>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797" name="Google Shape;797;p20"/>
          <p:cNvSpPr/>
          <p:nvPr/>
        </p:nvSpPr>
        <p:spPr>
          <a:xfrm>
            <a:off x="7126821" y="1891957"/>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8A7A64"/>
              </a:buClr>
              <a:buSzPts val="1093"/>
              <a:buFont typeface="IBM Plex Mono"/>
              <a:buNone/>
            </a:pPr>
            <a:r>
              <a:rPr i="1" lang="en" sz="1093" u="none" cap="none" strike="noStrike">
                <a:solidFill>
                  <a:srgbClr val="8A7A64"/>
                </a:solidFill>
                <a:latin typeface="Calibri"/>
                <a:ea typeface="Calibri"/>
                <a:cs typeface="Calibri"/>
                <a:sym typeface="Calibri"/>
              </a:rPr>
              <a:t>0.58</a:t>
            </a:r>
            <a:endParaRPr i="0" sz="1093" u="none" cap="none" strike="noStrike">
              <a:solidFill>
                <a:schemeClr val="dk1"/>
              </a:solidFill>
              <a:latin typeface="Calibri"/>
              <a:ea typeface="Calibri"/>
              <a:cs typeface="Calibri"/>
              <a:sym typeface="Calibri"/>
            </a:endParaRPr>
          </a:p>
        </p:txBody>
      </p:sp>
      <p:sp>
        <p:nvSpPr>
          <p:cNvPr id="798" name="Google Shape;798;p20"/>
          <p:cNvSpPr/>
          <p:nvPr/>
        </p:nvSpPr>
        <p:spPr>
          <a:xfrm>
            <a:off x="7945818" y="2131348"/>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799" name="Google Shape;799;p20"/>
          <p:cNvSpPr/>
          <p:nvPr/>
        </p:nvSpPr>
        <p:spPr>
          <a:xfrm>
            <a:off x="7987451" y="1891957"/>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8A7A64"/>
              </a:buClr>
              <a:buSzPts val="1093"/>
              <a:buFont typeface="IBM Plex Mono"/>
              <a:buNone/>
            </a:pPr>
            <a:r>
              <a:rPr i="1" lang="en" sz="1093" u="none" cap="none" strike="noStrike">
                <a:solidFill>
                  <a:srgbClr val="8A7A64"/>
                </a:solidFill>
                <a:latin typeface="Calibri"/>
                <a:ea typeface="Calibri"/>
                <a:cs typeface="Calibri"/>
                <a:sym typeface="Calibri"/>
              </a:rPr>
              <a:t>0.58</a:t>
            </a:r>
            <a:endParaRPr i="0" sz="1093" u="none" cap="none" strike="noStrike">
              <a:solidFill>
                <a:schemeClr val="dk1"/>
              </a:solidFill>
              <a:latin typeface="Calibri"/>
              <a:ea typeface="Calibri"/>
              <a:cs typeface="Calibri"/>
              <a:sym typeface="Calibri"/>
            </a:endParaRPr>
          </a:p>
        </p:txBody>
      </p:sp>
      <p:sp>
        <p:nvSpPr>
          <p:cNvPr id="800" name="Google Shape;800;p20"/>
          <p:cNvSpPr/>
          <p:nvPr/>
        </p:nvSpPr>
        <p:spPr>
          <a:xfrm>
            <a:off x="4752525" y="2438392"/>
            <a:ext cx="14721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01" name="Google Shape;801;p20"/>
          <p:cNvSpPr/>
          <p:nvPr/>
        </p:nvSpPr>
        <p:spPr>
          <a:xfrm>
            <a:off x="4835791" y="2199002"/>
            <a:ext cx="1349700" cy="197700"/>
          </a:xfrm>
          <a:prstGeom prst="rect">
            <a:avLst/>
          </a:prstGeom>
          <a:noFill/>
          <a:ln>
            <a:noFill/>
          </a:ln>
        </p:spPr>
        <p:txBody>
          <a:bodyPr anchorCtr="0" anchor="ctr" bIns="13875" lIns="13875" spcFirstLastPara="1" rIns="13875" wrap="square" tIns="13875">
            <a:noAutofit/>
          </a:bodyPr>
          <a:lstStyle/>
          <a:p>
            <a:pPr indent="0" lvl="0" marL="0" marR="0" rtl="0" algn="l">
              <a:spcBef>
                <a:spcPts val="0"/>
              </a:spcBef>
              <a:spcAft>
                <a:spcPts val="0"/>
              </a:spcAft>
              <a:buClr>
                <a:srgbClr val="1A140C"/>
              </a:buClr>
              <a:buSzPts val="1093"/>
              <a:buFont typeface="Times New Roman"/>
              <a:buNone/>
            </a:pPr>
            <a:r>
              <a:rPr i="1" lang="en" sz="1093" u="none" cap="none" strike="noStrike">
                <a:solidFill>
                  <a:srgbClr val="1A140C"/>
                </a:solidFill>
                <a:latin typeface="Calibri"/>
                <a:ea typeface="Calibri"/>
                <a:cs typeface="Calibri"/>
                <a:sym typeface="Calibri"/>
              </a:rPr>
              <a:t>Random</a:t>
            </a:r>
            <a:endParaRPr i="0" sz="1093" u="none" cap="none" strike="noStrike">
              <a:solidFill>
                <a:schemeClr val="dk1"/>
              </a:solidFill>
              <a:latin typeface="Calibri"/>
              <a:ea typeface="Calibri"/>
              <a:cs typeface="Calibri"/>
              <a:sym typeface="Calibri"/>
            </a:endParaRPr>
          </a:p>
        </p:txBody>
      </p:sp>
      <p:sp>
        <p:nvSpPr>
          <p:cNvPr id="802" name="Google Shape;802;p20"/>
          <p:cNvSpPr/>
          <p:nvPr/>
        </p:nvSpPr>
        <p:spPr>
          <a:xfrm>
            <a:off x="6224558" y="2438392"/>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03" name="Google Shape;803;p20"/>
          <p:cNvSpPr/>
          <p:nvPr/>
        </p:nvSpPr>
        <p:spPr>
          <a:xfrm>
            <a:off x="6266191" y="2199002"/>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1A140C"/>
              </a:buClr>
              <a:buSzPts val="1093"/>
              <a:buFont typeface="IBM Plex Mono"/>
              <a:buNone/>
            </a:pPr>
            <a:r>
              <a:rPr i="0" lang="en" sz="1093" u="none" cap="none" strike="noStrike">
                <a:solidFill>
                  <a:srgbClr val="1A140C"/>
                </a:solidFill>
                <a:latin typeface="Calibri"/>
                <a:ea typeface="Calibri"/>
                <a:cs typeface="Calibri"/>
                <a:sym typeface="Calibri"/>
              </a:rPr>
              <a:t>0.53</a:t>
            </a:r>
            <a:endParaRPr i="0" sz="1093" u="none" cap="none" strike="noStrike">
              <a:solidFill>
                <a:schemeClr val="dk1"/>
              </a:solidFill>
              <a:latin typeface="Calibri"/>
              <a:ea typeface="Calibri"/>
              <a:cs typeface="Calibri"/>
              <a:sym typeface="Calibri"/>
            </a:endParaRPr>
          </a:p>
        </p:txBody>
      </p:sp>
      <p:sp>
        <p:nvSpPr>
          <p:cNvPr id="804" name="Google Shape;804;p20"/>
          <p:cNvSpPr/>
          <p:nvPr/>
        </p:nvSpPr>
        <p:spPr>
          <a:xfrm>
            <a:off x="7085188" y="2438392"/>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05" name="Google Shape;805;p20"/>
          <p:cNvSpPr/>
          <p:nvPr/>
        </p:nvSpPr>
        <p:spPr>
          <a:xfrm>
            <a:off x="7126821" y="2199002"/>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1A140C"/>
              </a:buClr>
              <a:buSzPts val="1093"/>
              <a:buFont typeface="IBM Plex Mono"/>
              <a:buNone/>
            </a:pPr>
            <a:r>
              <a:rPr i="0" lang="en" sz="1093" u="none" cap="none" strike="noStrike">
                <a:solidFill>
                  <a:srgbClr val="1A140C"/>
                </a:solidFill>
                <a:latin typeface="Calibri"/>
                <a:ea typeface="Calibri"/>
                <a:cs typeface="Calibri"/>
                <a:sym typeface="Calibri"/>
              </a:rPr>
              <a:t>0.53</a:t>
            </a:r>
            <a:endParaRPr i="0" sz="1093" u="none" cap="none" strike="noStrike">
              <a:solidFill>
                <a:schemeClr val="dk1"/>
              </a:solidFill>
              <a:latin typeface="Calibri"/>
              <a:ea typeface="Calibri"/>
              <a:cs typeface="Calibri"/>
              <a:sym typeface="Calibri"/>
            </a:endParaRPr>
          </a:p>
        </p:txBody>
      </p:sp>
      <p:sp>
        <p:nvSpPr>
          <p:cNvPr id="806" name="Google Shape;806;p20"/>
          <p:cNvSpPr/>
          <p:nvPr/>
        </p:nvSpPr>
        <p:spPr>
          <a:xfrm>
            <a:off x="7945818" y="2438392"/>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07" name="Google Shape;807;p20"/>
          <p:cNvSpPr/>
          <p:nvPr/>
        </p:nvSpPr>
        <p:spPr>
          <a:xfrm>
            <a:off x="7987451" y="2199002"/>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1A140C"/>
              </a:buClr>
              <a:buSzPts val="1093"/>
              <a:buFont typeface="IBM Plex Mono"/>
              <a:buNone/>
            </a:pPr>
            <a:r>
              <a:rPr i="0" lang="en" sz="1093" u="none" cap="none" strike="noStrike">
                <a:solidFill>
                  <a:srgbClr val="1A140C"/>
                </a:solidFill>
                <a:latin typeface="Calibri"/>
                <a:ea typeface="Calibri"/>
                <a:cs typeface="Calibri"/>
                <a:sym typeface="Calibri"/>
              </a:rPr>
              <a:t>0.56</a:t>
            </a:r>
            <a:endParaRPr i="0" sz="1093" u="none" cap="none" strike="noStrike">
              <a:solidFill>
                <a:schemeClr val="dk1"/>
              </a:solidFill>
              <a:latin typeface="Calibri"/>
              <a:ea typeface="Calibri"/>
              <a:cs typeface="Calibri"/>
              <a:sym typeface="Calibri"/>
            </a:endParaRPr>
          </a:p>
        </p:txBody>
      </p:sp>
      <p:sp>
        <p:nvSpPr>
          <p:cNvPr id="808" name="Google Shape;808;p20"/>
          <p:cNvSpPr/>
          <p:nvPr/>
        </p:nvSpPr>
        <p:spPr>
          <a:xfrm>
            <a:off x="4752525" y="2745437"/>
            <a:ext cx="14721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09" name="Google Shape;809;p20"/>
          <p:cNvSpPr/>
          <p:nvPr/>
        </p:nvSpPr>
        <p:spPr>
          <a:xfrm>
            <a:off x="4835791" y="2506046"/>
            <a:ext cx="1349700" cy="197700"/>
          </a:xfrm>
          <a:prstGeom prst="rect">
            <a:avLst/>
          </a:prstGeom>
          <a:noFill/>
          <a:ln>
            <a:noFill/>
          </a:ln>
        </p:spPr>
        <p:txBody>
          <a:bodyPr anchorCtr="0" anchor="ctr" bIns="13875" lIns="13875" spcFirstLastPara="1" rIns="13875" wrap="square" tIns="13875">
            <a:noAutofit/>
          </a:bodyPr>
          <a:lstStyle/>
          <a:p>
            <a:pPr indent="0" lvl="0" marL="0" marR="0" rtl="0" algn="l">
              <a:spcBef>
                <a:spcPts val="0"/>
              </a:spcBef>
              <a:spcAft>
                <a:spcPts val="0"/>
              </a:spcAft>
              <a:buClr>
                <a:srgbClr val="1A140C"/>
              </a:buClr>
              <a:buSzPts val="1093"/>
              <a:buFont typeface="Times New Roman"/>
              <a:buNone/>
            </a:pPr>
            <a:r>
              <a:rPr i="1" lang="en" sz="1093" u="none" cap="none" strike="noStrike">
                <a:solidFill>
                  <a:srgbClr val="1A140C"/>
                </a:solidFill>
                <a:latin typeface="Calibri"/>
                <a:ea typeface="Calibri"/>
                <a:cs typeface="Calibri"/>
                <a:sym typeface="Calibri"/>
              </a:rPr>
              <a:t>PAPIT-CLIP</a:t>
            </a:r>
            <a:endParaRPr i="0" sz="1093" u="none" cap="none" strike="noStrike">
              <a:solidFill>
                <a:schemeClr val="dk1"/>
              </a:solidFill>
              <a:latin typeface="Calibri"/>
              <a:ea typeface="Calibri"/>
              <a:cs typeface="Calibri"/>
              <a:sym typeface="Calibri"/>
            </a:endParaRPr>
          </a:p>
        </p:txBody>
      </p:sp>
      <p:sp>
        <p:nvSpPr>
          <p:cNvPr id="810" name="Google Shape;810;p20"/>
          <p:cNvSpPr/>
          <p:nvPr/>
        </p:nvSpPr>
        <p:spPr>
          <a:xfrm>
            <a:off x="6224558" y="2745437"/>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11" name="Google Shape;811;p20"/>
          <p:cNvSpPr/>
          <p:nvPr/>
        </p:nvSpPr>
        <p:spPr>
          <a:xfrm>
            <a:off x="6266191" y="2506046"/>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1A140C"/>
              </a:buClr>
              <a:buSzPts val="1093"/>
              <a:buFont typeface="IBM Plex Mono"/>
              <a:buNone/>
            </a:pPr>
            <a:r>
              <a:rPr i="0" lang="en" sz="1093" u="none" cap="none" strike="noStrike">
                <a:solidFill>
                  <a:srgbClr val="1A140C"/>
                </a:solidFill>
                <a:latin typeface="Calibri"/>
                <a:ea typeface="Calibri"/>
                <a:cs typeface="Calibri"/>
                <a:sym typeface="Calibri"/>
              </a:rPr>
              <a:t>0.56</a:t>
            </a:r>
            <a:endParaRPr i="0" sz="1093" u="none" cap="none" strike="noStrike">
              <a:solidFill>
                <a:schemeClr val="dk1"/>
              </a:solidFill>
              <a:latin typeface="Calibri"/>
              <a:ea typeface="Calibri"/>
              <a:cs typeface="Calibri"/>
              <a:sym typeface="Calibri"/>
            </a:endParaRPr>
          </a:p>
        </p:txBody>
      </p:sp>
      <p:sp>
        <p:nvSpPr>
          <p:cNvPr id="812" name="Google Shape;812;p20"/>
          <p:cNvSpPr/>
          <p:nvPr/>
        </p:nvSpPr>
        <p:spPr>
          <a:xfrm>
            <a:off x="7085188" y="2745437"/>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13" name="Google Shape;813;p20"/>
          <p:cNvSpPr/>
          <p:nvPr/>
        </p:nvSpPr>
        <p:spPr>
          <a:xfrm>
            <a:off x="7126821" y="2506046"/>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1A140C"/>
              </a:buClr>
              <a:buSzPts val="1093"/>
              <a:buFont typeface="IBM Plex Mono"/>
              <a:buNone/>
            </a:pPr>
            <a:r>
              <a:rPr i="0" lang="en" sz="1093" u="none" cap="none" strike="noStrike">
                <a:solidFill>
                  <a:srgbClr val="1A140C"/>
                </a:solidFill>
                <a:latin typeface="Calibri"/>
                <a:ea typeface="Calibri"/>
                <a:cs typeface="Calibri"/>
                <a:sym typeface="Calibri"/>
              </a:rPr>
              <a:t>0.53</a:t>
            </a:r>
            <a:endParaRPr i="0" sz="1093" u="none" cap="none" strike="noStrike">
              <a:solidFill>
                <a:schemeClr val="dk1"/>
              </a:solidFill>
              <a:latin typeface="Calibri"/>
              <a:ea typeface="Calibri"/>
              <a:cs typeface="Calibri"/>
              <a:sym typeface="Calibri"/>
            </a:endParaRPr>
          </a:p>
        </p:txBody>
      </p:sp>
      <p:sp>
        <p:nvSpPr>
          <p:cNvPr id="814" name="Google Shape;814;p20"/>
          <p:cNvSpPr/>
          <p:nvPr/>
        </p:nvSpPr>
        <p:spPr>
          <a:xfrm>
            <a:off x="7945818" y="2745437"/>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15" name="Google Shape;815;p20"/>
          <p:cNvSpPr/>
          <p:nvPr/>
        </p:nvSpPr>
        <p:spPr>
          <a:xfrm>
            <a:off x="7987451" y="2506046"/>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1A140C"/>
              </a:buClr>
              <a:buSzPts val="1093"/>
              <a:buFont typeface="IBM Plex Mono"/>
              <a:buNone/>
            </a:pPr>
            <a:r>
              <a:rPr i="0" lang="en" sz="1093" u="none" cap="none" strike="noStrike">
                <a:solidFill>
                  <a:srgbClr val="1A140C"/>
                </a:solidFill>
                <a:latin typeface="Calibri"/>
                <a:ea typeface="Calibri"/>
                <a:cs typeface="Calibri"/>
                <a:sym typeface="Calibri"/>
              </a:rPr>
              <a:t>0.51</a:t>
            </a:r>
            <a:endParaRPr i="0" sz="1093" u="none" cap="none" strike="noStrike">
              <a:solidFill>
                <a:schemeClr val="dk1"/>
              </a:solidFill>
              <a:latin typeface="Calibri"/>
              <a:ea typeface="Calibri"/>
              <a:cs typeface="Calibri"/>
              <a:sym typeface="Calibri"/>
            </a:endParaRPr>
          </a:p>
        </p:txBody>
      </p:sp>
      <p:sp>
        <p:nvSpPr>
          <p:cNvPr id="816" name="Google Shape;816;p20"/>
          <p:cNvSpPr/>
          <p:nvPr/>
        </p:nvSpPr>
        <p:spPr>
          <a:xfrm>
            <a:off x="4752525" y="3052481"/>
            <a:ext cx="14721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17" name="Google Shape;817;p20"/>
          <p:cNvSpPr/>
          <p:nvPr/>
        </p:nvSpPr>
        <p:spPr>
          <a:xfrm>
            <a:off x="4835791" y="2813091"/>
            <a:ext cx="1349700" cy="197700"/>
          </a:xfrm>
          <a:prstGeom prst="rect">
            <a:avLst/>
          </a:prstGeom>
          <a:noFill/>
          <a:ln>
            <a:noFill/>
          </a:ln>
        </p:spPr>
        <p:txBody>
          <a:bodyPr anchorCtr="0" anchor="ctr" bIns="13875" lIns="13875" spcFirstLastPara="1" rIns="13875" wrap="square" tIns="13875">
            <a:noAutofit/>
          </a:bodyPr>
          <a:lstStyle/>
          <a:p>
            <a:pPr indent="0" lvl="0" marL="0" marR="0" rtl="0" algn="l">
              <a:spcBef>
                <a:spcPts val="0"/>
              </a:spcBef>
              <a:spcAft>
                <a:spcPts val="0"/>
              </a:spcAft>
              <a:buClr>
                <a:srgbClr val="8A7A64"/>
              </a:buClr>
              <a:buSzPts val="1093"/>
              <a:buFont typeface="Times New Roman"/>
              <a:buNone/>
            </a:pPr>
            <a:r>
              <a:rPr i="1" lang="en" sz="1093" u="none" cap="none" strike="noStrike">
                <a:solidFill>
                  <a:srgbClr val="8A7A64"/>
                </a:solidFill>
                <a:latin typeface="Calibri"/>
                <a:ea typeface="Calibri"/>
                <a:cs typeface="Calibri"/>
                <a:sym typeface="Calibri"/>
              </a:rPr>
              <a:t>LLM-attn L = 2</a:t>
            </a:r>
            <a:endParaRPr i="0" sz="1093" u="none" cap="none" strike="noStrike">
              <a:solidFill>
                <a:schemeClr val="dk1"/>
              </a:solidFill>
              <a:latin typeface="Calibri"/>
              <a:ea typeface="Calibri"/>
              <a:cs typeface="Calibri"/>
              <a:sym typeface="Calibri"/>
            </a:endParaRPr>
          </a:p>
        </p:txBody>
      </p:sp>
      <p:sp>
        <p:nvSpPr>
          <p:cNvPr id="818" name="Google Shape;818;p20"/>
          <p:cNvSpPr/>
          <p:nvPr/>
        </p:nvSpPr>
        <p:spPr>
          <a:xfrm>
            <a:off x="6224558" y="3052481"/>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19" name="Google Shape;819;p20"/>
          <p:cNvSpPr/>
          <p:nvPr/>
        </p:nvSpPr>
        <p:spPr>
          <a:xfrm>
            <a:off x="6266191" y="2813091"/>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1A140C"/>
              </a:buClr>
              <a:buSzPts val="1093"/>
              <a:buFont typeface="IBM Plex Mono"/>
              <a:buNone/>
            </a:pPr>
            <a:r>
              <a:rPr i="0" lang="en" sz="1093" u="none" cap="none" strike="noStrike">
                <a:solidFill>
                  <a:srgbClr val="1A140C"/>
                </a:solidFill>
                <a:latin typeface="Calibri"/>
                <a:ea typeface="Calibri"/>
                <a:cs typeface="Calibri"/>
                <a:sym typeface="Calibri"/>
              </a:rPr>
              <a:t>0.49</a:t>
            </a:r>
            <a:endParaRPr i="0" sz="1093" u="none" cap="none" strike="noStrike">
              <a:solidFill>
                <a:schemeClr val="dk1"/>
              </a:solidFill>
              <a:latin typeface="Calibri"/>
              <a:ea typeface="Calibri"/>
              <a:cs typeface="Calibri"/>
              <a:sym typeface="Calibri"/>
            </a:endParaRPr>
          </a:p>
        </p:txBody>
      </p:sp>
      <p:sp>
        <p:nvSpPr>
          <p:cNvPr id="820" name="Google Shape;820;p20"/>
          <p:cNvSpPr/>
          <p:nvPr/>
        </p:nvSpPr>
        <p:spPr>
          <a:xfrm>
            <a:off x="7085188" y="3052481"/>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21" name="Google Shape;821;p20"/>
          <p:cNvSpPr/>
          <p:nvPr/>
        </p:nvSpPr>
        <p:spPr>
          <a:xfrm>
            <a:off x="7126821" y="2813091"/>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1A140C"/>
              </a:buClr>
              <a:buSzPts val="1093"/>
              <a:buFont typeface="IBM Plex Mono"/>
              <a:buNone/>
            </a:pPr>
            <a:r>
              <a:rPr i="0" lang="en" sz="1093" u="none" cap="none" strike="noStrike">
                <a:solidFill>
                  <a:srgbClr val="1A140C"/>
                </a:solidFill>
                <a:latin typeface="Calibri"/>
                <a:ea typeface="Calibri"/>
                <a:cs typeface="Calibri"/>
                <a:sym typeface="Calibri"/>
              </a:rPr>
              <a:t>0.54</a:t>
            </a:r>
            <a:endParaRPr i="0" sz="1093" u="none" cap="none" strike="noStrike">
              <a:solidFill>
                <a:schemeClr val="dk1"/>
              </a:solidFill>
              <a:latin typeface="Calibri"/>
              <a:ea typeface="Calibri"/>
              <a:cs typeface="Calibri"/>
              <a:sym typeface="Calibri"/>
            </a:endParaRPr>
          </a:p>
        </p:txBody>
      </p:sp>
      <p:sp>
        <p:nvSpPr>
          <p:cNvPr id="822" name="Google Shape;822;p20"/>
          <p:cNvSpPr/>
          <p:nvPr/>
        </p:nvSpPr>
        <p:spPr>
          <a:xfrm>
            <a:off x="7945818" y="3052481"/>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23" name="Google Shape;823;p20"/>
          <p:cNvSpPr/>
          <p:nvPr/>
        </p:nvSpPr>
        <p:spPr>
          <a:xfrm>
            <a:off x="7987451" y="2813091"/>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1A140C"/>
              </a:buClr>
              <a:buSzPts val="1093"/>
              <a:buFont typeface="IBM Plex Mono"/>
              <a:buNone/>
            </a:pPr>
            <a:r>
              <a:rPr i="0" lang="en" sz="1093" u="none" cap="none" strike="noStrike">
                <a:solidFill>
                  <a:srgbClr val="1A140C"/>
                </a:solidFill>
                <a:latin typeface="Calibri"/>
                <a:ea typeface="Calibri"/>
                <a:cs typeface="Calibri"/>
                <a:sym typeface="Calibri"/>
              </a:rPr>
              <a:t>0.53</a:t>
            </a:r>
            <a:endParaRPr i="0" sz="1093" u="none" cap="none" strike="noStrike">
              <a:solidFill>
                <a:schemeClr val="dk1"/>
              </a:solidFill>
              <a:latin typeface="Calibri"/>
              <a:ea typeface="Calibri"/>
              <a:cs typeface="Calibri"/>
              <a:sym typeface="Calibri"/>
            </a:endParaRPr>
          </a:p>
        </p:txBody>
      </p:sp>
      <p:sp>
        <p:nvSpPr>
          <p:cNvPr id="824" name="Google Shape;824;p20"/>
          <p:cNvSpPr/>
          <p:nvPr/>
        </p:nvSpPr>
        <p:spPr>
          <a:xfrm>
            <a:off x="4752525" y="3359525"/>
            <a:ext cx="14721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25" name="Google Shape;825;p20"/>
          <p:cNvSpPr/>
          <p:nvPr/>
        </p:nvSpPr>
        <p:spPr>
          <a:xfrm>
            <a:off x="4835791" y="3120135"/>
            <a:ext cx="1349700" cy="197700"/>
          </a:xfrm>
          <a:prstGeom prst="rect">
            <a:avLst/>
          </a:prstGeom>
          <a:noFill/>
          <a:ln>
            <a:noFill/>
          </a:ln>
        </p:spPr>
        <p:txBody>
          <a:bodyPr anchorCtr="0" anchor="ctr" bIns="13875" lIns="13875" spcFirstLastPara="1" rIns="13875" wrap="square" tIns="13875">
            <a:noAutofit/>
          </a:bodyPr>
          <a:lstStyle/>
          <a:p>
            <a:pPr indent="0" lvl="0" marL="0" marR="0" rtl="0" algn="l">
              <a:spcBef>
                <a:spcPts val="0"/>
              </a:spcBef>
              <a:spcAft>
                <a:spcPts val="0"/>
              </a:spcAft>
              <a:buClr>
                <a:srgbClr val="7A1F10"/>
              </a:buClr>
              <a:buSzPts val="1093"/>
              <a:buFont typeface="Times New Roman"/>
              <a:buNone/>
            </a:pPr>
            <a:r>
              <a:rPr b="1" i="1" lang="en" sz="1093" u="none" cap="none" strike="noStrike">
                <a:solidFill>
                  <a:srgbClr val="7A1F10"/>
                </a:solidFill>
                <a:latin typeface="Calibri"/>
                <a:ea typeface="Calibri"/>
                <a:cs typeface="Calibri"/>
                <a:sym typeface="Calibri"/>
              </a:rPr>
              <a:t>LLM-attn L = 8</a:t>
            </a:r>
            <a:endParaRPr i="0" sz="1093" u="none" cap="none" strike="noStrike">
              <a:solidFill>
                <a:schemeClr val="dk1"/>
              </a:solidFill>
              <a:latin typeface="Calibri"/>
              <a:ea typeface="Calibri"/>
              <a:cs typeface="Calibri"/>
              <a:sym typeface="Calibri"/>
            </a:endParaRPr>
          </a:p>
        </p:txBody>
      </p:sp>
      <p:sp>
        <p:nvSpPr>
          <p:cNvPr id="826" name="Google Shape;826;p20"/>
          <p:cNvSpPr/>
          <p:nvPr/>
        </p:nvSpPr>
        <p:spPr>
          <a:xfrm>
            <a:off x="6224558" y="3359525"/>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27" name="Google Shape;827;p20"/>
          <p:cNvSpPr/>
          <p:nvPr/>
        </p:nvSpPr>
        <p:spPr>
          <a:xfrm>
            <a:off x="6266191" y="3120135"/>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7A1F10"/>
              </a:buClr>
              <a:buSzPts val="1093"/>
              <a:buFont typeface="IBM Plex Mono"/>
              <a:buNone/>
            </a:pPr>
            <a:r>
              <a:rPr b="1" i="0" lang="en" sz="1093" u="none" cap="none" strike="noStrike">
                <a:solidFill>
                  <a:srgbClr val="6AA84F"/>
                </a:solidFill>
                <a:latin typeface="Calibri"/>
                <a:ea typeface="Calibri"/>
                <a:cs typeface="Calibri"/>
                <a:sym typeface="Calibri"/>
              </a:rPr>
              <a:t>0.58</a:t>
            </a:r>
            <a:endParaRPr i="0" sz="1093" u="none" cap="none" strike="noStrike">
              <a:solidFill>
                <a:srgbClr val="6AA84F"/>
              </a:solidFill>
              <a:latin typeface="Calibri"/>
              <a:ea typeface="Calibri"/>
              <a:cs typeface="Calibri"/>
              <a:sym typeface="Calibri"/>
            </a:endParaRPr>
          </a:p>
        </p:txBody>
      </p:sp>
      <p:sp>
        <p:nvSpPr>
          <p:cNvPr id="828" name="Google Shape;828;p20"/>
          <p:cNvSpPr/>
          <p:nvPr/>
        </p:nvSpPr>
        <p:spPr>
          <a:xfrm>
            <a:off x="7085188" y="3359525"/>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29" name="Google Shape;829;p20"/>
          <p:cNvSpPr/>
          <p:nvPr/>
        </p:nvSpPr>
        <p:spPr>
          <a:xfrm>
            <a:off x="7126821" y="3120135"/>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7A1F10"/>
              </a:buClr>
              <a:buSzPts val="1093"/>
              <a:buFont typeface="IBM Plex Mono"/>
              <a:buNone/>
            </a:pPr>
            <a:r>
              <a:rPr b="1" i="0" lang="en" sz="1093" u="none" cap="none" strike="noStrike">
                <a:solidFill>
                  <a:srgbClr val="7A1F10"/>
                </a:solidFill>
                <a:latin typeface="Calibri"/>
                <a:ea typeface="Calibri"/>
                <a:cs typeface="Calibri"/>
                <a:sym typeface="Calibri"/>
              </a:rPr>
              <a:t>0.54</a:t>
            </a:r>
            <a:endParaRPr i="0" sz="1093" u="none" cap="none" strike="noStrike">
              <a:solidFill>
                <a:schemeClr val="dk1"/>
              </a:solidFill>
              <a:latin typeface="Calibri"/>
              <a:ea typeface="Calibri"/>
              <a:cs typeface="Calibri"/>
              <a:sym typeface="Calibri"/>
            </a:endParaRPr>
          </a:p>
        </p:txBody>
      </p:sp>
      <p:sp>
        <p:nvSpPr>
          <p:cNvPr id="830" name="Google Shape;830;p20"/>
          <p:cNvSpPr/>
          <p:nvPr/>
        </p:nvSpPr>
        <p:spPr>
          <a:xfrm>
            <a:off x="7945818" y="3359525"/>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31" name="Google Shape;831;p20"/>
          <p:cNvSpPr/>
          <p:nvPr/>
        </p:nvSpPr>
        <p:spPr>
          <a:xfrm>
            <a:off x="7987451" y="3120135"/>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7A1F10"/>
              </a:buClr>
              <a:buSzPts val="1093"/>
              <a:buFont typeface="IBM Plex Mono"/>
              <a:buNone/>
            </a:pPr>
            <a:r>
              <a:rPr b="1" i="0" lang="en" sz="1093" u="none" cap="none" strike="noStrike">
                <a:solidFill>
                  <a:srgbClr val="7A1F10"/>
                </a:solidFill>
                <a:latin typeface="Calibri"/>
                <a:ea typeface="Calibri"/>
                <a:cs typeface="Calibri"/>
                <a:sym typeface="Calibri"/>
              </a:rPr>
              <a:t>0.56</a:t>
            </a:r>
            <a:endParaRPr i="0" sz="1093" u="none" cap="none" strike="noStrike">
              <a:solidFill>
                <a:schemeClr val="dk1"/>
              </a:solidFill>
              <a:latin typeface="Calibri"/>
              <a:ea typeface="Calibri"/>
              <a:cs typeface="Calibri"/>
              <a:sym typeface="Calibri"/>
            </a:endParaRPr>
          </a:p>
        </p:txBody>
      </p:sp>
      <p:sp>
        <p:nvSpPr>
          <p:cNvPr id="832" name="Google Shape;832;p20"/>
          <p:cNvSpPr/>
          <p:nvPr/>
        </p:nvSpPr>
        <p:spPr>
          <a:xfrm>
            <a:off x="4752525" y="3666570"/>
            <a:ext cx="14721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33" name="Google Shape;833;p20"/>
          <p:cNvSpPr/>
          <p:nvPr/>
        </p:nvSpPr>
        <p:spPr>
          <a:xfrm>
            <a:off x="4835791" y="3427179"/>
            <a:ext cx="1349700" cy="197700"/>
          </a:xfrm>
          <a:prstGeom prst="rect">
            <a:avLst/>
          </a:prstGeom>
          <a:noFill/>
          <a:ln>
            <a:noFill/>
          </a:ln>
        </p:spPr>
        <p:txBody>
          <a:bodyPr anchorCtr="0" anchor="ctr" bIns="13875" lIns="13875" spcFirstLastPara="1" rIns="13875" wrap="square" tIns="13875">
            <a:noAutofit/>
          </a:bodyPr>
          <a:lstStyle/>
          <a:p>
            <a:pPr indent="0" lvl="0" marL="0" marR="0" rtl="0" algn="l">
              <a:spcBef>
                <a:spcPts val="0"/>
              </a:spcBef>
              <a:spcAft>
                <a:spcPts val="0"/>
              </a:spcAft>
              <a:buClr>
                <a:srgbClr val="7A1F10"/>
              </a:buClr>
              <a:buSzPts val="1093"/>
              <a:buFont typeface="Times New Roman"/>
              <a:buNone/>
            </a:pPr>
            <a:r>
              <a:rPr b="1" i="1" lang="en" sz="1093" u="none" cap="none" strike="noStrike">
                <a:solidFill>
                  <a:srgbClr val="7A1F10"/>
                </a:solidFill>
                <a:latin typeface="Calibri"/>
                <a:ea typeface="Calibri"/>
                <a:cs typeface="Calibri"/>
                <a:sym typeface="Calibri"/>
              </a:rPr>
              <a:t>LLM-attn L = 16</a:t>
            </a:r>
            <a:endParaRPr i="0" sz="1093" u="none" cap="none" strike="noStrike">
              <a:solidFill>
                <a:schemeClr val="dk1"/>
              </a:solidFill>
              <a:latin typeface="Calibri"/>
              <a:ea typeface="Calibri"/>
              <a:cs typeface="Calibri"/>
              <a:sym typeface="Calibri"/>
            </a:endParaRPr>
          </a:p>
        </p:txBody>
      </p:sp>
      <p:sp>
        <p:nvSpPr>
          <p:cNvPr id="834" name="Google Shape;834;p20"/>
          <p:cNvSpPr/>
          <p:nvPr/>
        </p:nvSpPr>
        <p:spPr>
          <a:xfrm>
            <a:off x="6224558" y="3666570"/>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35" name="Google Shape;835;p20"/>
          <p:cNvSpPr/>
          <p:nvPr/>
        </p:nvSpPr>
        <p:spPr>
          <a:xfrm>
            <a:off x="6266191" y="3427179"/>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7A1F10"/>
              </a:buClr>
              <a:buSzPts val="1093"/>
              <a:buFont typeface="IBM Plex Mono"/>
              <a:buNone/>
            </a:pPr>
            <a:r>
              <a:rPr b="1" i="0" lang="en" sz="1093" u="none" cap="none" strike="noStrike">
                <a:solidFill>
                  <a:schemeClr val="accent6"/>
                </a:solidFill>
                <a:latin typeface="Calibri"/>
                <a:ea typeface="Calibri"/>
                <a:cs typeface="Calibri"/>
                <a:sym typeface="Calibri"/>
              </a:rPr>
              <a:t>0.61</a:t>
            </a:r>
            <a:endParaRPr i="0" sz="1093" u="none" cap="none" strike="noStrike">
              <a:solidFill>
                <a:schemeClr val="accent6"/>
              </a:solidFill>
              <a:latin typeface="Calibri"/>
              <a:ea typeface="Calibri"/>
              <a:cs typeface="Calibri"/>
              <a:sym typeface="Calibri"/>
            </a:endParaRPr>
          </a:p>
        </p:txBody>
      </p:sp>
      <p:sp>
        <p:nvSpPr>
          <p:cNvPr id="836" name="Google Shape;836;p20"/>
          <p:cNvSpPr/>
          <p:nvPr/>
        </p:nvSpPr>
        <p:spPr>
          <a:xfrm>
            <a:off x="7085188" y="3666570"/>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37" name="Google Shape;837;p20"/>
          <p:cNvSpPr/>
          <p:nvPr/>
        </p:nvSpPr>
        <p:spPr>
          <a:xfrm>
            <a:off x="7126821" y="3427179"/>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7A1F10"/>
              </a:buClr>
              <a:buSzPts val="1093"/>
              <a:buFont typeface="IBM Plex Mono"/>
              <a:buNone/>
            </a:pPr>
            <a:r>
              <a:rPr b="1" i="0" lang="en" sz="1093" u="none" cap="none" strike="noStrike">
                <a:solidFill>
                  <a:schemeClr val="accent6"/>
                </a:solidFill>
                <a:latin typeface="Calibri"/>
                <a:ea typeface="Calibri"/>
                <a:cs typeface="Calibri"/>
                <a:sym typeface="Calibri"/>
              </a:rPr>
              <a:t>0.58</a:t>
            </a:r>
            <a:endParaRPr i="0" sz="1093" u="none" cap="none" strike="noStrike">
              <a:solidFill>
                <a:schemeClr val="accent6"/>
              </a:solidFill>
              <a:latin typeface="Calibri"/>
              <a:ea typeface="Calibri"/>
              <a:cs typeface="Calibri"/>
              <a:sym typeface="Calibri"/>
            </a:endParaRPr>
          </a:p>
        </p:txBody>
      </p:sp>
      <p:sp>
        <p:nvSpPr>
          <p:cNvPr id="838" name="Google Shape;838;p20"/>
          <p:cNvSpPr/>
          <p:nvPr/>
        </p:nvSpPr>
        <p:spPr>
          <a:xfrm>
            <a:off x="7945818" y="3666570"/>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39" name="Google Shape;839;p20"/>
          <p:cNvSpPr/>
          <p:nvPr/>
        </p:nvSpPr>
        <p:spPr>
          <a:xfrm>
            <a:off x="7987451" y="3427179"/>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7A1F10"/>
              </a:buClr>
              <a:buSzPts val="1093"/>
              <a:buFont typeface="IBM Plex Mono"/>
              <a:buNone/>
            </a:pPr>
            <a:r>
              <a:rPr b="1" i="0" lang="en" sz="1093" u="none" cap="none" strike="noStrike">
                <a:solidFill>
                  <a:srgbClr val="7A1F10"/>
                </a:solidFill>
                <a:latin typeface="Calibri"/>
                <a:ea typeface="Calibri"/>
                <a:cs typeface="Calibri"/>
                <a:sym typeface="Calibri"/>
              </a:rPr>
              <a:t>0.56</a:t>
            </a:r>
            <a:endParaRPr i="0" sz="1093" u="none" cap="none" strike="noStrike">
              <a:solidFill>
                <a:schemeClr val="dk1"/>
              </a:solidFill>
              <a:latin typeface="Calibri"/>
              <a:ea typeface="Calibri"/>
              <a:cs typeface="Calibri"/>
              <a:sym typeface="Calibri"/>
            </a:endParaRPr>
          </a:p>
        </p:txBody>
      </p:sp>
      <p:sp>
        <p:nvSpPr>
          <p:cNvPr id="840" name="Google Shape;840;p20"/>
          <p:cNvSpPr/>
          <p:nvPr/>
        </p:nvSpPr>
        <p:spPr>
          <a:xfrm>
            <a:off x="4752525" y="3973614"/>
            <a:ext cx="14721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41" name="Google Shape;841;p20"/>
          <p:cNvSpPr/>
          <p:nvPr/>
        </p:nvSpPr>
        <p:spPr>
          <a:xfrm>
            <a:off x="4835791" y="3734224"/>
            <a:ext cx="1349700" cy="197700"/>
          </a:xfrm>
          <a:prstGeom prst="rect">
            <a:avLst/>
          </a:prstGeom>
          <a:noFill/>
          <a:ln>
            <a:noFill/>
          </a:ln>
        </p:spPr>
        <p:txBody>
          <a:bodyPr anchorCtr="0" anchor="ctr" bIns="13875" lIns="13875" spcFirstLastPara="1" rIns="13875" wrap="square" tIns="13875">
            <a:noAutofit/>
          </a:bodyPr>
          <a:lstStyle/>
          <a:p>
            <a:pPr indent="0" lvl="0" marL="0" marR="0" rtl="0" algn="l">
              <a:spcBef>
                <a:spcPts val="0"/>
              </a:spcBef>
              <a:spcAft>
                <a:spcPts val="0"/>
              </a:spcAft>
              <a:buClr>
                <a:srgbClr val="7A1F10"/>
              </a:buClr>
              <a:buSzPts val="1093"/>
              <a:buFont typeface="Times New Roman"/>
              <a:buNone/>
            </a:pPr>
            <a:r>
              <a:rPr b="1" i="1" lang="en" sz="1093" u="none" cap="none" strike="noStrike">
                <a:solidFill>
                  <a:srgbClr val="7A1F10"/>
                </a:solidFill>
                <a:latin typeface="Calibri"/>
                <a:ea typeface="Calibri"/>
                <a:cs typeface="Calibri"/>
                <a:sym typeface="Calibri"/>
              </a:rPr>
              <a:t>LLM-attn L = 24</a:t>
            </a:r>
            <a:endParaRPr i="0" sz="1093" u="none" cap="none" strike="noStrike">
              <a:solidFill>
                <a:schemeClr val="dk1"/>
              </a:solidFill>
              <a:latin typeface="Calibri"/>
              <a:ea typeface="Calibri"/>
              <a:cs typeface="Calibri"/>
              <a:sym typeface="Calibri"/>
            </a:endParaRPr>
          </a:p>
        </p:txBody>
      </p:sp>
      <p:sp>
        <p:nvSpPr>
          <p:cNvPr id="842" name="Google Shape;842;p20"/>
          <p:cNvSpPr/>
          <p:nvPr/>
        </p:nvSpPr>
        <p:spPr>
          <a:xfrm>
            <a:off x="6224558" y="3973614"/>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43" name="Google Shape;843;p20"/>
          <p:cNvSpPr/>
          <p:nvPr/>
        </p:nvSpPr>
        <p:spPr>
          <a:xfrm>
            <a:off x="6266191" y="3734224"/>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7A1F10"/>
              </a:buClr>
              <a:buSzPts val="1093"/>
              <a:buFont typeface="IBM Plex Mono"/>
              <a:buNone/>
            </a:pPr>
            <a:r>
              <a:rPr b="1" i="0" lang="en" sz="1093" u="none" cap="none" strike="noStrike">
                <a:solidFill>
                  <a:schemeClr val="accent6"/>
                </a:solidFill>
                <a:latin typeface="Calibri"/>
                <a:ea typeface="Calibri"/>
                <a:cs typeface="Calibri"/>
                <a:sym typeface="Calibri"/>
              </a:rPr>
              <a:t>0.60</a:t>
            </a:r>
            <a:endParaRPr i="0" sz="1093" u="none" cap="none" strike="noStrike">
              <a:solidFill>
                <a:schemeClr val="accent6"/>
              </a:solidFill>
              <a:latin typeface="Calibri"/>
              <a:ea typeface="Calibri"/>
              <a:cs typeface="Calibri"/>
              <a:sym typeface="Calibri"/>
            </a:endParaRPr>
          </a:p>
        </p:txBody>
      </p:sp>
      <p:sp>
        <p:nvSpPr>
          <p:cNvPr id="844" name="Google Shape;844;p20"/>
          <p:cNvSpPr/>
          <p:nvPr/>
        </p:nvSpPr>
        <p:spPr>
          <a:xfrm>
            <a:off x="7085188" y="3973614"/>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45" name="Google Shape;845;p20"/>
          <p:cNvSpPr/>
          <p:nvPr/>
        </p:nvSpPr>
        <p:spPr>
          <a:xfrm>
            <a:off x="7126821" y="3734224"/>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7A1F10"/>
              </a:buClr>
              <a:buSzPts val="1093"/>
              <a:buFont typeface="IBM Plex Mono"/>
              <a:buNone/>
            </a:pPr>
            <a:r>
              <a:rPr b="1" i="0" lang="en" sz="1093" u="none" cap="none" strike="noStrike">
                <a:solidFill>
                  <a:srgbClr val="7A1F10"/>
                </a:solidFill>
                <a:latin typeface="Calibri"/>
                <a:ea typeface="Calibri"/>
                <a:cs typeface="Calibri"/>
                <a:sym typeface="Calibri"/>
              </a:rPr>
              <a:t>0.57</a:t>
            </a:r>
            <a:endParaRPr i="0" sz="1093" u="none" cap="none" strike="noStrike">
              <a:solidFill>
                <a:schemeClr val="dk1"/>
              </a:solidFill>
              <a:latin typeface="Calibri"/>
              <a:ea typeface="Calibri"/>
              <a:cs typeface="Calibri"/>
              <a:sym typeface="Calibri"/>
            </a:endParaRPr>
          </a:p>
        </p:txBody>
      </p:sp>
      <p:sp>
        <p:nvSpPr>
          <p:cNvPr id="846" name="Google Shape;846;p20"/>
          <p:cNvSpPr/>
          <p:nvPr/>
        </p:nvSpPr>
        <p:spPr>
          <a:xfrm>
            <a:off x="7945818" y="3973614"/>
            <a:ext cx="860700" cy="5100"/>
          </a:xfrm>
          <a:prstGeom prst="rect">
            <a:avLst/>
          </a:prstGeom>
          <a:solidFill>
            <a:srgbClr val="D6C79E"/>
          </a:solidFill>
          <a:ln>
            <a:noFill/>
          </a:ln>
        </p:spPr>
        <p:txBody>
          <a:bodyPr anchorCtr="0" anchor="ctr" bIns="49975" lIns="49975" spcFirstLastPara="1" rIns="49975" wrap="square" tIns="49975">
            <a:noAutofit/>
          </a:bodyPr>
          <a:lstStyle/>
          <a:p>
            <a:pPr indent="0" lvl="0" marL="0" rtl="0" algn="l">
              <a:spcBef>
                <a:spcPts val="0"/>
              </a:spcBef>
              <a:spcAft>
                <a:spcPts val="0"/>
              </a:spcAft>
              <a:buNone/>
            </a:pPr>
            <a:r>
              <a:t/>
            </a:r>
            <a:endParaRPr sz="1530">
              <a:latin typeface="Calibri"/>
              <a:ea typeface="Calibri"/>
              <a:cs typeface="Calibri"/>
              <a:sym typeface="Calibri"/>
            </a:endParaRPr>
          </a:p>
        </p:txBody>
      </p:sp>
      <p:sp>
        <p:nvSpPr>
          <p:cNvPr id="847" name="Google Shape;847;p20"/>
          <p:cNvSpPr/>
          <p:nvPr/>
        </p:nvSpPr>
        <p:spPr>
          <a:xfrm>
            <a:off x="7987451" y="3734224"/>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7A1F10"/>
              </a:buClr>
              <a:buSzPts val="1093"/>
              <a:buFont typeface="IBM Plex Mono"/>
              <a:buNone/>
            </a:pPr>
            <a:r>
              <a:rPr b="1" i="0" lang="en" sz="1093" u="none" cap="none" strike="noStrike">
                <a:solidFill>
                  <a:srgbClr val="7A1F10"/>
                </a:solidFill>
                <a:latin typeface="Calibri"/>
                <a:ea typeface="Calibri"/>
                <a:cs typeface="Calibri"/>
                <a:sym typeface="Calibri"/>
              </a:rPr>
              <a:t>0.55</a:t>
            </a:r>
            <a:endParaRPr i="0" sz="1093" u="none" cap="none" strike="noStrike">
              <a:solidFill>
                <a:schemeClr val="dk1"/>
              </a:solidFill>
              <a:latin typeface="Calibri"/>
              <a:ea typeface="Calibri"/>
              <a:cs typeface="Calibri"/>
              <a:sym typeface="Calibri"/>
            </a:endParaRPr>
          </a:p>
        </p:txBody>
      </p:sp>
      <p:sp>
        <p:nvSpPr>
          <p:cNvPr id="848" name="Google Shape;848;p20"/>
          <p:cNvSpPr/>
          <p:nvPr/>
        </p:nvSpPr>
        <p:spPr>
          <a:xfrm>
            <a:off x="4835791" y="4041268"/>
            <a:ext cx="1349700" cy="197700"/>
          </a:xfrm>
          <a:prstGeom prst="rect">
            <a:avLst/>
          </a:prstGeom>
          <a:noFill/>
          <a:ln>
            <a:noFill/>
          </a:ln>
        </p:spPr>
        <p:txBody>
          <a:bodyPr anchorCtr="0" anchor="ctr" bIns="13875" lIns="13875" spcFirstLastPara="1" rIns="13875" wrap="square" tIns="13875">
            <a:noAutofit/>
          </a:bodyPr>
          <a:lstStyle/>
          <a:p>
            <a:pPr indent="0" lvl="0" marL="0" marR="0" rtl="0" algn="l">
              <a:spcBef>
                <a:spcPts val="0"/>
              </a:spcBef>
              <a:spcAft>
                <a:spcPts val="0"/>
              </a:spcAft>
              <a:buClr>
                <a:srgbClr val="8A7A64"/>
              </a:buClr>
              <a:buSzPts val="1093"/>
              <a:buFont typeface="Times New Roman"/>
              <a:buNone/>
            </a:pPr>
            <a:r>
              <a:rPr i="1" lang="en" sz="1093" u="none" cap="none" strike="noStrike">
                <a:solidFill>
                  <a:srgbClr val="8A7A64"/>
                </a:solidFill>
                <a:latin typeface="Calibri"/>
                <a:ea typeface="Calibri"/>
                <a:cs typeface="Calibri"/>
                <a:sym typeface="Calibri"/>
              </a:rPr>
              <a:t>LLM-attn L = 31</a:t>
            </a:r>
            <a:endParaRPr i="0" sz="1093" u="none" cap="none" strike="noStrike">
              <a:solidFill>
                <a:schemeClr val="dk1"/>
              </a:solidFill>
              <a:latin typeface="Calibri"/>
              <a:ea typeface="Calibri"/>
              <a:cs typeface="Calibri"/>
              <a:sym typeface="Calibri"/>
            </a:endParaRPr>
          </a:p>
        </p:txBody>
      </p:sp>
      <p:sp>
        <p:nvSpPr>
          <p:cNvPr id="849" name="Google Shape;849;p20"/>
          <p:cNvSpPr/>
          <p:nvPr/>
        </p:nvSpPr>
        <p:spPr>
          <a:xfrm>
            <a:off x="6266191" y="4041268"/>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1A140C"/>
              </a:buClr>
              <a:buSzPts val="1093"/>
              <a:buFont typeface="IBM Plex Mono"/>
              <a:buNone/>
            </a:pPr>
            <a:r>
              <a:rPr i="0" lang="en" sz="1093" u="none" cap="none" strike="noStrike">
                <a:solidFill>
                  <a:srgbClr val="1A140C"/>
                </a:solidFill>
                <a:latin typeface="Calibri"/>
                <a:ea typeface="Calibri"/>
                <a:cs typeface="Calibri"/>
                <a:sym typeface="Calibri"/>
              </a:rPr>
              <a:t>0.50</a:t>
            </a:r>
            <a:endParaRPr i="0" sz="1093" u="none" cap="none" strike="noStrike">
              <a:solidFill>
                <a:schemeClr val="dk1"/>
              </a:solidFill>
              <a:latin typeface="Calibri"/>
              <a:ea typeface="Calibri"/>
              <a:cs typeface="Calibri"/>
              <a:sym typeface="Calibri"/>
            </a:endParaRPr>
          </a:p>
        </p:txBody>
      </p:sp>
      <p:sp>
        <p:nvSpPr>
          <p:cNvPr id="850" name="Google Shape;850;p20"/>
          <p:cNvSpPr/>
          <p:nvPr/>
        </p:nvSpPr>
        <p:spPr>
          <a:xfrm>
            <a:off x="7126821" y="4041268"/>
            <a:ext cx="7359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1A140C"/>
              </a:buClr>
              <a:buSzPts val="1093"/>
              <a:buFont typeface="IBM Plex Mono"/>
              <a:buNone/>
            </a:pPr>
            <a:r>
              <a:rPr i="0" lang="en" sz="1093" u="none" cap="none" strike="noStrike">
                <a:solidFill>
                  <a:srgbClr val="1A140C"/>
                </a:solidFill>
                <a:latin typeface="Calibri"/>
                <a:ea typeface="Calibri"/>
                <a:cs typeface="Calibri"/>
                <a:sym typeface="Calibri"/>
              </a:rPr>
              <a:t>0.55</a:t>
            </a:r>
            <a:endParaRPr i="0" sz="1093" u="none" cap="none" strike="noStrike">
              <a:solidFill>
                <a:schemeClr val="dk1"/>
              </a:solidFill>
              <a:latin typeface="Calibri"/>
              <a:ea typeface="Calibri"/>
              <a:cs typeface="Calibri"/>
              <a:sym typeface="Calibri"/>
            </a:endParaRPr>
          </a:p>
        </p:txBody>
      </p:sp>
      <p:sp>
        <p:nvSpPr>
          <p:cNvPr id="851" name="Google Shape;851;p20"/>
          <p:cNvSpPr/>
          <p:nvPr/>
        </p:nvSpPr>
        <p:spPr>
          <a:xfrm>
            <a:off x="7987451" y="4041268"/>
            <a:ext cx="736200" cy="197700"/>
          </a:xfrm>
          <a:prstGeom prst="rect">
            <a:avLst/>
          </a:prstGeom>
          <a:noFill/>
          <a:ln>
            <a:noFill/>
          </a:ln>
        </p:spPr>
        <p:txBody>
          <a:bodyPr anchorCtr="0" anchor="ctr" bIns="13875" lIns="13875" spcFirstLastPara="1" rIns="13875" wrap="square" tIns="13875">
            <a:noAutofit/>
          </a:bodyPr>
          <a:lstStyle/>
          <a:p>
            <a:pPr indent="0" lvl="0" marL="0" marR="0" rtl="0" algn="r">
              <a:spcBef>
                <a:spcPts val="0"/>
              </a:spcBef>
              <a:spcAft>
                <a:spcPts val="0"/>
              </a:spcAft>
              <a:buClr>
                <a:srgbClr val="1A140C"/>
              </a:buClr>
              <a:buSzPts val="1093"/>
              <a:buFont typeface="IBM Plex Mono"/>
              <a:buNone/>
            </a:pPr>
            <a:r>
              <a:rPr i="0" lang="en" sz="1093" u="none" cap="none" strike="noStrike">
                <a:solidFill>
                  <a:srgbClr val="1A140C"/>
                </a:solidFill>
                <a:latin typeface="Calibri"/>
                <a:ea typeface="Calibri"/>
                <a:cs typeface="Calibri"/>
                <a:sym typeface="Calibri"/>
              </a:rPr>
              <a:t>0.55</a:t>
            </a:r>
            <a:endParaRPr i="0" sz="1093" u="none" cap="none" strike="noStrike">
              <a:solidFill>
                <a:schemeClr val="dk1"/>
              </a:solidFill>
              <a:latin typeface="Calibri"/>
              <a:ea typeface="Calibri"/>
              <a:cs typeface="Calibri"/>
              <a:sym typeface="Calibri"/>
            </a:endParaRPr>
          </a:p>
        </p:txBody>
      </p:sp>
      <p:sp>
        <p:nvSpPr>
          <p:cNvPr id="852" name="Google Shape;852;p20"/>
          <p:cNvSpPr/>
          <p:nvPr/>
        </p:nvSpPr>
        <p:spPr>
          <a:xfrm>
            <a:off x="476250" y="4643438"/>
            <a:ext cx="8191500" cy="4763"/>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53" name="Google Shape;853;p20"/>
          <p:cNvSpPr/>
          <p:nvPr/>
        </p:nvSpPr>
        <p:spPr>
          <a:xfrm>
            <a:off x="476250" y="4743450"/>
            <a:ext cx="1375728" cy="1476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i="1" lang="en" sz="900" u="none" cap="none" strike="noStrike">
                <a:solidFill>
                  <a:srgbClr val="8A7A64"/>
                </a:solidFill>
                <a:latin typeface="Calibri"/>
                <a:ea typeface="Calibri"/>
                <a:cs typeface="Calibri"/>
                <a:sym typeface="Calibri"/>
              </a:rPr>
              <a:t>PAPIT · an essay in pruning</a:t>
            </a:r>
            <a:endParaRPr i="0" sz="900" u="none" cap="none" strike="noStrike">
              <a:solidFill>
                <a:schemeClr val="dk1"/>
              </a:solidFill>
              <a:latin typeface="Calibri"/>
              <a:ea typeface="Calibri"/>
              <a:cs typeface="Calibri"/>
              <a:sym typeface="Calibri"/>
            </a:endParaRPr>
          </a:p>
        </p:txBody>
      </p:sp>
      <p:sp>
        <p:nvSpPr>
          <p:cNvPr id="854" name="Google Shape;854;p20"/>
          <p:cNvSpPr/>
          <p:nvPr/>
        </p:nvSpPr>
        <p:spPr>
          <a:xfrm>
            <a:off x="7947645" y="4724400"/>
            <a:ext cx="758205" cy="1714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IBM Plex Mono"/>
              <a:buNone/>
            </a:pPr>
            <a:r>
              <a:rPr i="0" lang="en" sz="900" u="none" cap="none" strike="noStrike">
                <a:solidFill>
                  <a:srgbClr val="8A7A64"/>
                </a:solidFill>
                <a:latin typeface="Calibri"/>
                <a:ea typeface="Calibri"/>
                <a:cs typeface="Calibri"/>
                <a:sym typeface="Calibri"/>
              </a:rPr>
              <a:t>06 / 10</a:t>
            </a:r>
            <a:endParaRPr i="0" sz="900" u="none" cap="none" strike="noStrike">
              <a:solidFill>
                <a:schemeClr val="dk1"/>
              </a:solidFill>
              <a:latin typeface="Calibri"/>
              <a:ea typeface="Calibri"/>
              <a:cs typeface="Calibri"/>
              <a:sym typeface="Calibri"/>
            </a:endParaRPr>
          </a:p>
        </p:txBody>
      </p:sp>
      <p:sp>
        <p:nvSpPr>
          <p:cNvPr id="855" name="Google Shape;855;p20"/>
          <p:cNvSpPr/>
          <p:nvPr/>
        </p:nvSpPr>
        <p:spPr>
          <a:xfrm>
            <a:off x="447975" y="824250"/>
            <a:ext cx="5866200" cy="480600"/>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A140C"/>
              </a:buClr>
              <a:buSzPts val="3000"/>
              <a:buFont typeface="Times New Roman"/>
              <a:buNone/>
            </a:pPr>
            <a:r>
              <a:rPr lang="en" sz="3000">
                <a:solidFill>
                  <a:srgbClr val="1A140C"/>
                </a:solidFill>
                <a:latin typeface="Calibri"/>
                <a:ea typeface="Calibri"/>
                <a:cs typeface="Calibri"/>
                <a:sym typeface="Calibri"/>
              </a:rPr>
              <a:t>Realization</a:t>
            </a:r>
            <a:endParaRPr i="0" sz="3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0" name="Shape 860"/>
        <p:cNvGrpSpPr/>
        <p:nvPr/>
      </p:nvGrpSpPr>
      <p:grpSpPr>
        <a:xfrm>
          <a:off x="0" y="0"/>
          <a:ext cx="0" cy="0"/>
          <a:chOff x="0" y="0"/>
          <a:chExt cx="0" cy="0"/>
        </a:xfrm>
      </p:grpSpPr>
      <p:sp>
        <p:nvSpPr>
          <p:cNvPr id="861" name="Google Shape;861;p21"/>
          <p:cNvSpPr/>
          <p:nvPr/>
        </p:nvSpPr>
        <p:spPr>
          <a:xfrm>
            <a:off x="476250" y="485775"/>
            <a:ext cx="8191500" cy="4800"/>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62" name="Google Shape;862;p21"/>
          <p:cNvSpPr/>
          <p:nvPr/>
        </p:nvSpPr>
        <p:spPr>
          <a:xfrm>
            <a:off x="476250" y="276225"/>
            <a:ext cx="17214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lang="en" sz="1200">
                <a:solidFill>
                  <a:srgbClr val="8A7A64"/>
                </a:solidFill>
                <a:latin typeface="Calibri"/>
                <a:ea typeface="Calibri"/>
                <a:cs typeface="Calibri"/>
                <a:sym typeface="Calibri"/>
              </a:rPr>
              <a:t>Resolution</a:t>
            </a:r>
            <a:endParaRPr i="0" sz="1200" u="none" cap="none" strike="noStrike">
              <a:solidFill>
                <a:schemeClr val="dk1"/>
              </a:solidFill>
              <a:latin typeface="Calibri"/>
              <a:ea typeface="Calibri"/>
              <a:cs typeface="Calibri"/>
              <a:sym typeface="Calibri"/>
            </a:endParaRPr>
          </a:p>
        </p:txBody>
      </p:sp>
      <p:sp>
        <p:nvSpPr>
          <p:cNvPr id="863" name="Google Shape;863;p21"/>
          <p:cNvSpPr/>
          <p:nvPr/>
        </p:nvSpPr>
        <p:spPr>
          <a:xfrm>
            <a:off x="476250" y="1340500"/>
            <a:ext cx="4718400" cy="202200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1A140C"/>
              </a:buClr>
              <a:buSzPts val="1100"/>
              <a:buFont typeface="Times New Roman"/>
              <a:buNone/>
            </a:pPr>
            <a:r>
              <a:rPr lang="en" sz="2400">
                <a:solidFill>
                  <a:srgbClr val="1A140C"/>
                </a:solidFill>
                <a:latin typeface="Calibri"/>
                <a:ea typeface="Calibri"/>
                <a:cs typeface="Calibri"/>
                <a:sym typeface="Calibri"/>
              </a:rPr>
              <a:t>A 1.3 M MLP that imitates the oracle.</a:t>
            </a:r>
            <a:endParaRPr sz="2400">
              <a:solidFill>
                <a:srgbClr val="1A140C"/>
              </a:solidFill>
              <a:latin typeface="Calibri"/>
              <a:ea typeface="Calibri"/>
              <a:cs typeface="Calibri"/>
              <a:sym typeface="Calibri"/>
            </a:endParaRPr>
          </a:p>
          <a:p>
            <a:pPr indent="0" lvl="0" marL="0" marR="0" rtl="0" algn="l">
              <a:lnSpc>
                <a:spcPct val="150000"/>
              </a:lnSpc>
              <a:spcBef>
                <a:spcPts val="0"/>
              </a:spcBef>
              <a:spcAft>
                <a:spcPts val="0"/>
              </a:spcAft>
              <a:buClr>
                <a:srgbClr val="1A140C"/>
              </a:buClr>
              <a:buSzPts val="1100"/>
              <a:buFont typeface="Times New Roman"/>
              <a:buNone/>
            </a:pPr>
            <a:r>
              <a:rPr b="1" i="0" lang="en" sz="1500" u="none" cap="none" strike="noStrike">
                <a:solidFill>
                  <a:srgbClr val="1A140C"/>
                </a:solidFill>
                <a:latin typeface="Calibri"/>
                <a:ea typeface="Calibri"/>
                <a:cs typeface="Calibri"/>
                <a:sym typeface="Calibri"/>
              </a:rPr>
              <a:t>Inputs: </a:t>
            </a:r>
            <a:r>
              <a:rPr i="0" lang="en" sz="1500" u="none" cap="none" strike="noStrike">
                <a:solidFill>
                  <a:srgbClr val="1A140C"/>
                </a:solidFill>
                <a:latin typeface="Calibri"/>
                <a:ea typeface="Calibri"/>
                <a:cs typeface="Calibri"/>
                <a:sym typeface="Calibri"/>
              </a:rPr>
              <a:t>[ patch features ‖ prompt ] . </a:t>
            </a:r>
            <a:endParaRPr i="0" sz="1500" u="none" cap="none" strike="noStrike">
              <a:solidFill>
                <a:srgbClr val="1A140C"/>
              </a:solidFill>
              <a:latin typeface="Calibri"/>
              <a:ea typeface="Calibri"/>
              <a:cs typeface="Calibri"/>
              <a:sym typeface="Calibri"/>
            </a:endParaRPr>
          </a:p>
          <a:p>
            <a:pPr indent="0" lvl="0" marL="0" marR="0" rtl="0" algn="l">
              <a:lnSpc>
                <a:spcPct val="150000"/>
              </a:lnSpc>
              <a:spcBef>
                <a:spcPts val="0"/>
              </a:spcBef>
              <a:spcAft>
                <a:spcPts val="0"/>
              </a:spcAft>
              <a:buClr>
                <a:srgbClr val="1A140C"/>
              </a:buClr>
              <a:buSzPts val="1100"/>
              <a:buFont typeface="Times New Roman"/>
              <a:buNone/>
            </a:pPr>
            <a:r>
              <a:rPr b="1" i="0" lang="en" sz="1500" u="none" cap="none" strike="noStrike">
                <a:solidFill>
                  <a:srgbClr val="1A140C"/>
                </a:solidFill>
                <a:latin typeface="Calibri"/>
                <a:ea typeface="Calibri"/>
                <a:cs typeface="Calibri"/>
                <a:sym typeface="Calibri"/>
              </a:rPr>
              <a:t>Output: </a:t>
            </a:r>
            <a:r>
              <a:rPr i="0" lang="en" sz="1500" u="none" cap="none" strike="noStrike">
                <a:solidFill>
                  <a:srgbClr val="1A140C"/>
                </a:solidFill>
                <a:latin typeface="Calibri"/>
                <a:ea typeface="Calibri"/>
                <a:cs typeface="Calibri"/>
                <a:sym typeface="Calibri"/>
              </a:rPr>
              <a:t>predicted layer-8 attention.</a:t>
            </a:r>
            <a:endParaRPr i="0" sz="1500" u="none" cap="none" strike="noStrike">
              <a:solidFill>
                <a:srgbClr val="1A140C"/>
              </a:solidFill>
              <a:latin typeface="Calibri"/>
              <a:ea typeface="Calibri"/>
              <a:cs typeface="Calibri"/>
              <a:sym typeface="Calibri"/>
            </a:endParaRPr>
          </a:p>
          <a:p>
            <a:pPr indent="0" lvl="0" marL="0" marR="0" rtl="0" algn="l">
              <a:lnSpc>
                <a:spcPct val="150000"/>
              </a:lnSpc>
              <a:spcBef>
                <a:spcPts val="0"/>
              </a:spcBef>
              <a:spcAft>
                <a:spcPts val="0"/>
              </a:spcAft>
              <a:buClr>
                <a:srgbClr val="1A140C"/>
              </a:buClr>
              <a:buSzPts val="1100"/>
              <a:buFont typeface="Times New Roman"/>
              <a:buNone/>
            </a:pPr>
            <a:r>
              <a:rPr i="0" lang="en" sz="1000" u="none" cap="none" strike="noStrike">
                <a:solidFill>
                  <a:srgbClr val="1A140C"/>
                </a:solidFill>
                <a:latin typeface="Calibri"/>
                <a:ea typeface="Calibri"/>
                <a:cs typeface="Calibri"/>
                <a:sym typeface="Calibri"/>
              </a:rPr>
              <a:t>KL-trained on 100K mixed pairs.</a:t>
            </a:r>
            <a:endParaRPr i="0" sz="1000" u="none" cap="none" strike="noStrike">
              <a:solidFill>
                <a:srgbClr val="1A140C"/>
              </a:solidFill>
              <a:latin typeface="Calibri"/>
              <a:ea typeface="Calibri"/>
              <a:cs typeface="Calibri"/>
              <a:sym typeface="Calibri"/>
            </a:endParaRPr>
          </a:p>
          <a:p>
            <a:pPr indent="0" lvl="0" marL="0" rtl="0" algn="l">
              <a:lnSpc>
                <a:spcPct val="145000"/>
              </a:lnSpc>
              <a:spcBef>
                <a:spcPts val="0"/>
              </a:spcBef>
              <a:spcAft>
                <a:spcPts val="0"/>
              </a:spcAft>
              <a:buClr>
                <a:srgbClr val="4A3A28"/>
              </a:buClr>
              <a:buSzPts val="1000"/>
              <a:buFont typeface="Times New Roman"/>
              <a:buNone/>
            </a:pPr>
            <a:r>
              <a:rPr lang="en" sz="1000">
                <a:solidFill>
                  <a:srgbClr val="4A3A28"/>
                </a:solidFill>
                <a:latin typeface="Calibri"/>
                <a:ea typeface="Calibri"/>
                <a:cs typeface="Calibri"/>
                <a:sym typeface="Calibri"/>
              </a:rPr>
              <a:t>Single forward pass at inference. </a:t>
            </a:r>
            <a:endParaRPr sz="1000">
              <a:solidFill>
                <a:srgbClr val="4A3A28"/>
              </a:solidFill>
              <a:latin typeface="Calibri"/>
              <a:ea typeface="Calibri"/>
              <a:cs typeface="Calibri"/>
              <a:sym typeface="Calibri"/>
            </a:endParaRPr>
          </a:p>
          <a:p>
            <a:pPr indent="0" lvl="0" marL="0" rtl="0" algn="l">
              <a:lnSpc>
                <a:spcPct val="145000"/>
              </a:lnSpc>
              <a:spcBef>
                <a:spcPts val="0"/>
              </a:spcBef>
              <a:spcAft>
                <a:spcPts val="0"/>
              </a:spcAft>
              <a:buClr>
                <a:srgbClr val="4A3A28"/>
              </a:buClr>
              <a:buSzPts val="1000"/>
              <a:buFont typeface="Times New Roman"/>
              <a:buNone/>
            </a:pPr>
            <a:r>
              <a:rPr lang="en" sz="1000">
                <a:solidFill>
                  <a:srgbClr val="4A3A28"/>
                </a:solidFill>
                <a:latin typeface="Calibri"/>
                <a:ea typeface="Calibri"/>
                <a:cs typeface="Calibri"/>
                <a:sym typeface="Calibri"/>
              </a:rPr>
              <a:t>No second LLaVA call. No gradients.</a:t>
            </a:r>
            <a:endParaRPr sz="100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1A140C"/>
              </a:buClr>
              <a:buSzPts val="1100"/>
              <a:buFont typeface="Times New Roman"/>
              <a:buNone/>
            </a:pPr>
            <a:r>
              <a:t/>
            </a:r>
            <a:endParaRPr sz="1100">
              <a:solidFill>
                <a:srgbClr val="1A140C"/>
              </a:solidFill>
              <a:latin typeface="Calibri"/>
              <a:ea typeface="Calibri"/>
              <a:cs typeface="Calibri"/>
              <a:sym typeface="Calibri"/>
            </a:endParaRPr>
          </a:p>
        </p:txBody>
      </p:sp>
      <p:sp>
        <p:nvSpPr>
          <p:cNvPr id="864" name="Google Shape;864;p21"/>
          <p:cNvSpPr/>
          <p:nvPr/>
        </p:nvSpPr>
        <p:spPr>
          <a:xfrm>
            <a:off x="476250" y="4643438"/>
            <a:ext cx="8191500" cy="4800"/>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65" name="Google Shape;865;p21"/>
          <p:cNvSpPr/>
          <p:nvPr/>
        </p:nvSpPr>
        <p:spPr>
          <a:xfrm>
            <a:off x="476250" y="4743450"/>
            <a:ext cx="13758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i="1" lang="en" sz="900" u="none" cap="none" strike="noStrike">
                <a:solidFill>
                  <a:srgbClr val="8A7A64"/>
                </a:solidFill>
                <a:latin typeface="Calibri"/>
                <a:ea typeface="Calibri"/>
                <a:cs typeface="Calibri"/>
                <a:sym typeface="Calibri"/>
              </a:rPr>
              <a:t>PAPIT · an essay in pruning</a:t>
            </a:r>
            <a:endParaRPr i="0" sz="900" u="none" cap="none" strike="noStrike">
              <a:solidFill>
                <a:schemeClr val="dk1"/>
              </a:solidFill>
              <a:latin typeface="Calibri"/>
              <a:ea typeface="Calibri"/>
              <a:cs typeface="Calibri"/>
              <a:sym typeface="Calibri"/>
            </a:endParaRPr>
          </a:p>
        </p:txBody>
      </p:sp>
      <p:sp>
        <p:nvSpPr>
          <p:cNvPr id="866" name="Google Shape;866;p21"/>
          <p:cNvSpPr/>
          <p:nvPr/>
        </p:nvSpPr>
        <p:spPr>
          <a:xfrm>
            <a:off x="7947645" y="4724400"/>
            <a:ext cx="758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IBM Plex Mono"/>
              <a:buNone/>
            </a:pPr>
            <a:r>
              <a:rPr b="0" i="0" lang="en" sz="900" u="none" cap="none" strike="noStrike">
                <a:solidFill>
                  <a:srgbClr val="8A7A64"/>
                </a:solidFill>
                <a:latin typeface="IBM Plex Mono"/>
                <a:ea typeface="IBM Plex Mono"/>
                <a:cs typeface="IBM Plex Mono"/>
                <a:sym typeface="IBM Plex Mono"/>
              </a:rPr>
              <a:t>07 / 10</a:t>
            </a:r>
            <a:endParaRPr b="0" i="0" sz="900" u="none" cap="none" strike="noStrike">
              <a:solidFill>
                <a:schemeClr val="dk1"/>
              </a:solidFill>
              <a:latin typeface="Calibri"/>
              <a:ea typeface="Calibri"/>
              <a:cs typeface="Calibri"/>
              <a:sym typeface="Calibri"/>
            </a:endParaRPr>
          </a:p>
        </p:txBody>
      </p:sp>
      <p:sp>
        <p:nvSpPr>
          <p:cNvPr id="867" name="Google Shape;867;p21"/>
          <p:cNvSpPr/>
          <p:nvPr/>
        </p:nvSpPr>
        <p:spPr>
          <a:xfrm>
            <a:off x="3252950" y="2246226"/>
            <a:ext cx="5527500" cy="198000"/>
          </a:xfrm>
          <a:prstGeom prst="rect">
            <a:avLst/>
          </a:prstGeom>
          <a:noFill/>
          <a:ln>
            <a:noFill/>
          </a:ln>
        </p:spPr>
        <p:txBody>
          <a:bodyPr anchorCtr="0" anchor="t" bIns="13900" lIns="13900" spcFirstLastPara="1" rIns="13900" wrap="square" tIns="13900">
            <a:noAutofit/>
          </a:bodyPr>
          <a:lstStyle/>
          <a:p>
            <a:pPr indent="0" lvl="0" marL="0" marR="0" rtl="0" algn="ctr">
              <a:lnSpc>
                <a:spcPct val="140000"/>
              </a:lnSpc>
              <a:spcBef>
                <a:spcPts val="0"/>
              </a:spcBef>
              <a:spcAft>
                <a:spcPts val="0"/>
              </a:spcAft>
              <a:buClr>
                <a:srgbClr val="7A1F10"/>
              </a:buClr>
              <a:buSzPts val="984"/>
              <a:buFont typeface="IBM Plex Mono"/>
              <a:buNone/>
            </a:pPr>
            <a:r>
              <a:rPr i="0" lang="en" sz="984" u="none" cap="none" strike="noStrike">
                <a:solidFill>
                  <a:srgbClr val="7A1F10"/>
                </a:solidFill>
                <a:latin typeface="Calibri"/>
                <a:ea typeface="Calibri"/>
                <a:cs typeface="Calibri"/>
                <a:sym typeface="Calibri"/>
              </a:rPr>
              <a:t>Fig. ii </a:t>
            </a:r>
            <a:r>
              <a:rPr i="1" lang="en" sz="984" u="none" cap="none" strike="noStrike">
                <a:solidFill>
                  <a:srgbClr val="4A3A28"/>
                </a:solidFill>
                <a:latin typeface="Calibri"/>
                <a:ea typeface="Calibri"/>
                <a:cs typeface="Calibri"/>
                <a:sym typeface="Calibri"/>
              </a:rPr>
              <a:t>“What is the brand of this camera?” — TextVQA, k = 25%</a:t>
            </a:r>
            <a:endParaRPr i="0" sz="984" u="none" cap="none" strike="noStrike">
              <a:solidFill>
                <a:schemeClr val="dk1"/>
              </a:solidFill>
              <a:latin typeface="Calibri"/>
              <a:ea typeface="Calibri"/>
              <a:cs typeface="Calibri"/>
              <a:sym typeface="Calibri"/>
            </a:endParaRPr>
          </a:p>
        </p:txBody>
      </p:sp>
      <p:sp>
        <p:nvSpPr>
          <p:cNvPr id="868" name="Google Shape;868;p21"/>
          <p:cNvSpPr/>
          <p:nvPr/>
        </p:nvSpPr>
        <p:spPr>
          <a:xfrm>
            <a:off x="3678946" y="2556112"/>
            <a:ext cx="1606800" cy="1606800"/>
          </a:xfrm>
          <a:prstGeom prst="rect">
            <a:avLst/>
          </a:prstGeom>
          <a:solidFill>
            <a:srgbClr val="000000"/>
          </a:solidFill>
          <a:ln cap="flat" cmpd="sng" w="10425">
            <a:solidFill>
              <a:srgbClr val="1A140C"/>
            </a:solidFill>
            <a:prstDash val="solid"/>
            <a:round/>
            <a:headEnd len="sm" w="sm" type="none"/>
            <a:tailEnd len="sm" w="sm" type="none"/>
          </a:ln>
        </p:spPr>
        <p:txBody>
          <a:bodyPr anchorCtr="0" anchor="ctr" bIns="50025" lIns="50025" spcFirstLastPara="1" rIns="50025" wrap="square" tIns="50025">
            <a:noAutofit/>
          </a:bodyPr>
          <a:lstStyle/>
          <a:p>
            <a:pPr indent="0" lvl="0" marL="0" rtl="0" algn="l">
              <a:spcBef>
                <a:spcPts val="0"/>
              </a:spcBef>
              <a:spcAft>
                <a:spcPts val="0"/>
              </a:spcAft>
              <a:buNone/>
            </a:pPr>
            <a:r>
              <a:t/>
            </a:r>
            <a:endParaRPr/>
          </a:p>
        </p:txBody>
      </p:sp>
      <p:pic>
        <p:nvPicPr>
          <p:cNvPr descr="preencoded.png" id="869" name="Google Shape;869;p21"/>
          <p:cNvPicPr preferRelativeResize="0"/>
          <p:nvPr/>
        </p:nvPicPr>
        <p:blipFill rotWithShape="1">
          <a:blip r:embed="rId3">
            <a:alphaModFix/>
          </a:blip>
          <a:srcRect b="0" l="0" r="0" t="0"/>
          <a:stretch/>
        </p:blipFill>
        <p:spPr>
          <a:xfrm>
            <a:off x="3684155" y="2561321"/>
            <a:ext cx="1596586" cy="1596586"/>
          </a:xfrm>
          <a:prstGeom prst="rect">
            <a:avLst/>
          </a:prstGeom>
          <a:noFill/>
          <a:ln>
            <a:noFill/>
          </a:ln>
        </p:spPr>
      </p:pic>
      <p:sp>
        <p:nvSpPr>
          <p:cNvPr id="870" name="Google Shape;870;p21"/>
          <p:cNvSpPr/>
          <p:nvPr/>
        </p:nvSpPr>
        <p:spPr>
          <a:xfrm>
            <a:off x="3678946" y="4215210"/>
            <a:ext cx="1606800" cy="5400"/>
          </a:xfrm>
          <a:prstGeom prst="rect">
            <a:avLst/>
          </a:prstGeom>
          <a:solidFill>
            <a:srgbClr val="B8A47A"/>
          </a:solidFill>
          <a:ln>
            <a:noFill/>
          </a:ln>
        </p:spPr>
        <p:txBody>
          <a:bodyPr anchorCtr="0" anchor="ctr" bIns="50025" lIns="50025" spcFirstLastPara="1" rIns="50025" wrap="square" tIns="500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71" name="Google Shape;871;p21"/>
          <p:cNvSpPr/>
          <p:nvPr/>
        </p:nvSpPr>
        <p:spPr>
          <a:xfrm>
            <a:off x="3890890" y="4282928"/>
            <a:ext cx="640200" cy="161400"/>
          </a:xfrm>
          <a:prstGeom prst="rect">
            <a:avLst/>
          </a:prstGeom>
          <a:noFill/>
          <a:ln>
            <a:noFill/>
          </a:ln>
        </p:spPr>
        <p:txBody>
          <a:bodyPr anchorCtr="0" anchor="t" bIns="13900" lIns="13900" spcFirstLastPara="1" rIns="13900" wrap="square" tIns="13900">
            <a:noAutofit/>
          </a:bodyPr>
          <a:lstStyle/>
          <a:p>
            <a:pPr indent="0" lvl="0" marL="0" marR="0" rtl="0" algn="l">
              <a:spcBef>
                <a:spcPts val="0"/>
              </a:spcBef>
              <a:spcAft>
                <a:spcPts val="0"/>
              </a:spcAft>
              <a:buClr>
                <a:srgbClr val="8A7A64"/>
              </a:buClr>
              <a:buSzPts val="984"/>
              <a:buFont typeface="Times New Roman"/>
              <a:buNone/>
            </a:pPr>
            <a:r>
              <a:rPr i="1" lang="en" sz="984" u="none" cap="none" strike="noStrike">
                <a:solidFill>
                  <a:srgbClr val="8A7A64"/>
                </a:solidFill>
                <a:latin typeface="Calibri"/>
                <a:ea typeface="Calibri"/>
                <a:cs typeface="Calibri"/>
                <a:sym typeface="Calibri"/>
              </a:rPr>
              <a:t>Unpruned</a:t>
            </a:r>
            <a:endParaRPr i="0" sz="984" u="none" cap="none" strike="noStrike">
              <a:solidFill>
                <a:schemeClr val="dk1"/>
              </a:solidFill>
              <a:latin typeface="Calibri"/>
              <a:ea typeface="Calibri"/>
              <a:cs typeface="Calibri"/>
              <a:sym typeface="Calibri"/>
            </a:endParaRPr>
          </a:p>
        </p:txBody>
      </p:sp>
      <p:sp>
        <p:nvSpPr>
          <p:cNvPr id="872" name="Google Shape;872;p21"/>
          <p:cNvSpPr/>
          <p:nvPr/>
        </p:nvSpPr>
        <p:spPr>
          <a:xfrm>
            <a:off x="4541619" y="4251673"/>
            <a:ext cx="123300" cy="198000"/>
          </a:xfrm>
          <a:prstGeom prst="rect">
            <a:avLst/>
          </a:prstGeom>
          <a:noFill/>
          <a:ln>
            <a:noFill/>
          </a:ln>
        </p:spPr>
        <p:txBody>
          <a:bodyPr anchorCtr="0" anchor="t" bIns="13900" lIns="13900" spcFirstLastPara="1" rIns="13900" wrap="square" tIns="13900">
            <a:noAutofit/>
          </a:bodyPr>
          <a:lstStyle/>
          <a:p>
            <a:pPr indent="0" lvl="0" marL="0" marR="0" rtl="0" algn="l">
              <a:spcBef>
                <a:spcPts val="0"/>
              </a:spcBef>
              <a:spcAft>
                <a:spcPts val="0"/>
              </a:spcAft>
              <a:buClr>
                <a:srgbClr val="2E6A2E"/>
              </a:buClr>
              <a:buSzPts val="1094"/>
              <a:buFont typeface="IBM Plex Mono"/>
              <a:buNone/>
            </a:pPr>
            <a:r>
              <a:rPr b="1" i="0" lang="en" sz="1094" u="none" cap="none" strike="noStrike">
                <a:solidFill>
                  <a:srgbClr val="2E6A2E"/>
                </a:solidFill>
                <a:latin typeface="Calibri"/>
                <a:ea typeface="Calibri"/>
                <a:cs typeface="Calibri"/>
                <a:sym typeface="Calibri"/>
              </a:rPr>
              <a:t>✓</a:t>
            </a:r>
            <a:endParaRPr i="0" sz="1094" u="none" cap="none" strike="noStrike">
              <a:solidFill>
                <a:schemeClr val="dk1"/>
              </a:solidFill>
              <a:latin typeface="Calibri"/>
              <a:ea typeface="Calibri"/>
              <a:cs typeface="Calibri"/>
              <a:sym typeface="Calibri"/>
            </a:endParaRPr>
          </a:p>
        </p:txBody>
      </p:sp>
      <p:sp>
        <p:nvSpPr>
          <p:cNvPr id="873" name="Google Shape;873;p21"/>
          <p:cNvSpPr/>
          <p:nvPr/>
        </p:nvSpPr>
        <p:spPr>
          <a:xfrm>
            <a:off x="4675265" y="4272510"/>
            <a:ext cx="440400" cy="177300"/>
          </a:xfrm>
          <a:prstGeom prst="rect">
            <a:avLst/>
          </a:prstGeom>
          <a:noFill/>
          <a:ln>
            <a:noFill/>
          </a:ln>
        </p:spPr>
        <p:txBody>
          <a:bodyPr anchorCtr="0" anchor="t" bIns="13900" lIns="13900" spcFirstLastPara="1" rIns="13900" wrap="square" tIns="13900">
            <a:noAutofit/>
          </a:bodyPr>
          <a:lstStyle/>
          <a:p>
            <a:pPr indent="0" lvl="0" marL="0" marR="0" rtl="0" algn="l">
              <a:spcBef>
                <a:spcPts val="0"/>
              </a:spcBef>
              <a:spcAft>
                <a:spcPts val="0"/>
              </a:spcAft>
              <a:buClr>
                <a:srgbClr val="4A3A28"/>
              </a:buClr>
              <a:buSzPts val="1094"/>
              <a:buFont typeface="Times New Roman"/>
              <a:buNone/>
            </a:pPr>
            <a:r>
              <a:rPr i="1" lang="en" sz="1094" u="none" cap="none" strike="noStrike">
                <a:solidFill>
                  <a:srgbClr val="4A3A28"/>
                </a:solidFill>
                <a:latin typeface="Calibri"/>
                <a:ea typeface="Calibri"/>
                <a:cs typeface="Calibri"/>
                <a:sym typeface="Calibri"/>
              </a:rPr>
              <a:t>Dakota</a:t>
            </a:r>
            <a:endParaRPr i="0" sz="1094" u="none" cap="none" strike="noStrike">
              <a:solidFill>
                <a:schemeClr val="dk1"/>
              </a:solidFill>
              <a:latin typeface="Calibri"/>
              <a:ea typeface="Calibri"/>
              <a:cs typeface="Calibri"/>
              <a:sym typeface="Calibri"/>
            </a:endParaRPr>
          </a:p>
        </p:txBody>
      </p:sp>
      <p:sp>
        <p:nvSpPr>
          <p:cNvPr id="874" name="Google Shape;874;p21"/>
          <p:cNvSpPr/>
          <p:nvPr/>
        </p:nvSpPr>
        <p:spPr>
          <a:xfrm>
            <a:off x="5400528" y="2550917"/>
            <a:ext cx="1606800" cy="1606800"/>
          </a:xfrm>
          <a:prstGeom prst="rect">
            <a:avLst/>
          </a:prstGeom>
          <a:solidFill>
            <a:srgbClr val="000000"/>
          </a:solidFill>
          <a:ln cap="flat" cmpd="sng" w="10425">
            <a:solidFill>
              <a:srgbClr val="1A140C"/>
            </a:solidFill>
            <a:prstDash val="solid"/>
            <a:round/>
            <a:headEnd len="sm" w="sm" type="none"/>
            <a:tailEnd len="sm" w="sm" type="none"/>
          </a:ln>
        </p:spPr>
        <p:txBody>
          <a:bodyPr anchorCtr="0" anchor="ctr" bIns="50025" lIns="50025" spcFirstLastPara="1" rIns="50025" wrap="square" tIns="50025">
            <a:noAutofit/>
          </a:bodyPr>
          <a:lstStyle/>
          <a:p>
            <a:pPr indent="0" lvl="0" marL="0" rtl="0" algn="l">
              <a:spcBef>
                <a:spcPts val="0"/>
              </a:spcBef>
              <a:spcAft>
                <a:spcPts val="0"/>
              </a:spcAft>
              <a:buNone/>
            </a:pPr>
            <a:r>
              <a:t/>
            </a:r>
            <a:endParaRPr/>
          </a:p>
        </p:txBody>
      </p:sp>
      <p:pic>
        <p:nvPicPr>
          <p:cNvPr descr="preencoded.png" id="875" name="Google Shape;875;p21"/>
          <p:cNvPicPr preferRelativeResize="0"/>
          <p:nvPr/>
        </p:nvPicPr>
        <p:blipFill rotWithShape="1">
          <a:blip r:embed="rId4">
            <a:alphaModFix/>
          </a:blip>
          <a:srcRect b="0" l="0" r="0" t="0"/>
          <a:stretch/>
        </p:blipFill>
        <p:spPr>
          <a:xfrm>
            <a:off x="5405738" y="2556126"/>
            <a:ext cx="1596586" cy="1596586"/>
          </a:xfrm>
          <a:prstGeom prst="rect">
            <a:avLst/>
          </a:prstGeom>
          <a:noFill/>
          <a:ln>
            <a:noFill/>
          </a:ln>
        </p:spPr>
      </p:pic>
      <p:sp>
        <p:nvSpPr>
          <p:cNvPr id="876" name="Google Shape;876;p21"/>
          <p:cNvSpPr/>
          <p:nvPr/>
        </p:nvSpPr>
        <p:spPr>
          <a:xfrm>
            <a:off x="5400528" y="4210014"/>
            <a:ext cx="1606800" cy="5400"/>
          </a:xfrm>
          <a:prstGeom prst="rect">
            <a:avLst/>
          </a:prstGeom>
          <a:solidFill>
            <a:srgbClr val="B8A47A"/>
          </a:solidFill>
          <a:ln>
            <a:noFill/>
          </a:ln>
        </p:spPr>
        <p:txBody>
          <a:bodyPr anchorCtr="0" anchor="ctr" bIns="50025" lIns="50025" spcFirstLastPara="1" rIns="50025" wrap="square" tIns="50025">
            <a:noAutofit/>
          </a:bodyPr>
          <a:lstStyle/>
          <a:p>
            <a:pPr indent="0" lvl="0" marL="0" rtl="0" algn="l">
              <a:spcBef>
                <a:spcPts val="0"/>
              </a:spcBef>
              <a:spcAft>
                <a:spcPts val="0"/>
              </a:spcAft>
              <a:buNone/>
            </a:pPr>
            <a:r>
              <a:t/>
            </a:r>
            <a:endParaRPr/>
          </a:p>
        </p:txBody>
      </p:sp>
      <p:sp>
        <p:nvSpPr>
          <p:cNvPr id="877" name="Google Shape;877;p21"/>
          <p:cNvSpPr/>
          <p:nvPr/>
        </p:nvSpPr>
        <p:spPr>
          <a:xfrm>
            <a:off x="5496652" y="4277733"/>
            <a:ext cx="794100" cy="161400"/>
          </a:xfrm>
          <a:prstGeom prst="rect">
            <a:avLst/>
          </a:prstGeom>
          <a:noFill/>
          <a:ln>
            <a:noFill/>
          </a:ln>
        </p:spPr>
        <p:txBody>
          <a:bodyPr anchorCtr="0" anchor="t" bIns="13900" lIns="13900" spcFirstLastPara="1" rIns="13900" wrap="square" tIns="13900">
            <a:noAutofit/>
          </a:bodyPr>
          <a:lstStyle/>
          <a:p>
            <a:pPr indent="0" lvl="0" marL="0" marR="0" rtl="0" algn="l">
              <a:spcBef>
                <a:spcPts val="0"/>
              </a:spcBef>
              <a:spcAft>
                <a:spcPts val="0"/>
              </a:spcAft>
              <a:buClr>
                <a:srgbClr val="8A7A64"/>
              </a:buClr>
              <a:buSzPts val="984"/>
              <a:buFont typeface="Times New Roman"/>
              <a:buNone/>
            </a:pPr>
            <a:r>
              <a:rPr i="1" lang="en" sz="984" u="none" cap="none" strike="noStrike">
                <a:solidFill>
                  <a:srgbClr val="8A7A64"/>
                </a:solidFill>
                <a:latin typeface="Calibri"/>
                <a:ea typeface="Calibri"/>
                <a:cs typeface="Calibri"/>
                <a:sym typeface="Calibri"/>
              </a:rPr>
              <a:t>PAPIT-CLIP</a:t>
            </a:r>
            <a:endParaRPr i="0" sz="984" u="none" cap="none" strike="noStrike">
              <a:solidFill>
                <a:schemeClr val="dk1"/>
              </a:solidFill>
              <a:latin typeface="Calibri"/>
              <a:ea typeface="Calibri"/>
              <a:cs typeface="Calibri"/>
              <a:sym typeface="Calibri"/>
            </a:endParaRPr>
          </a:p>
        </p:txBody>
      </p:sp>
      <p:sp>
        <p:nvSpPr>
          <p:cNvPr id="878" name="Google Shape;878;p21"/>
          <p:cNvSpPr/>
          <p:nvPr/>
        </p:nvSpPr>
        <p:spPr>
          <a:xfrm>
            <a:off x="6301212" y="4246478"/>
            <a:ext cx="123300" cy="198000"/>
          </a:xfrm>
          <a:prstGeom prst="rect">
            <a:avLst/>
          </a:prstGeom>
          <a:noFill/>
          <a:ln>
            <a:noFill/>
          </a:ln>
        </p:spPr>
        <p:txBody>
          <a:bodyPr anchorCtr="0" anchor="t" bIns="13900" lIns="13900" spcFirstLastPara="1" rIns="13900" wrap="square" tIns="13900">
            <a:noAutofit/>
          </a:bodyPr>
          <a:lstStyle/>
          <a:p>
            <a:pPr indent="0" lvl="0" marL="0" marR="0" rtl="0" algn="l">
              <a:spcBef>
                <a:spcPts val="0"/>
              </a:spcBef>
              <a:spcAft>
                <a:spcPts val="0"/>
              </a:spcAft>
              <a:buClr>
                <a:srgbClr val="7A1F10"/>
              </a:buClr>
              <a:buSzPts val="1094"/>
              <a:buFont typeface="IBM Plex Mono"/>
              <a:buNone/>
            </a:pPr>
            <a:r>
              <a:rPr b="1" i="0" lang="en" sz="1094" u="none" cap="none" strike="noStrike">
                <a:solidFill>
                  <a:srgbClr val="7A1F10"/>
                </a:solidFill>
                <a:latin typeface="Calibri"/>
                <a:ea typeface="Calibri"/>
                <a:cs typeface="Calibri"/>
                <a:sym typeface="Calibri"/>
              </a:rPr>
              <a:t>✗</a:t>
            </a:r>
            <a:endParaRPr i="0" sz="1094" u="none" cap="none" strike="noStrike">
              <a:solidFill>
                <a:schemeClr val="dk1"/>
              </a:solidFill>
              <a:latin typeface="Calibri"/>
              <a:ea typeface="Calibri"/>
              <a:cs typeface="Calibri"/>
              <a:sym typeface="Calibri"/>
            </a:endParaRPr>
          </a:p>
        </p:txBody>
      </p:sp>
      <p:sp>
        <p:nvSpPr>
          <p:cNvPr id="879" name="Google Shape;879;p21"/>
          <p:cNvSpPr/>
          <p:nvPr/>
        </p:nvSpPr>
        <p:spPr>
          <a:xfrm>
            <a:off x="6434858" y="4267314"/>
            <a:ext cx="518100" cy="177300"/>
          </a:xfrm>
          <a:prstGeom prst="rect">
            <a:avLst/>
          </a:prstGeom>
          <a:noFill/>
          <a:ln>
            <a:noFill/>
          </a:ln>
        </p:spPr>
        <p:txBody>
          <a:bodyPr anchorCtr="0" anchor="t" bIns="13900" lIns="13900" spcFirstLastPara="1" rIns="13900" wrap="square" tIns="13900">
            <a:noAutofit/>
          </a:bodyPr>
          <a:lstStyle/>
          <a:p>
            <a:pPr indent="0" lvl="0" marL="0" marR="0" rtl="0" algn="l">
              <a:spcBef>
                <a:spcPts val="0"/>
              </a:spcBef>
              <a:spcAft>
                <a:spcPts val="0"/>
              </a:spcAft>
              <a:buClr>
                <a:srgbClr val="4A3A28"/>
              </a:buClr>
              <a:buSzPts val="1094"/>
              <a:buFont typeface="Times New Roman"/>
              <a:buNone/>
            </a:pPr>
            <a:r>
              <a:rPr i="1" lang="en" sz="1094" u="none" cap="none" strike="noStrike">
                <a:solidFill>
                  <a:srgbClr val="4A3A28"/>
                </a:solidFill>
                <a:latin typeface="Calibri"/>
                <a:ea typeface="Calibri"/>
                <a:cs typeface="Calibri"/>
                <a:sym typeface="Calibri"/>
              </a:rPr>
              <a:t>Polaroid</a:t>
            </a:r>
            <a:endParaRPr i="0" sz="1094" u="none" cap="none" strike="noStrike">
              <a:solidFill>
                <a:schemeClr val="dk1"/>
              </a:solidFill>
              <a:latin typeface="Calibri"/>
              <a:ea typeface="Calibri"/>
              <a:cs typeface="Calibri"/>
              <a:sym typeface="Calibri"/>
            </a:endParaRPr>
          </a:p>
        </p:txBody>
      </p:sp>
      <p:sp>
        <p:nvSpPr>
          <p:cNvPr id="880" name="Google Shape;880;p21"/>
          <p:cNvSpPr/>
          <p:nvPr/>
        </p:nvSpPr>
        <p:spPr>
          <a:xfrm>
            <a:off x="7122132" y="2550917"/>
            <a:ext cx="1606800" cy="1606800"/>
          </a:xfrm>
          <a:prstGeom prst="rect">
            <a:avLst/>
          </a:prstGeom>
          <a:solidFill>
            <a:srgbClr val="000000"/>
          </a:solidFill>
          <a:ln cap="flat" cmpd="sng" w="10425">
            <a:solidFill>
              <a:srgbClr val="1A140C"/>
            </a:solidFill>
            <a:prstDash val="solid"/>
            <a:round/>
            <a:headEnd len="sm" w="sm" type="none"/>
            <a:tailEnd len="sm" w="sm" type="none"/>
          </a:ln>
        </p:spPr>
        <p:txBody>
          <a:bodyPr anchorCtr="0" anchor="ctr" bIns="50025" lIns="50025" spcFirstLastPara="1" rIns="50025" wrap="square" tIns="50025">
            <a:noAutofit/>
          </a:bodyPr>
          <a:lstStyle/>
          <a:p>
            <a:pPr indent="0" lvl="0" marL="0" rtl="0" algn="l">
              <a:spcBef>
                <a:spcPts val="0"/>
              </a:spcBef>
              <a:spcAft>
                <a:spcPts val="0"/>
              </a:spcAft>
              <a:buNone/>
            </a:pPr>
            <a:r>
              <a:t/>
            </a:r>
            <a:endParaRPr/>
          </a:p>
        </p:txBody>
      </p:sp>
      <p:pic>
        <p:nvPicPr>
          <p:cNvPr descr="preencoded.png" id="881" name="Google Shape;881;p21"/>
          <p:cNvPicPr preferRelativeResize="0"/>
          <p:nvPr/>
        </p:nvPicPr>
        <p:blipFill rotWithShape="1">
          <a:blip r:embed="rId5">
            <a:alphaModFix/>
          </a:blip>
          <a:srcRect b="0" l="0" r="0" t="0"/>
          <a:stretch/>
        </p:blipFill>
        <p:spPr>
          <a:xfrm>
            <a:off x="7127341" y="2556126"/>
            <a:ext cx="1596586" cy="1596586"/>
          </a:xfrm>
          <a:prstGeom prst="rect">
            <a:avLst/>
          </a:prstGeom>
          <a:noFill/>
          <a:ln>
            <a:noFill/>
          </a:ln>
        </p:spPr>
      </p:pic>
      <p:sp>
        <p:nvSpPr>
          <p:cNvPr id="882" name="Google Shape;882;p21"/>
          <p:cNvSpPr/>
          <p:nvPr/>
        </p:nvSpPr>
        <p:spPr>
          <a:xfrm>
            <a:off x="7122132" y="4210014"/>
            <a:ext cx="1606800" cy="5400"/>
          </a:xfrm>
          <a:prstGeom prst="rect">
            <a:avLst/>
          </a:prstGeom>
          <a:solidFill>
            <a:srgbClr val="B8A47A"/>
          </a:solidFill>
          <a:ln>
            <a:noFill/>
          </a:ln>
        </p:spPr>
        <p:txBody>
          <a:bodyPr anchorCtr="0" anchor="ctr" bIns="50025" lIns="50025" spcFirstLastPara="1" rIns="50025" wrap="square" tIns="50025">
            <a:noAutofit/>
          </a:bodyPr>
          <a:lstStyle/>
          <a:p>
            <a:pPr indent="0" lvl="0" marL="0" rtl="0" algn="l">
              <a:spcBef>
                <a:spcPts val="0"/>
              </a:spcBef>
              <a:spcAft>
                <a:spcPts val="0"/>
              </a:spcAft>
              <a:buNone/>
            </a:pPr>
            <a:r>
              <a:t/>
            </a:r>
            <a:endParaRPr/>
          </a:p>
        </p:txBody>
      </p:sp>
      <p:sp>
        <p:nvSpPr>
          <p:cNvPr id="883" name="Google Shape;883;p21"/>
          <p:cNvSpPr/>
          <p:nvPr/>
        </p:nvSpPr>
        <p:spPr>
          <a:xfrm>
            <a:off x="7203198" y="4277733"/>
            <a:ext cx="902100" cy="161400"/>
          </a:xfrm>
          <a:prstGeom prst="rect">
            <a:avLst/>
          </a:prstGeom>
          <a:noFill/>
          <a:ln>
            <a:noFill/>
          </a:ln>
        </p:spPr>
        <p:txBody>
          <a:bodyPr anchorCtr="0" anchor="t" bIns="13900" lIns="13900" spcFirstLastPara="1" rIns="13900" wrap="square" tIns="13900">
            <a:noAutofit/>
          </a:bodyPr>
          <a:lstStyle/>
          <a:p>
            <a:pPr indent="0" lvl="0" marL="0" marR="0" rtl="0" algn="l">
              <a:spcBef>
                <a:spcPts val="0"/>
              </a:spcBef>
              <a:spcAft>
                <a:spcPts val="0"/>
              </a:spcAft>
              <a:buClr>
                <a:srgbClr val="8A7A64"/>
              </a:buClr>
              <a:buSzPts val="984"/>
              <a:buFont typeface="Times New Roman"/>
              <a:buNone/>
            </a:pPr>
            <a:r>
              <a:rPr i="1" lang="en" sz="984" u="none" cap="none" strike="noStrike">
                <a:solidFill>
                  <a:srgbClr val="8A7A64"/>
                </a:solidFill>
                <a:latin typeface="Calibri"/>
                <a:ea typeface="Calibri"/>
                <a:cs typeface="Calibri"/>
                <a:sym typeface="Calibri"/>
              </a:rPr>
              <a:t>PAPIT-Distill</a:t>
            </a:r>
            <a:endParaRPr i="0" sz="984" u="none" cap="none" strike="noStrike">
              <a:solidFill>
                <a:schemeClr val="dk1"/>
              </a:solidFill>
              <a:latin typeface="Calibri"/>
              <a:ea typeface="Calibri"/>
              <a:cs typeface="Calibri"/>
              <a:sym typeface="Calibri"/>
            </a:endParaRPr>
          </a:p>
        </p:txBody>
      </p:sp>
      <p:sp>
        <p:nvSpPr>
          <p:cNvPr id="884" name="Google Shape;884;p21"/>
          <p:cNvSpPr/>
          <p:nvPr/>
        </p:nvSpPr>
        <p:spPr>
          <a:xfrm>
            <a:off x="8115603" y="4246478"/>
            <a:ext cx="123300" cy="198000"/>
          </a:xfrm>
          <a:prstGeom prst="rect">
            <a:avLst/>
          </a:prstGeom>
          <a:noFill/>
          <a:ln>
            <a:noFill/>
          </a:ln>
        </p:spPr>
        <p:txBody>
          <a:bodyPr anchorCtr="0" anchor="t" bIns="13900" lIns="13900" spcFirstLastPara="1" rIns="13900" wrap="square" tIns="13900">
            <a:noAutofit/>
          </a:bodyPr>
          <a:lstStyle/>
          <a:p>
            <a:pPr indent="0" lvl="0" marL="0" marR="0" rtl="0" algn="l">
              <a:spcBef>
                <a:spcPts val="0"/>
              </a:spcBef>
              <a:spcAft>
                <a:spcPts val="0"/>
              </a:spcAft>
              <a:buClr>
                <a:srgbClr val="2E6A2E"/>
              </a:buClr>
              <a:buSzPts val="1094"/>
              <a:buFont typeface="IBM Plex Mono"/>
              <a:buNone/>
            </a:pPr>
            <a:r>
              <a:rPr b="1" i="0" lang="en" sz="1094" u="none" cap="none" strike="noStrike">
                <a:solidFill>
                  <a:srgbClr val="2E6A2E"/>
                </a:solidFill>
                <a:latin typeface="Calibri"/>
                <a:ea typeface="Calibri"/>
                <a:cs typeface="Calibri"/>
                <a:sym typeface="Calibri"/>
              </a:rPr>
              <a:t>✓</a:t>
            </a:r>
            <a:endParaRPr i="0" sz="1094" u="none" cap="none" strike="noStrike">
              <a:solidFill>
                <a:schemeClr val="dk1"/>
              </a:solidFill>
              <a:latin typeface="Calibri"/>
              <a:ea typeface="Calibri"/>
              <a:cs typeface="Calibri"/>
              <a:sym typeface="Calibri"/>
            </a:endParaRPr>
          </a:p>
        </p:txBody>
      </p:sp>
      <p:sp>
        <p:nvSpPr>
          <p:cNvPr id="885" name="Google Shape;885;p21"/>
          <p:cNvSpPr/>
          <p:nvPr/>
        </p:nvSpPr>
        <p:spPr>
          <a:xfrm>
            <a:off x="8249248" y="4267314"/>
            <a:ext cx="440400" cy="177300"/>
          </a:xfrm>
          <a:prstGeom prst="rect">
            <a:avLst/>
          </a:prstGeom>
          <a:noFill/>
          <a:ln>
            <a:noFill/>
          </a:ln>
        </p:spPr>
        <p:txBody>
          <a:bodyPr anchorCtr="0" anchor="t" bIns="13900" lIns="13900" spcFirstLastPara="1" rIns="13900" wrap="square" tIns="13900">
            <a:noAutofit/>
          </a:bodyPr>
          <a:lstStyle/>
          <a:p>
            <a:pPr indent="0" lvl="0" marL="0" marR="0" rtl="0" algn="l">
              <a:spcBef>
                <a:spcPts val="0"/>
              </a:spcBef>
              <a:spcAft>
                <a:spcPts val="0"/>
              </a:spcAft>
              <a:buClr>
                <a:srgbClr val="4A3A28"/>
              </a:buClr>
              <a:buSzPts val="1094"/>
              <a:buFont typeface="Times New Roman"/>
              <a:buNone/>
            </a:pPr>
            <a:r>
              <a:rPr i="1" lang="en" sz="1094" u="none" cap="none" strike="noStrike">
                <a:solidFill>
                  <a:srgbClr val="4A3A28"/>
                </a:solidFill>
                <a:latin typeface="Calibri"/>
                <a:ea typeface="Calibri"/>
                <a:cs typeface="Calibri"/>
                <a:sym typeface="Calibri"/>
              </a:rPr>
              <a:t>Dakota</a:t>
            </a:r>
            <a:endParaRPr i="0" sz="1094" u="none" cap="none" strike="noStrike">
              <a:solidFill>
                <a:schemeClr val="dk1"/>
              </a:solidFill>
              <a:latin typeface="Calibri"/>
              <a:ea typeface="Calibri"/>
              <a:cs typeface="Calibri"/>
              <a:sym typeface="Calibri"/>
            </a:endParaRPr>
          </a:p>
        </p:txBody>
      </p:sp>
      <p:sp>
        <p:nvSpPr>
          <p:cNvPr id="886" name="Google Shape;886;p21"/>
          <p:cNvSpPr/>
          <p:nvPr/>
        </p:nvSpPr>
        <p:spPr>
          <a:xfrm>
            <a:off x="447975" y="824250"/>
            <a:ext cx="5866200" cy="486900"/>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A140C"/>
              </a:buClr>
              <a:buSzPts val="3000"/>
              <a:buFont typeface="Times New Roman"/>
              <a:buNone/>
            </a:pPr>
            <a:r>
              <a:rPr lang="en" sz="3000">
                <a:solidFill>
                  <a:srgbClr val="1A140C"/>
                </a:solidFill>
                <a:latin typeface="Calibri"/>
                <a:ea typeface="Calibri"/>
                <a:cs typeface="Calibri"/>
                <a:sym typeface="Calibri"/>
              </a:rPr>
              <a:t>Attempt 2: PAPIT-Distill</a:t>
            </a:r>
            <a:endParaRPr sz="3000">
              <a:solidFill>
                <a:srgbClr val="1A140C"/>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1" name="Shape 891"/>
        <p:cNvGrpSpPr/>
        <p:nvPr/>
      </p:nvGrpSpPr>
      <p:grpSpPr>
        <a:xfrm>
          <a:off x="0" y="0"/>
          <a:ext cx="0" cy="0"/>
          <a:chOff x="0" y="0"/>
          <a:chExt cx="0" cy="0"/>
        </a:xfrm>
      </p:grpSpPr>
      <p:sp>
        <p:nvSpPr>
          <p:cNvPr id="892" name="Google Shape;892;p22"/>
          <p:cNvSpPr/>
          <p:nvPr/>
        </p:nvSpPr>
        <p:spPr>
          <a:xfrm>
            <a:off x="476250" y="485775"/>
            <a:ext cx="8191500" cy="4763"/>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93" name="Google Shape;893;p22"/>
          <p:cNvSpPr/>
          <p:nvPr/>
        </p:nvSpPr>
        <p:spPr>
          <a:xfrm>
            <a:off x="476250" y="276225"/>
            <a:ext cx="1595397" cy="1476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lang="en" sz="1200">
                <a:solidFill>
                  <a:srgbClr val="8A7A64"/>
                </a:solidFill>
                <a:latin typeface="Calibri"/>
                <a:ea typeface="Calibri"/>
                <a:cs typeface="Calibri"/>
                <a:sym typeface="Calibri"/>
              </a:rPr>
              <a:t>Result - PAPIT-Distill</a:t>
            </a:r>
            <a:endParaRPr i="0" sz="1200" u="none" cap="none" strike="noStrike">
              <a:solidFill>
                <a:schemeClr val="dk1"/>
              </a:solidFill>
              <a:latin typeface="Calibri"/>
              <a:ea typeface="Calibri"/>
              <a:cs typeface="Calibri"/>
              <a:sym typeface="Calibri"/>
            </a:endParaRPr>
          </a:p>
        </p:txBody>
      </p:sp>
      <p:sp>
        <p:nvSpPr>
          <p:cNvPr id="894" name="Google Shape;894;p22"/>
          <p:cNvSpPr/>
          <p:nvPr/>
        </p:nvSpPr>
        <p:spPr>
          <a:xfrm>
            <a:off x="476225" y="1302075"/>
            <a:ext cx="8191500" cy="418500"/>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A140C"/>
              </a:buClr>
              <a:buSzPts val="2300"/>
              <a:buFont typeface="Times New Roman"/>
              <a:buNone/>
            </a:pPr>
            <a:r>
              <a:rPr i="0" lang="en" sz="2300" u="none" cap="none" strike="noStrike">
                <a:solidFill>
                  <a:srgbClr val="1A140C"/>
                </a:solidFill>
                <a:latin typeface="Calibri"/>
                <a:ea typeface="Calibri"/>
                <a:cs typeface="Calibri"/>
                <a:sym typeface="Calibri"/>
              </a:rPr>
              <a:t>A </a:t>
            </a:r>
            <a:r>
              <a:rPr lang="en" sz="2300">
                <a:solidFill>
                  <a:srgbClr val="1A140C"/>
                </a:solidFill>
                <a:latin typeface="Calibri"/>
                <a:ea typeface="Calibri"/>
                <a:cs typeface="Calibri"/>
                <a:sym typeface="Calibri"/>
              </a:rPr>
              <a:t>12 </a:t>
            </a:r>
            <a:r>
              <a:rPr i="0" lang="en" sz="2300" u="none" cap="none" strike="noStrike">
                <a:solidFill>
                  <a:srgbClr val="1A140C"/>
                </a:solidFill>
                <a:latin typeface="Calibri"/>
                <a:ea typeface="Calibri"/>
                <a:cs typeface="Calibri"/>
                <a:sym typeface="Calibri"/>
              </a:rPr>
              <a:t>point gain over </a:t>
            </a:r>
            <a:r>
              <a:rPr i="1" lang="en" sz="2300" u="none" cap="none" strike="noStrike">
                <a:solidFill>
                  <a:srgbClr val="7A1F10"/>
                </a:solidFill>
                <a:latin typeface="Calibri"/>
                <a:ea typeface="Calibri"/>
                <a:cs typeface="Calibri"/>
                <a:sym typeface="Calibri"/>
              </a:rPr>
              <a:t>random </a:t>
            </a:r>
            <a:r>
              <a:rPr i="0" lang="en" sz="2300" u="none" cap="none" strike="noStrike">
                <a:solidFill>
                  <a:srgbClr val="1A140C"/>
                </a:solidFill>
                <a:latin typeface="Calibri"/>
                <a:ea typeface="Calibri"/>
                <a:cs typeface="Calibri"/>
                <a:sym typeface="Calibri"/>
              </a:rPr>
              <a:t>, recovering the unpruned baseline.</a:t>
            </a:r>
            <a:endParaRPr i="0" sz="2300" u="none" cap="none" strike="noStrike">
              <a:solidFill>
                <a:schemeClr val="dk1"/>
              </a:solidFill>
              <a:latin typeface="Calibri"/>
              <a:ea typeface="Calibri"/>
              <a:cs typeface="Calibri"/>
              <a:sym typeface="Calibri"/>
            </a:endParaRPr>
          </a:p>
        </p:txBody>
      </p:sp>
      <p:sp>
        <p:nvSpPr>
          <p:cNvPr id="895" name="Google Shape;895;p22"/>
          <p:cNvSpPr/>
          <p:nvPr/>
        </p:nvSpPr>
        <p:spPr>
          <a:xfrm>
            <a:off x="1474456" y="2450154"/>
            <a:ext cx="2543700" cy="6300"/>
          </a:xfrm>
          <a:prstGeom prst="rect">
            <a:avLst/>
          </a:prstGeom>
          <a:solidFill>
            <a:srgbClr val="4A3A28"/>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96" name="Google Shape;896;p22"/>
          <p:cNvSpPr/>
          <p:nvPr/>
        </p:nvSpPr>
        <p:spPr>
          <a:xfrm>
            <a:off x="1575327" y="2207433"/>
            <a:ext cx="2418600" cy="192300"/>
          </a:xfrm>
          <a:prstGeom prst="rect">
            <a:avLst/>
          </a:prstGeom>
          <a:noFill/>
          <a:ln>
            <a:noFill/>
          </a:ln>
        </p:spPr>
        <p:txBody>
          <a:bodyPr anchorCtr="0" anchor="ctr" bIns="16825" lIns="16825" spcFirstLastPara="1" rIns="16825" wrap="square" tIns="16825">
            <a:noAutofit/>
          </a:bodyPr>
          <a:lstStyle/>
          <a:p>
            <a:pPr indent="0" lvl="0" marL="0" marR="0" rtl="0" algn="l">
              <a:spcBef>
                <a:spcPts val="0"/>
              </a:spcBef>
              <a:spcAft>
                <a:spcPts val="0"/>
              </a:spcAft>
              <a:buClr>
                <a:srgbClr val="8A7A64"/>
              </a:buClr>
              <a:buSzPts val="1191"/>
              <a:buFont typeface="Times New Roman"/>
              <a:buNone/>
            </a:pPr>
            <a:r>
              <a:rPr b="1" i="0" lang="en" sz="1191" u="none" cap="none" strike="noStrike">
                <a:solidFill>
                  <a:srgbClr val="8A7A64"/>
                </a:solidFill>
                <a:latin typeface="Calibri"/>
                <a:ea typeface="Calibri"/>
                <a:cs typeface="Calibri"/>
                <a:sym typeface="Calibri"/>
              </a:rPr>
              <a:t>METHOD</a:t>
            </a:r>
            <a:endParaRPr i="0" sz="1191" u="none" cap="none" strike="noStrike">
              <a:solidFill>
                <a:schemeClr val="dk1"/>
              </a:solidFill>
              <a:latin typeface="Calibri"/>
              <a:ea typeface="Calibri"/>
              <a:cs typeface="Calibri"/>
              <a:sym typeface="Calibri"/>
            </a:endParaRPr>
          </a:p>
        </p:txBody>
      </p:sp>
      <p:sp>
        <p:nvSpPr>
          <p:cNvPr id="897" name="Google Shape;897;p22"/>
          <p:cNvSpPr/>
          <p:nvPr/>
        </p:nvSpPr>
        <p:spPr>
          <a:xfrm>
            <a:off x="4018291" y="2450154"/>
            <a:ext cx="1158000" cy="6300"/>
          </a:xfrm>
          <a:prstGeom prst="rect">
            <a:avLst/>
          </a:prstGeom>
          <a:solidFill>
            <a:srgbClr val="4A3A28"/>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898" name="Google Shape;898;p22"/>
          <p:cNvSpPr/>
          <p:nvPr/>
        </p:nvSpPr>
        <p:spPr>
          <a:xfrm>
            <a:off x="4068727" y="2207433"/>
            <a:ext cx="1006500" cy="1923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8A7A64"/>
              </a:buClr>
              <a:buSzPts val="1191"/>
              <a:buFont typeface="Times New Roman"/>
              <a:buNone/>
            </a:pPr>
            <a:r>
              <a:rPr b="1" i="0" lang="en" sz="1191" u="none" cap="none" strike="noStrike">
                <a:solidFill>
                  <a:srgbClr val="8A7A64"/>
                </a:solidFill>
                <a:latin typeface="Calibri"/>
                <a:ea typeface="Calibri"/>
                <a:cs typeface="Calibri"/>
                <a:sym typeface="Calibri"/>
              </a:rPr>
              <a:t>K=25%</a:t>
            </a:r>
            <a:endParaRPr i="0" sz="1191" u="none" cap="none" strike="noStrike">
              <a:solidFill>
                <a:schemeClr val="dk1"/>
              </a:solidFill>
              <a:latin typeface="Calibri"/>
              <a:ea typeface="Calibri"/>
              <a:cs typeface="Calibri"/>
              <a:sym typeface="Calibri"/>
            </a:endParaRPr>
          </a:p>
        </p:txBody>
      </p:sp>
      <p:sp>
        <p:nvSpPr>
          <p:cNvPr id="899" name="Google Shape;899;p22"/>
          <p:cNvSpPr/>
          <p:nvPr/>
        </p:nvSpPr>
        <p:spPr>
          <a:xfrm>
            <a:off x="5176138" y="2450154"/>
            <a:ext cx="1158000" cy="6300"/>
          </a:xfrm>
          <a:prstGeom prst="rect">
            <a:avLst/>
          </a:prstGeom>
          <a:solidFill>
            <a:srgbClr val="4A3A28"/>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00" name="Google Shape;900;p22"/>
          <p:cNvSpPr/>
          <p:nvPr/>
        </p:nvSpPr>
        <p:spPr>
          <a:xfrm>
            <a:off x="5226573" y="2207433"/>
            <a:ext cx="1006500" cy="1923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8A7A64"/>
              </a:buClr>
              <a:buSzPts val="1191"/>
              <a:buFont typeface="Times New Roman"/>
              <a:buNone/>
            </a:pPr>
            <a:r>
              <a:rPr b="1" i="0" lang="en" sz="1191" u="none" cap="none" strike="noStrike">
                <a:solidFill>
                  <a:srgbClr val="8A7A64"/>
                </a:solidFill>
                <a:latin typeface="Calibri"/>
                <a:ea typeface="Calibri"/>
                <a:cs typeface="Calibri"/>
                <a:sym typeface="Calibri"/>
              </a:rPr>
              <a:t>K=50%</a:t>
            </a:r>
            <a:endParaRPr i="0" sz="1191" u="none" cap="none" strike="noStrike">
              <a:solidFill>
                <a:schemeClr val="dk1"/>
              </a:solidFill>
              <a:latin typeface="Calibri"/>
              <a:ea typeface="Calibri"/>
              <a:cs typeface="Calibri"/>
              <a:sym typeface="Calibri"/>
            </a:endParaRPr>
          </a:p>
        </p:txBody>
      </p:sp>
      <p:sp>
        <p:nvSpPr>
          <p:cNvPr id="901" name="Google Shape;901;p22"/>
          <p:cNvSpPr/>
          <p:nvPr/>
        </p:nvSpPr>
        <p:spPr>
          <a:xfrm>
            <a:off x="6333985" y="2450154"/>
            <a:ext cx="1158000" cy="6300"/>
          </a:xfrm>
          <a:prstGeom prst="rect">
            <a:avLst/>
          </a:prstGeom>
          <a:solidFill>
            <a:srgbClr val="4A3A28"/>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02" name="Google Shape;902;p22"/>
          <p:cNvSpPr/>
          <p:nvPr/>
        </p:nvSpPr>
        <p:spPr>
          <a:xfrm>
            <a:off x="6384420" y="2207433"/>
            <a:ext cx="1006500" cy="1923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8A7A64"/>
              </a:buClr>
              <a:buSzPts val="1191"/>
              <a:buFont typeface="Times New Roman"/>
              <a:buNone/>
            </a:pPr>
            <a:r>
              <a:rPr b="1" i="0" lang="en" sz="1191" u="none" cap="none" strike="noStrike">
                <a:solidFill>
                  <a:srgbClr val="8A7A64"/>
                </a:solidFill>
                <a:latin typeface="Calibri"/>
                <a:ea typeface="Calibri"/>
                <a:cs typeface="Calibri"/>
                <a:sym typeface="Calibri"/>
              </a:rPr>
              <a:t>K=75%</a:t>
            </a:r>
            <a:endParaRPr i="0" sz="1191" u="none" cap="none" strike="noStrike">
              <a:solidFill>
                <a:schemeClr val="dk1"/>
              </a:solidFill>
              <a:latin typeface="Calibri"/>
              <a:ea typeface="Calibri"/>
              <a:cs typeface="Calibri"/>
              <a:sym typeface="Calibri"/>
            </a:endParaRPr>
          </a:p>
        </p:txBody>
      </p:sp>
      <p:sp>
        <p:nvSpPr>
          <p:cNvPr id="903" name="Google Shape;903;p22"/>
          <p:cNvSpPr/>
          <p:nvPr/>
        </p:nvSpPr>
        <p:spPr>
          <a:xfrm>
            <a:off x="1474456" y="2822117"/>
            <a:ext cx="25437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04" name="Google Shape;904;p22"/>
          <p:cNvSpPr/>
          <p:nvPr/>
        </p:nvSpPr>
        <p:spPr>
          <a:xfrm>
            <a:off x="1575327" y="2532112"/>
            <a:ext cx="2418600" cy="239700"/>
          </a:xfrm>
          <a:prstGeom prst="rect">
            <a:avLst/>
          </a:prstGeom>
          <a:noFill/>
          <a:ln>
            <a:noFill/>
          </a:ln>
        </p:spPr>
        <p:txBody>
          <a:bodyPr anchorCtr="0" anchor="ctr" bIns="16825" lIns="16825" spcFirstLastPara="1" rIns="16825" wrap="square" tIns="16825">
            <a:noAutofit/>
          </a:bodyPr>
          <a:lstStyle/>
          <a:p>
            <a:pPr indent="0" lvl="0" marL="0" marR="0" rtl="0" algn="l">
              <a:spcBef>
                <a:spcPts val="0"/>
              </a:spcBef>
              <a:spcAft>
                <a:spcPts val="0"/>
              </a:spcAft>
              <a:buClr>
                <a:srgbClr val="4A3A28"/>
              </a:buClr>
              <a:buSzPts val="1324"/>
              <a:buFont typeface="Times New Roman"/>
              <a:buNone/>
            </a:pPr>
            <a:r>
              <a:rPr i="1" lang="en" sz="1324" u="none" cap="none" strike="noStrike">
                <a:solidFill>
                  <a:srgbClr val="4A3A28"/>
                </a:solidFill>
                <a:latin typeface="Calibri"/>
                <a:ea typeface="Calibri"/>
                <a:cs typeface="Calibri"/>
                <a:sym typeface="Calibri"/>
              </a:rPr>
              <a:t>Unpruned (576 tokens, K = 100%)</a:t>
            </a:r>
            <a:endParaRPr i="0" sz="1324" u="none" cap="none" strike="noStrike">
              <a:solidFill>
                <a:schemeClr val="dk1"/>
              </a:solidFill>
              <a:latin typeface="Calibri"/>
              <a:ea typeface="Calibri"/>
              <a:cs typeface="Calibri"/>
              <a:sym typeface="Calibri"/>
            </a:endParaRPr>
          </a:p>
        </p:txBody>
      </p:sp>
      <p:sp>
        <p:nvSpPr>
          <p:cNvPr id="905" name="Google Shape;905;p22"/>
          <p:cNvSpPr/>
          <p:nvPr/>
        </p:nvSpPr>
        <p:spPr>
          <a:xfrm>
            <a:off x="4018291" y="2822117"/>
            <a:ext cx="34737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06" name="Google Shape;906;p22"/>
          <p:cNvSpPr/>
          <p:nvPr/>
        </p:nvSpPr>
        <p:spPr>
          <a:xfrm>
            <a:off x="4702275" y="2528500"/>
            <a:ext cx="2793300" cy="243300"/>
          </a:xfrm>
          <a:prstGeom prst="rect">
            <a:avLst/>
          </a:prstGeom>
          <a:noFill/>
          <a:ln>
            <a:noFill/>
          </a:ln>
        </p:spPr>
        <p:txBody>
          <a:bodyPr anchorCtr="0" anchor="ctr" bIns="16825" lIns="16825" spcFirstLastPara="1" rIns="16825" wrap="square" tIns="16825">
            <a:noAutofit/>
          </a:bodyPr>
          <a:lstStyle/>
          <a:p>
            <a:pPr indent="0" lvl="0" marL="0" marR="0" rtl="0" algn="l">
              <a:spcBef>
                <a:spcPts val="0"/>
              </a:spcBef>
              <a:spcAft>
                <a:spcPts val="0"/>
              </a:spcAft>
              <a:buClr>
                <a:srgbClr val="8A7A64"/>
              </a:buClr>
              <a:buSzPts val="1324"/>
              <a:buFont typeface="IBM Plex Mono"/>
              <a:buNone/>
            </a:pPr>
            <a:r>
              <a:rPr i="1" lang="en" sz="1324" u="none" cap="none" strike="noStrike">
                <a:solidFill>
                  <a:srgbClr val="8A7A64"/>
                </a:solidFill>
                <a:latin typeface="Calibri"/>
                <a:ea typeface="Calibri"/>
                <a:cs typeface="Calibri"/>
                <a:sym typeface="Calibri"/>
              </a:rPr>
              <a:t>36.7</a:t>
            </a:r>
            <a:endParaRPr i="0" sz="1324" u="none" cap="none" strike="noStrike">
              <a:solidFill>
                <a:schemeClr val="dk1"/>
              </a:solidFill>
              <a:latin typeface="Calibri"/>
              <a:ea typeface="Calibri"/>
              <a:cs typeface="Calibri"/>
              <a:sym typeface="Calibri"/>
            </a:endParaRPr>
          </a:p>
        </p:txBody>
      </p:sp>
      <p:sp>
        <p:nvSpPr>
          <p:cNvPr id="907" name="Google Shape;907;p22"/>
          <p:cNvSpPr/>
          <p:nvPr/>
        </p:nvSpPr>
        <p:spPr>
          <a:xfrm>
            <a:off x="1474456" y="3194080"/>
            <a:ext cx="25437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08" name="Google Shape;908;p22"/>
          <p:cNvSpPr/>
          <p:nvPr/>
        </p:nvSpPr>
        <p:spPr>
          <a:xfrm>
            <a:off x="1575327" y="2904075"/>
            <a:ext cx="2418600" cy="239700"/>
          </a:xfrm>
          <a:prstGeom prst="rect">
            <a:avLst/>
          </a:prstGeom>
          <a:noFill/>
          <a:ln>
            <a:noFill/>
          </a:ln>
        </p:spPr>
        <p:txBody>
          <a:bodyPr anchorCtr="0" anchor="ctr" bIns="16825" lIns="16825" spcFirstLastPara="1" rIns="16825" wrap="square" tIns="16825">
            <a:noAutofit/>
          </a:bodyPr>
          <a:lstStyle/>
          <a:p>
            <a:pPr indent="0" lvl="0" marL="0" marR="0" rtl="0" algn="l">
              <a:spcBef>
                <a:spcPts val="0"/>
              </a:spcBef>
              <a:spcAft>
                <a:spcPts val="0"/>
              </a:spcAft>
              <a:buClr>
                <a:srgbClr val="1A140C"/>
              </a:buClr>
              <a:buSzPts val="1324"/>
              <a:buFont typeface="Times New Roman"/>
              <a:buNone/>
            </a:pPr>
            <a:r>
              <a:rPr i="1" lang="en" sz="1324" u="none" cap="none" strike="noStrike">
                <a:solidFill>
                  <a:srgbClr val="1A140C"/>
                </a:solidFill>
                <a:latin typeface="Calibri"/>
                <a:ea typeface="Calibri"/>
                <a:cs typeface="Calibri"/>
                <a:sym typeface="Calibri"/>
              </a:rPr>
              <a:t>Random</a:t>
            </a:r>
            <a:endParaRPr i="0" sz="1324" u="none" cap="none" strike="noStrike">
              <a:solidFill>
                <a:schemeClr val="dk1"/>
              </a:solidFill>
              <a:latin typeface="Calibri"/>
              <a:ea typeface="Calibri"/>
              <a:cs typeface="Calibri"/>
              <a:sym typeface="Calibri"/>
            </a:endParaRPr>
          </a:p>
        </p:txBody>
      </p:sp>
      <p:sp>
        <p:nvSpPr>
          <p:cNvPr id="909" name="Google Shape;909;p22"/>
          <p:cNvSpPr/>
          <p:nvPr/>
        </p:nvSpPr>
        <p:spPr>
          <a:xfrm>
            <a:off x="4018291" y="3194080"/>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10" name="Google Shape;910;p22"/>
          <p:cNvSpPr/>
          <p:nvPr/>
        </p:nvSpPr>
        <p:spPr>
          <a:xfrm>
            <a:off x="4068727" y="2904075"/>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1A140C"/>
              </a:buClr>
              <a:buSzPts val="1324"/>
              <a:buFont typeface="IBM Plex Mono"/>
              <a:buNone/>
            </a:pPr>
            <a:r>
              <a:rPr i="0" lang="en" sz="1324" u="none" cap="none" strike="noStrike">
                <a:solidFill>
                  <a:srgbClr val="1A140C"/>
                </a:solidFill>
                <a:latin typeface="Calibri"/>
                <a:ea typeface="Calibri"/>
                <a:cs typeface="Calibri"/>
                <a:sym typeface="Calibri"/>
              </a:rPr>
              <a:t>23.7</a:t>
            </a:r>
            <a:endParaRPr i="0" sz="1324" u="none" cap="none" strike="noStrike">
              <a:solidFill>
                <a:schemeClr val="dk1"/>
              </a:solidFill>
              <a:latin typeface="Calibri"/>
              <a:ea typeface="Calibri"/>
              <a:cs typeface="Calibri"/>
              <a:sym typeface="Calibri"/>
            </a:endParaRPr>
          </a:p>
        </p:txBody>
      </p:sp>
      <p:sp>
        <p:nvSpPr>
          <p:cNvPr id="911" name="Google Shape;911;p22"/>
          <p:cNvSpPr/>
          <p:nvPr/>
        </p:nvSpPr>
        <p:spPr>
          <a:xfrm>
            <a:off x="5176138" y="3194080"/>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12" name="Google Shape;912;p22"/>
          <p:cNvSpPr/>
          <p:nvPr/>
        </p:nvSpPr>
        <p:spPr>
          <a:xfrm>
            <a:off x="5226573" y="2904075"/>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1A140C"/>
              </a:buClr>
              <a:buSzPts val="1324"/>
              <a:buFont typeface="IBM Plex Mono"/>
              <a:buNone/>
            </a:pPr>
            <a:r>
              <a:rPr i="0" lang="en" sz="1324" u="none" cap="none" strike="noStrike">
                <a:solidFill>
                  <a:srgbClr val="1A140C"/>
                </a:solidFill>
                <a:latin typeface="Calibri"/>
                <a:ea typeface="Calibri"/>
                <a:cs typeface="Calibri"/>
                <a:sym typeface="Calibri"/>
              </a:rPr>
              <a:t>30.7</a:t>
            </a:r>
            <a:endParaRPr i="0" sz="1324" u="none" cap="none" strike="noStrike">
              <a:solidFill>
                <a:schemeClr val="dk1"/>
              </a:solidFill>
              <a:latin typeface="Calibri"/>
              <a:ea typeface="Calibri"/>
              <a:cs typeface="Calibri"/>
              <a:sym typeface="Calibri"/>
            </a:endParaRPr>
          </a:p>
        </p:txBody>
      </p:sp>
      <p:sp>
        <p:nvSpPr>
          <p:cNvPr id="913" name="Google Shape;913;p22"/>
          <p:cNvSpPr/>
          <p:nvPr/>
        </p:nvSpPr>
        <p:spPr>
          <a:xfrm>
            <a:off x="6333985" y="3194080"/>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14" name="Google Shape;914;p22"/>
          <p:cNvSpPr/>
          <p:nvPr/>
        </p:nvSpPr>
        <p:spPr>
          <a:xfrm>
            <a:off x="6384420" y="2904075"/>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1A140C"/>
              </a:buClr>
              <a:buSzPts val="1324"/>
              <a:buFont typeface="IBM Plex Mono"/>
              <a:buNone/>
            </a:pPr>
            <a:r>
              <a:rPr i="0" lang="en" sz="1324" u="none" cap="none" strike="noStrike">
                <a:solidFill>
                  <a:srgbClr val="1A140C"/>
                </a:solidFill>
                <a:latin typeface="Calibri"/>
                <a:ea typeface="Calibri"/>
                <a:cs typeface="Calibri"/>
                <a:sym typeface="Calibri"/>
              </a:rPr>
              <a:t>32.0</a:t>
            </a:r>
            <a:endParaRPr i="0" sz="1324" u="none" cap="none" strike="noStrike">
              <a:solidFill>
                <a:schemeClr val="dk1"/>
              </a:solidFill>
              <a:latin typeface="Calibri"/>
              <a:ea typeface="Calibri"/>
              <a:cs typeface="Calibri"/>
              <a:sym typeface="Calibri"/>
            </a:endParaRPr>
          </a:p>
        </p:txBody>
      </p:sp>
      <p:sp>
        <p:nvSpPr>
          <p:cNvPr id="915" name="Google Shape;915;p22"/>
          <p:cNvSpPr/>
          <p:nvPr/>
        </p:nvSpPr>
        <p:spPr>
          <a:xfrm>
            <a:off x="1474456" y="3566043"/>
            <a:ext cx="25437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16" name="Google Shape;916;p22"/>
          <p:cNvSpPr/>
          <p:nvPr/>
        </p:nvSpPr>
        <p:spPr>
          <a:xfrm>
            <a:off x="1575327" y="3276038"/>
            <a:ext cx="2418600" cy="239700"/>
          </a:xfrm>
          <a:prstGeom prst="rect">
            <a:avLst/>
          </a:prstGeom>
          <a:noFill/>
          <a:ln>
            <a:noFill/>
          </a:ln>
        </p:spPr>
        <p:txBody>
          <a:bodyPr anchorCtr="0" anchor="ctr" bIns="16825" lIns="16825" spcFirstLastPara="1" rIns="16825" wrap="square" tIns="16825">
            <a:noAutofit/>
          </a:bodyPr>
          <a:lstStyle/>
          <a:p>
            <a:pPr indent="0" lvl="0" marL="0" marR="0" rtl="0" algn="l">
              <a:spcBef>
                <a:spcPts val="0"/>
              </a:spcBef>
              <a:spcAft>
                <a:spcPts val="0"/>
              </a:spcAft>
              <a:buClr>
                <a:srgbClr val="1A140C"/>
              </a:buClr>
              <a:buSzPts val="1324"/>
              <a:buFont typeface="Times New Roman"/>
              <a:buNone/>
            </a:pPr>
            <a:r>
              <a:rPr i="1" lang="en" sz="1324" u="none" cap="none" strike="noStrike">
                <a:solidFill>
                  <a:srgbClr val="1A140C"/>
                </a:solidFill>
                <a:latin typeface="Calibri"/>
                <a:ea typeface="Calibri"/>
                <a:cs typeface="Calibri"/>
                <a:sym typeface="Calibri"/>
              </a:rPr>
              <a:t>PAPIT-CLIP</a:t>
            </a:r>
            <a:endParaRPr i="0" sz="1324" u="none" cap="none" strike="noStrike">
              <a:solidFill>
                <a:schemeClr val="dk1"/>
              </a:solidFill>
              <a:latin typeface="Calibri"/>
              <a:ea typeface="Calibri"/>
              <a:cs typeface="Calibri"/>
              <a:sym typeface="Calibri"/>
            </a:endParaRPr>
          </a:p>
        </p:txBody>
      </p:sp>
      <p:sp>
        <p:nvSpPr>
          <p:cNvPr id="917" name="Google Shape;917;p22"/>
          <p:cNvSpPr/>
          <p:nvPr/>
        </p:nvSpPr>
        <p:spPr>
          <a:xfrm>
            <a:off x="4018291" y="3566043"/>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18" name="Google Shape;918;p22"/>
          <p:cNvSpPr/>
          <p:nvPr/>
        </p:nvSpPr>
        <p:spPr>
          <a:xfrm>
            <a:off x="4068727" y="3276038"/>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1A140C"/>
              </a:buClr>
              <a:buSzPts val="1324"/>
              <a:buFont typeface="IBM Plex Mono"/>
              <a:buNone/>
            </a:pPr>
            <a:r>
              <a:rPr i="0" lang="en" sz="1324" u="none" cap="none" strike="noStrike">
                <a:solidFill>
                  <a:srgbClr val="1A140C"/>
                </a:solidFill>
                <a:latin typeface="Calibri"/>
                <a:ea typeface="Calibri"/>
                <a:cs typeface="Calibri"/>
                <a:sym typeface="Calibri"/>
              </a:rPr>
              <a:t>20.0</a:t>
            </a:r>
            <a:endParaRPr i="0" sz="1324" u="none" cap="none" strike="noStrike">
              <a:solidFill>
                <a:schemeClr val="dk1"/>
              </a:solidFill>
              <a:latin typeface="Calibri"/>
              <a:ea typeface="Calibri"/>
              <a:cs typeface="Calibri"/>
              <a:sym typeface="Calibri"/>
            </a:endParaRPr>
          </a:p>
        </p:txBody>
      </p:sp>
      <p:sp>
        <p:nvSpPr>
          <p:cNvPr id="919" name="Google Shape;919;p22"/>
          <p:cNvSpPr/>
          <p:nvPr/>
        </p:nvSpPr>
        <p:spPr>
          <a:xfrm>
            <a:off x="5176138" y="3566043"/>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20" name="Google Shape;920;p22"/>
          <p:cNvSpPr/>
          <p:nvPr/>
        </p:nvSpPr>
        <p:spPr>
          <a:xfrm>
            <a:off x="5226573" y="3276038"/>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1A140C"/>
              </a:buClr>
              <a:buSzPts val="1324"/>
              <a:buFont typeface="IBM Plex Mono"/>
              <a:buNone/>
            </a:pPr>
            <a:r>
              <a:rPr i="0" lang="en" sz="1324" u="none" cap="none" strike="noStrike">
                <a:solidFill>
                  <a:srgbClr val="1A140C"/>
                </a:solidFill>
                <a:latin typeface="Calibri"/>
                <a:ea typeface="Calibri"/>
                <a:cs typeface="Calibri"/>
                <a:sym typeface="Calibri"/>
              </a:rPr>
              <a:t>28.3</a:t>
            </a:r>
            <a:endParaRPr i="0" sz="1324" u="none" cap="none" strike="noStrike">
              <a:solidFill>
                <a:schemeClr val="dk1"/>
              </a:solidFill>
              <a:latin typeface="Calibri"/>
              <a:ea typeface="Calibri"/>
              <a:cs typeface="Calibri"/>
              <a:sym typeface="Calibri"/>
            </a:endParaRPr>
          </a:p>
        </p:txBody>
      </p:sp>
      <p:sp>
        <p:nvSpPr>
          <p:cNvPr id="921" name="Google Shape;921;p22"/>
          <p:cNvSpPr/>
          <p:nvPr/>
        </p:nvSpPr>
        <p:spPr>
          <a:xfrm>
            <a:off x="6333985" y="3566043"/>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22" name="Google Shape;922;p22"/>
          <p:cNvSpPr/>
          <p:nvPr/>
        </p:nvSpPr>
        <p:spPr>
          <a:xfrm>
            <a:off x="6384420" y="3276038"/>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1A140C"/>
              </a:buClr>
              <a:buSzPts val="1324"/>
              <a:buFont typeface="IBM Plex Mono"/>
              <a:buNone/>
            </a:pPr>
            <a:r>
              <a:rPr i="0" lang="en" sz="1324" u="none" cap="none" strike="noStrike">
                <a:solidFill>
                  <a:srgbClr val="1A140C"/>
                </a:solidFill>
                <a:latin typeface="Calibri"/>
                <a:ea typeface="Calibri"/>
                <a:cs typeface="Calibri"/>
                <a:sym typeface="Calibri"/>
              </a:rPr>
              <a:t>31.7</a:t>
            </a:r>
            <a:endParaRPr i="0" sz="1324" u="none" cap="none" strike="noStrike">
              <a:solidFill>
                <a:schemeClr val="dk1"/>
              </a:solidFill>
              <a:latin typeface="Calibri"/>
              <a:ea typeface="Calibri"/>
              <a:cs typeface="Calibri"/>
              <a:sym typeface="Calibri"/>
            </a:endParaRPr>
          </a:p>
        </p:txBody>
      </p:sp>
      <p:sp>
        <p:nvSpPr>
          <p:cNvPr id="923" name="Google Shape;923;p22"/>
          <p:cNvSpPr/>
          <p:nvPr/>
        </p:nvSpPr>
        <p:spPr>
          <a:xfrm>
            <a:off x="1474456" y="3938006"/>
            <a:ext cx="25437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24" name="Google Shape;924;p22"/>
          <p:cNvSpPr/>
          <p:nvPr/>
        </p:nvSpPr>
        <p:spPr>
          <a:xfrm>
            <a:off x="1575327" y="3648001"/>
            <a:ext cx="2418600" cy="239700"/>
          </a:xfrm>
          <a:prstGeom prst="rect">
            <a:avLst/>
          </a:prstGeom>
          <a:noFill/>
          <a:ln>
            <a:noFill/>
          </a:ln>
        </p:spPr>
        <p:txBody>
          <a:bodyPr anchorCtr="0" anchor="ctr" bIns="16825" lIns="16825" spcFirstLastPara="1" rIns="16825" wrap="square" tIns="16825">
            <a:noAutofit/>
          </a:bodyPr>
          <a:lstStyle/>
          <a:p>
            <a:pPr indent="0" lvl="0" marL="0" marR="0" rtl="0" algn="l">
              <a:spcBef>
                <a:spcPts val="0"/>
              </a:spcBef>
              <a:spcAft>
                <a:spcPts val="0"/>
              </a:spcAft>
              <a:buClr>
                <a:srgbClr val="7A1F10"/>
              </a:buClr>
              <a:buSzPts val="1324"/>
              <a:buFont typeface="Times New Roman"/>
              <a:buNone/>
            </a:pPr>
            <a:r>
              <a:rPr b="1" i="1" lang="en" sz="1324" u="none" cap="none" strike="noStrike">
                <a:solidFill>
                  <a:srgbClr val="7A1F10"/>
                </a:solidFill>
                <a:latin typeface="Calibri"/>
                <a:ea typeface="Calibri"/>
                <a:cs typeface="Calibri"/>
                <a:sym typeface="Calibri"/>
              </a:rPr>
              <a:t>PAPIT-Distill</a:t>
            </a:r>
            <a:endParaRPr i="0" sz="1324" u="none" cap="none" strike="noStrike">
              <a:solidFill>
                <a:schemeClr val="dk1"/>
              </a:solidFill>
              <a:latin typeface="Calibri"/>
              <a:ea typeface="Calibri"/>
              <a:cs typeface="Calibri"/>
              <a:sym typeface="Calibri"/>
            </a:endParaRPr>
          </a:p>
        </p:txBody>
      </p:sp>
      <p:sp>
        <p:nvSpPr>
          <p:cNvPr id="925" name="Google Shape;925;p22"/>
          <p:cNvSpPr/>
          <p:nvPr/>
        </p:nvSpPr>
        <p:spPr>
          <a:xfrm>
            <a:off x="4018291" y="3938006"/>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26" name="Google Shape;926;p22"/>
          <p:cNvSpPr/>
          <p:nvPr/>
        </p:nvSpPr>
        <p:spPr>
          <a:xfrm>
            <a:off x="4068727" y="3648001"/>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7A1F10"/>
              </a:buClr>
              <a:buSzPts val="1324"/>
              <a:buFont typeface="IBM Plex Mono"/>
              <a:buNone/>
            </a:pPr>
            <a:r>
              <a:rPr b="1" i="0" lang="en" sz="1324" u="none" cap="none" strike="noStrike">
                <a:solidFill>
                  <a:srgbClr val="7A1F10"/>
                </a:solidFill>
                <a:latin typeface="Calibri"/>
                <a:ea typeface="Calibri"/>
                <a:cs typeface="Calibri"/>
                <a:sym typeface="Calibri"/>
              </a:rPr>
              <a:t>36.0</a:t>
            </a:r>
            <a:endParaRPr i="0" sz="1324" u="none" cap="none" strike="noStrike">
              <a:solidFill>
                <a:schemeClr val="dk1"/>
              </a:solidFill>
              <a:latin typeface="Calibri"/>
              <a:ea typeface="Calibri"/>
              <a:cs typeface="Calibri"/>
              <a:sym typeface="Calibri"/>
            </a:endParaRPr>
          </a:p>
        </p:txBody>
      </p:sp>
      <p:sp>
        <p:nvSpPr>
          <p:cNvPr id="927" name="Google Shape;927;p22"/>
          <p:cNvSpPr/>
          <p:nvPr/>
        </p:nvSpPr>
        <p:spPr>
          <a:xfrm>
            <a:off x="5176138" y="3938006"/>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28" name="Google Shape;928;p22"/>
          <p:cNvSpPr/>
          <p:nvPr/>
        </p:nvSpPr>
        <p:spPr>
          <a:xfrm>
            <a:off x="5226573" y="3648001"/>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7A1F10"/>
              </a:buClr>
              <a:buSzPts val="1324"/>
              <a:buFont typeface="IBM Plex Mono"/>
              <a:buNone/>
            </a:pPr>
            <a:r>
              <a:rPr b="1" i="0" lang="en" sz="1324" u="none" cap="none" strike="noStrike">
                <a:solidFill>
                  <a:srgbClr val="7A1F10"/>
                </a:solidFill>
                <a:latin typeface="Calibri"/>
                <a:ea typeface="Calibri"/>
                <a:cs typeface="Calibri"/>
                <a:sym typeface="Calibri"/>
              </a:rPr>
              <a:t>36.0</a:t>
            </a:r>
            <a:endParaRPr i="0" sz="1324" u="none" cap="none" strike="noStrike">
              <a:solidFill>
                <a:schemeClr val="dk1"/>
              </a:solidFill>
              <a:latin typeface="Calibri"/>
              <a:ea typeface="Calibri"/>
              <a:cs typeface="Calibri"/>
              <a:sym typeface="Calibri"/>
            </a:endParaRPr>
          </a:p>
        </p:txBody>
      </p:sp>
      <p:sp>
        <p:nvSpPr>
          <p:cNvPr id="929" name="Google Shape;929;p22"/>
          <p:cNvSpPr/>
          <p:nvPr/>
        </p:nvSpPr>
        <p:spPr>
          <a:xfrm>
            <a:off x="6333985" y="3938006"/>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30" name="Google Shape;930;p22"/>
          <p:cNvSpPr/>
          <p:nvPr/>
        </p:nvSpPr>
        <p:spPr>
          <a:xfrm>
            <a:off x="6384420" y="3648001"/>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7A1F10"/>
              </a:buClr>
              <a:buSzPts val="1324"/>
              <a:buFont typeface="IBM Plex Mono"/>
              <a:buNone/>
            </a:pPr>
            <a:r>
              <a:rPr b="1" i="0" lang="en" sz="1324" u="none" cap="none" strike="noStrike">
                <a:solidFill>
                  <a:srgbClr val="7A1F10"/>
                </a:solidFill>
                <a:latin typeface="Calibri"/>
                <a:ea typeface="Calibri"/>
                <a:cs typeface="Calibri"/>
                <a:sym typeface="Calibri"/>
              </a:rPr>
              <a:t>33.3</a:t>
            </a:r>
            <a:endParaRPr i="0" sz="1324" u="none" cap="none" strike="noStrike">
              <a:solidFill>
                <a:schemeClr val="dk1"/>
              </a:solidFill>
              <a:latin typeface="Calibri"/>
              <a:ea typeface="Calibri"/>
              <a:cs typeface="Calibri"/>
              <a:sym typeface="Calibri"/>
            </a:endParaRPr>
          </a:p>
        </p:txBody>
      </p:sp>
      <p:sp>
        <p:nvSpPr>
          <p:cNvPr id="931" name="Google Shape;931;p22"/>
          <p:cNvSpPr/>
          <p:nvPr/>
        </p:nvSpPr>
        <p:spPr>
          <a:xfrm>
            <a:off x="2363375" y="4027666"/>
            <a:ext cx="6198000" cy="243300"/>
          </a:xfrm>
          <a:prstGeom prst="rect">
            <a:avLst/>
          </a:prstGeom>
          <a:noFill/>
          <a:ln>
            <a:noFill/>
          </a:ln>
        </p:spPr>
        <p:txBody>
          <a:bodyPr anchorCtr="0" anchor="t" bIns="16825" lIns="16825" spcFirstLastPara="1" rIns="16825" wrap="square" tIns="16825">
            <a:noAutofit/>
          </a:bodyPr>
          <a:lstStyle/>
          <a:p>
            <a:pPr indent="0" lvl="0" marL="0" marR="0" rtl="0" algn="l">
              <a:lnSpc>
                <a:spcPct val="140000"/>
              </a:lnSpc>
              <a:spcBef>
                <a:spcPts val="0"/>
              </a:spcBef>
              <a:spcAft>
                <a:spcPts val="0"/>
              </a:spcAft>
              <a:buClr>
                <a:srgbClr val="7A1F10"/>
              </a:buClr>
              <a:buSzPts val="1191"/>
              <a:buFont typeface="IBM Plex Mono"/>
              <a:buNone/>
            </a:pPr>
            <a:r>
              <a:rPr i="0" lang="en" sz="1191" u="none" cap="none" strike="noStrike">
                <a:solidFill>
                  <a:srgbClr val="7A1F10"/>
                </a:solidFill>
                <a:latin typeface="Calibri"/>
                <a:ea typeface="Calibri"/>
                <a:cs typeface="Calibri"/>
                <a:sym typeface="Calibri"/>
              </a:rPr>
              <a:t>Tab. iii </a:t>
            </a:r>
            <a:r>
              <a:rPr i="1" lang="en" sz="1191" u="none" cap="none" strike="noStrike">
                <a:solidFill>
                  <a:srgbClr val="4A3A28"/>
                </a:solidFill>
                <a:latin typeface="Calibri"/>
                <a:ea typeface="Calibri"/>
                <a:cs typeface="Calibri"/>
                <a:sym typeface="Calibri"/>
              </a:rPr>
              <a:t>TextVQA val, soft-accuracy, n = 100. PAPIT-Distill in scarlet.</a:t>
            </a:r>
            <a:endParaRPr i="0" sz="1191" u="none" cap="none" strike="noStrike">
              <a:solidFill>
                <a:schemeClr val="dk1"/>
              </a:solidFill>
              <a:latin typeface="Calibri"/>
              <a:ea typeface="Calibri"/>
              <a:cs typeface="Calibri"/>
              <a:sym typeface="Calibri"/>
            </a:endParaRPr>
          </a:p>
        </p:txBody>
      </p:sp>
      <p:sp>
        <p:nvSpPr>
          <p:cNvPr id="932" name="Google Shape;932;p22"/>
          <p:cNvSpPr/>
          <p:nvPr/>
        </p:nvSpPr>
        <p:spPr>
          <a:xfrm>
            <a:off x="476250" y="4643438"/>
            <a:ext cx="8191500" cy="4763"/>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33" name="Google Shape;933;p22"/>
          <p:cNvSpPr/>
          <p:nvPr/>
        </p:nvSpPr>
        <p:spPr>
          <a:xfrm>
            <a:off x="476250" y="4743450"/>
            <a:ext cx="1375728" cy="1476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i="1" lang="en" sz="900" u="none" cap="none" strike="noStrike">
                <a:solidFill>
                  <a:srgbClr val="8A7A64"/>
                </a:solidFill>
                <a:latin typeface="Calibri"/>
                <a:ea typeface="Calibri"/>
                <a:cs typeface="Calibri"/>
                <a:sym typeface="Calibri"/>
              </a:rPr>
              <a:t>PAPIT · an essay in pruning</a:t>
            </a:r>
            <a:endParaRPr i="0" sz="900" u="none" cap="none" strike="noStrike">
              <a:solidFill>
                <a:schemeClr val="dk1"/>
              </a:solidFill>
              <a:latin typeface="Calibri"/>
              <a:ea typeface="Calibri"/>
              <a:cs typeface="Calibri"/>
              <a:sym typeface="Calibri"/>
            </a:endParaRPr>
          </a:p>
        </p:txBody>
      </p:sp>
      <p:sp>
        <p:nvSpPr>
          <p:cNvPr id="934" name="Google Shape;934;p22"/>
          <p:cNvSpPr/>
          <p:nvPr/>
        </p:nvSpPr>
        <p:spPr>
          <a:xfrm>
            <a:off x="7947645" y="4724400"/>
            <a:ext cx="758205" cy="1714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IBM Plex Mono"/>
              <a:buNone/>
            </a:pPr>
            <a:r>
              <a:rPr i="0" lang="en" sz="900" u="none" cap="none" strike="noStrike">
                <a:solidFill>
                  <a:srgbClr val="8A7A64"/>
                </a:solidFill>
                <a:latin typeface="Calibri"/>
                <a:ea typeface="Calibri"/>
                <a:cs typeface="Calibri"/>
                <a:sym typeface="Calibri"/>
              </a:rPr>
              <a:t>08 / 10</a:t>
            </a:r>
            <a:endParaRPr i="0" sz="900" u="none" cap="none" strike="noStrike">
              <a:solidFill>
                <a:schemeClr val="dk1"/>
              </a:solidFill>
              <a:latin typeface="Calibri"/>
              <a:ea typeface="Calibri"/>
              <a:cs typeface="Calibri"/>
              <a:sym typeface="Calibri"/>
            </a:endParaRPr>
          </a:p>
        </p:txBody>
      </p:sp>
      <p:sp>
        <p:nvSpPr>
          <p:cNvPr id="935" name="Google Shape;935;p22"/>
          <p:cNvSpPr/>
          <p:nvPr/>
        </p:nvSpPr>
        <p:spPr>
          <a:xfrm>
            <a:off x="447975" y="824250"/>
            <a:ext cx="2793300" cy="480600"/>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A140C"/>
              </a:buClr>
              <a:buSzPts val="3000"/>
              <a:buFont typeface="Times New Roman"/>
              <a:buNone/>
            </a:pPr>
            <a:r>
              <a:rPr lang="en" sz="3000">
                <a:solidFill>
                  <a:srgbClr val="1A140C"/>
                </a:solidFill>
                <a:latin typeface="Calibri"/>
                <a:ea typeface="Calibri"/>
                <a:cs typeface="Calibri"/>
                <a:sym typeface="Calibri"/>
              </a:rPr>
              <a:t>Result: Accuracy</a:t>
            </a:r>
            <a:endParaRPr i="0" sz="3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0" name="Shape 940"/>
        <p:cNvGrpSpPr/>
        <p:nvPr/>
      </p:nvGrpSpPr>
      <p:grpSpPr>
        <a:xfrm>
          <a:off x="0" y="0"/>
          <a:ext cx="0" cy="0"/>
          <a:chOff x="0" y="0"/>
          <a:chExt cx="0" cy="0"/>
        </a:xfrm>
      </p:grpSpPr>
      <p:sp>
        <p:nvSpPr>
          <p:cNvPr id="941" name="Google Shape;941;p23"/>
          <p:cNvSpPr/>
          <p:nvPr/>
        </p:nvSpPr>
        <p:spPr>
          <a:xfrm>
            <a:off x="476250" y="485775"/>
            <a:ext cx="8191500" cy="4800"/>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42" name="Google Shape;942;p23"/>
          <p:cNvSpPr/>
          <p:nvPr/>
        </p:nvSpPr>
        <p:spPr>
          <a:xfrm>
            <a:off x="476250" y="276225"/>
            <a:ext cx="15954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lang="en" sz="1200">
                <a:solidFill>
                  <a:srgbClr val="8A7A64"/>
                </a:solidFill>
                <a:latin typeface="Calibri"/>
                <a:ea typeface="Calibri"/>
                <a:cs typeface="Calibri"/>
                <a:sym typeface="Calibri"/>
              </a:rPr>
              <a:t>Result - PAPIT-Distill</a:t>
            </a:r>
            <a:endParaRPr i="0" sz="1200" u="none" cap="none" strike="noStrike">
              <a:solidFill>
                <a:schemeClr val="dk1"/>
              </a:solidFill>
              <a:latin typeface="Calibri"/>
              <a:ea typeface="Calibri"/>
              <a:cs typeface="Calibri"/>
              <a:sym typeface="Calibri"/>
            </a:endParaRPr>
          </a:p>
        </p:txBody>
      </p:sp>
      <p:sp>
        <p:nvSpPr>
          <p:cNvPr id="943" name="Google Shape;943;p23"/>
          <p:cNvSpPr/>
          <p:nvPr/>
        </p:nvSpPr>
        <p:spPr>
          <a:xfrm>
            <a:off x="476225" y="1302075"/>
            <a:ext cx="8191500" cy="418500"/>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A140C"/>
              </a:buClr>
              <a:buSzPts val="2300"/>
              <a:buFont typeface="Times New Roman"/>
              <a:buNone/>
            </a:pPr>
            <a:r>
              <a:rPr i="0" lang="en" sz="2300" u="none" cap="none" strike="noStrike">
                <a:solidFill>
                  <a:srgbClr val="1A140C"/>
                </a:solidFill>
                <a:latin typeface="Calibri"/>
                <a:ea typeface="Calibri"/>
                <a:cs typeface="Calibri"/>
                <a:sym typeface="Calibri"/>
              </a:rPr>
              <a:t>A </a:t>
            </a:r>
            <a:r>
              <a:rPr lang="en" sz="2300">
                <a:solidFill>
                  <a:srgbClr val="1A140C"/>
                </a:solidFill>
                <a:latin typeface="Calibri"/>
                <a:ea typeface="Calibri"/>
                <a:cs typeface="Calibri"/>
                <a:sym typeface="Calibri"/>
              </a:rPr>
              <a:t>12 </a:t>
            </a:r>
            <a:r>
              <a:rPr i="0" lang="en" sz="2300" u="none" cap="none" strike="noStrike">
                <a:solidFill>
                  <a:srgbClr val="1A140C"/>
                </a:solidFill>
                <a:latin typeface="Calibri"/>
                <a:ea typeface="Calibri"/>
                <a:cs typeface="Calibri"/>
                <a:sym typeface="Calibri"/>
              </a:rPr>
              <a:t>point gain over </a:t>
            </a:r>
            <a:r>
              <a:rPr i="1" lang="en" sz="2300" u="none" cap="none" strike="noStrike">
                <a:solidFill>
                  <a:srgbClr val="7A1F10"/>
                </a:solidFill>
                <a:latin typeface="Calibri"/>
                <a:ea typeface="Calibri"/>
                <a:cs typeface="Calibri"/>
                <a:sym typeface="Calibri"/>
              </a:rPr>
              <a:t>random </a:t>
            </a:r>
            <a:r>
              <a:rPr i="0" lang="en" sz="2300" u="none" cap="none" strike="noStrike">
                <a:solidFill>
                  <a:srgbClr val="1A140C"/>
                </a:solidFill>
                <a:latin typeface="Calibri"/>
                <a:ea typeface="Calibri"/>
                <a:cs typeface="Calibri"/>
                <a:sym typeface="Calibri"/>
              </a:rPr>
              <a:t>, recovering the unpruned baseline.</a:t>
            </a:r>
            <a:endParaRPr i="0" sz="2300" u="none" cap="none" strike="noStrike">
              <a:solidFill>
                <a:schemeClr val="dk1"/>
              </a:solidFill>
              <a:latin typeface="Calibri"/>
              <a:ea typeface="Calibri"/>
              <a:cs typeface="Calibri"/>
              <a:sym typeface="Calibri"/>
            </a:endParaRPr>
          </a:p>
        </p:txBody>
      </p:sp>
      <p:sp>
        <p:nvSpPr>
          <p:cNvPr id="944" name="Google Shape;944;p23"/>
          <p:cNvSpPr/>
          <p:nvPr/>
        </p:nvSpPr>
        <p:spPr>
          <a:xfrm>
            <a:off x="1474456" y="2450154"/>
            <a:ext cx="2543700" cy="6300"/>
          </a:xfrm>
          <a:prstGeom prst="rect">
            <a:avLst/>
          </a:prstGeom>
          <a:solidFill>
            <a:srgbClr val="4A3A28"/>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45" name="Google Shape;945;p23"/>
          <p:cNvSpPr/>
          <p:nvPr/>
        </p:nvSpPr>
        <p:spPr>
          <a:xfrm>
            <a:off x="1575327" y="2207433"/>
            <a:ext cx="2418600" cy="192300"/>
          </a:xfrm>
          <a:prstGeom prst="rect">
            <a:avLst/>
          </a:prstGeom>
          <a:noFill/>
          <a:ln>
            <a:noFill/>
          </a:ln>
        </p:spPr>
        <p:txBody>
          <a:bodyPr anchorCtr="0" anchor="ctr" bIns="16825" lIns="16825" spcFirstLastPara="1" rIns="16825" wrap="square" tIns="16825">
            <a:noAutofit/>
          </a:bodyPr>
          <a:lstStyle/>
          <a:p>
            <a:pPr indent="0" lvl="0" marL="0" marR="0" rtl="0" algn="l">
              <a:spcBef>
                <a:spcPts val="0"/>
              </a:spcBef>
              <a:spcAft>
                <a:spcPts val="0"/>
              </a:spcAft>
              <a:buClr>
                <a:srgbClr val="8A7A64"/>
              </a:buClr>
              <a:buSzPts val="1191"/>
              <a:buFont typeface="Times New Roman"/>
              <a:buNone/>
            </a:pPr>
            <a:r>
              <a:rPr b="1" i="0" lang="en" sz="1191" u="none" cap="none" strike="noStrike">
                <a:solidFill>
                  <a:srgbClr val="8A7A64"/>
                </a:solidFill>
                <a:latin typeface="Calibri"/>
                <a:ea typeface="Calibri"/>
                <a:cs typeface="Calibri"/>
                <a:sym typeface="Calibri"/>
              </a:rPr>
              <a:t>METHOD</a:t>
            </a:r>
            <a:endParaRPr i="0" sz="1191" u="none" cap="none" strike="noStrike">
              <a:solidFill>
                <a:schemeClr val="dk1"/>
              </a:solidFill>
              <a:latin typeface="Calibri"/>
              <a:ea typeface="Calibri"/>
              <a:cs typeface="Calibri"/>
              <a:sym typeface="Calibri"/>
            </a:endParaRPr>
          </a:p>
        </p:txBody>
      </p:sp>
      <p:sp>
        <p:nvSpPr>
          <p:cNvPr id="946" name="Google Shape;946;p23"/>
          <p:cNvSpPr/>
          <p:nvPr/>
        </p:nvSpPr>
        <p:spPr>
          <a:xfrm>
            <a:off x="4018291" y="2450154"/>
            <a:ext cx="1158000" cy="6300"/>
          </a:xfrm>
          <a:prstGeom prst="rect">
            <a:avLst/>
          </a:prstGeom>
          <a:solidFill>
            <a:srgbClr val="4A3A28"/>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47" name="Google Shape;947;p23"/>
          <p:cNvSpPr/>
          <p:nvPr/>
        </p:nvSpPr>
        <p:spPr>
          <a:xfrm>
            <a:off x="4068727" y="2207433"/>
            <a:ext cx="1006500" cy="1923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8A7A64"/>
              </a:buClr>
              <a:buSzPts val="1191"/>
              <a:buFont typeface="Times New Roman"/>
              <a:buNone/>
            </a:pPr>
            <a:r>
              <a:rPr b="1" i="0" lang="en" sz="1191" u="none" cap="none" strike="noStrike">
                <a:solidFill>
                  <a:srgbClr val="8A7A64"/>
                </a:solidFill>
                <a:latin typeface="Calibri"/>
                <a:ea typeface="Calibri"/>
                <a:cs typeface="Calibri"/>
                <a:sym typeface="Calibri"/>
              </a:rPr>
              <a:t>K=25%</a:t>
            </a:r>
            <a:endParaRPr i="0" sz="1191" u="none" cap="none" strike="noStrike">
              <a:solidFill>
                <a:schemeClr val="dk1"/>
              </a:solidFill>
              <a:latin typeface="Calibri"/>
              <a:ea typeface="Calibri"/>
              <a:cs typeface="Calibri"/>
              <a:sym typeface="Calibri"/>
            </a:endParaRPr>
          </a:p>
        </p:txBody>
      </p:sp>
      <p:sp>
        <p:nvSpPr>
          <p:cNvPr id="948" name="Google Shape;948;p23"/>
          <p:cNvSpPr/>
          <p:nvPr/>
        </p:nvSpPr>
        <p:spPr>
          <a:xfrm>
            <a:off x="5176138" y="2450154"/>
            <a:ext cx="1158000" cy="6300"/>
          </a:xfrm>
          <a:prstGeom prst="rect">
            <a:avLst/>
          </a:prstGeom>
          <a:solidFill>
            <a:srgbClr val="4A3A28"/>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49" name="Google Shape;949;p23"/>
          <p:cNvSpPr/>
          <p:nvPr/>
        </p:nvSpPr>
        <p:spPr>
          <a:xfrm>
            <a:off x="5226573" y="2207433"/>
            <a:ext cx="1006500" cy="1923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8A7A64"/>
              </a:buClr>
              <a:buSzPts val="1191"/>
              <a:buFont typeface="Times New Roman"/>
              <a:buNone/>
            </a:pPr>
            <a:r>
              <a:rPr b="1" i="0" lang="en" sz="1191" u="none" cap="none" strike="noStrike">
                <a:solidFill>
                  <a:srgbClr val="8A7A64"/>
                </a:solidFill>
                <a:latin typeface="Calibri"/>
                <a:ea typeface="Calibri"/>
                <a:cs typeface="Calibri"/>
                <a:sym typeface="Calibri"/>
              </a:rPr>
              <a:t>K=50%</a:t>
            </a:r>
            <a:endParaRPr i="0" sz="1191" u="none" cap="none" strike="noStrike">
              <a:solidFill>
                <a:schemeClr val="dk1"/>
              </a:solidFill>
              <a:latin typeface="Calibri"/>
              <a:ea typeface="Calibri"/>
              <a:cs typeface="Calibri"/>
              <a:sym typeface="Calibri"/>
            </a:endParaRPr>
          </a:p>
        </p:txBody>
      </p:sp>
      <p:sp>
        <p:nvSpPr>
          <p:cNvPr id="950" name="Google Shape;950;p23"/>
          <p:cNvSpPr/>
          <p:nvPr/>
        </p:nvSpPr>
        <p:spPr>
          <a:xfrm>
            <a:off x="6333985" y="2450154"/>
            <a:ext cx="1158000" cy="6300"/>
          </a:xfrm>
          <a:prstGeom prst="rect">
            <a:avLst/>
          </a:prstGeom>
          <a:solidFill>
            <a:srgbClr val="4A3A28"/>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51" name="Google Shape;951;p23"/>
          <p:cNvSpPr/>
          <p:nvPr/>
        </p:nvSpPr>
        <p:spPr>
          <a:xfrm>
            <a:off x="6384420" y="2207433"/>
            <a:ext cx="1006500" cy="1923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8A7A64"/>
              </a:buClr>
              <a:buSzPts val="1191"/>
              <a:buFont typeface="Times New Roman"/>
              <a:buNone/>
            </a:pPr>
            <a:r>
              <a:rPr b="1" i="0" lang="en" sz="1191" u="none" cap="none" strike="noStrike">
                <a:solidFill>
                  <a:srgbClr val="8A7A64"/>
                </a:solidFill>
                <a:latin typeface="Calibri"/>
                <a:ea typeface="Calibri"/>
                <a:cs typeface="Calibri"/>
                <a:sym typeface="Calibri"/>
              </a:rPr>
              <a:t>K=75%</a:t>
            </a:r>
            <a:endParaRPr i="0" sz="1191" u="none" cap="none" strike="noStrike">
              <a:solidFill>
                <a:schemeClr val="dk1"/>
              </a:solidFill>
              <a:latin typeface="Calibri"/>
              <a:ea typeface="Calibri"/>
              <a:cs typeface="Calibri"/>
              <a:sym typeface="Calibri"/>
            </a:endParaRPr>
          </a:p>
        </p:txBody>
      </p:sp>
      <p:sp>
        <p:nvSpPr>
          <p:cNvPr id="952" name="Google Shape;952;p23"/>
          <p:cNvSpPr/>
          <p:nvPr/>
        </p:nvSpPr>
        <p:spPr>
          <a:xfrm>
            <a:off x="1474456" y="2822117"/>
            <a:ext cx="25437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53" name="Google Shape;953;p23"/>
          <p:cNvSpPr/>
          <p:nvPr/>
        </p:nvSpPr>
        <p:spPr>
          <a:xfrm>
            <a:off x="1575327" y="2532112"/>
            <a:ext cx="2418600" cy="239700"/>
          </a:xfrm>
          <a:prstGeom prst="rect">
            <a:avLst/>
          </a:prstGeom>
          <a:noFill/>
          <a:ln>
            <a:noFill/>
          </a:ln>
        </p:spPr>
        <p:txBody>
          <a:bodyPr anchorCtr="0" anchor="ctr" bIns="16825" lIns="16825" spcFirstLastPara="1" rIns="16825" wrap="square" tIns="16825">
            <a:noAutofit/>
          </a:bodyPr>
          <a:lstStyle/>
          <a:p>
            <a:pPr indent="0" lvl="0" marL="0" marR="0" rtl="0" algn="l">
              <a:spcBef>
                <a:spcPts val="0"/>
              </a:spcBef>
              <a:spcAft>
                <a:spcPts val="0"/>
              </a:spcAft>
              <a:buClr>
                <a:srgbClr val="4A3A28"/>
              </a:buClr>
              <a:buSzPts val="1324"/>
              <a:buFont typeface="Times New Roman"/>
              <a:buNone/>
            </a:pPr>
            <a:r>
              <a:rPr i="1" lang="en" sz="1324" u="none" cap="none" strike="noStrike">
                <a:solidFill>
                  <a:srgbClr val="4A3A28"/>
                </a:solidFill>
                <a:latin typeface="Calibri"/>
                <a:ea typeface="Calibri"/>
                <a:cs typeface="Calibri"/>
                <a:sym typeface="Calibri"/>
              </a:rPr>
              <a:t>Unpruned (576 tokens, K = 100%)</a:t>
            </a:r>
            <a:endParaRPr i="0" sz="1324" u="none" cap="none" strike="noStrike">
              <a:solidFill>
                <a:schemeClr val="dk1"/>
              </a:solidFill>
              <a:latin typeface="Calibri"/>
              <a:ea typeface="Calibri"/>
              <a:cs typeface="Calibri"/>
              <a:sym typeface="Calibri"/>
            </a:endParaRPr>
          </a:p>
        </p:txBody>
      </p:sp>
      <p:sp>
        <p:nvSpPr>
          <p:cNvPr id="954" name="Google Shape;954;p23"/>
          <p:cNvSpPr/>
          <p:nvPr/>
        </p:nvSpPr>
        <p:spPr>
          <a:xfrm>
            <a:off x="4018291" y="2822117"/>
            <a:ext cx="34737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55" name="Google Shape;955;p23"/>
          <p:cNvSpPr/>
          <p:nvPr/>
        </p:nvSpPr>
        <p:spPr>
          <a:xfrm>
            <a:off x="4702275" y="2528500"/>
            <a:ext cx="2793300" cy="243300"/>
          </a:xfrm>
          <a:prstGeom prst="rect">
            <a:avLst/>
          </a:prstGeom>
          <a:noFill/>
          <a:ln>
            <a:noFill/>
          </a:ln>
        </p:spPr>
        <p:txBody>
          <a:bodyPr anchorCtr="0" anchor="ctr" bIns="16825" lIns="16825" spcFirstLastPara="1" rIns="16825" wrap="square" tIns="16825">
            <a:noAutofit/>
          </a:bodyPr>
          <a:lstStyle/>
          <a:p>
            <a:pPr indent="0" lvl="0" marL="0" marR="0" rtl="0" algn="l">
              <a:spcBef>
                <a:spcPts val="0"/>
              </a:spcBef>
              <a:spcAft>
                <a:spcPts val="0"/>
              </a:spcAft>
              <a:buClr>
                <a:srgbClr val="8A7A64"/>
              </a:buClr>
              <a:buSzPts val="1324"/>
              <a:buFont typeface="IBM Plex Mono"/>
              <a:buNone/>
            </a:pPr>
            <a:r>
              <a:rPr i="1" lang="en" sz="1324" u="none" cap="none" strike="noStrike">
                <a:solidFill>
                  <a:srgbClr val="8A7A64"/>
                </a:solidFill>
                <a:latin typeface="Calibri"/>
                <a:ea typeface="Calibri"/>
                <a:cs typeface="Calibri"/>
                <a:sym typeface="Calibri"/>
              </a:rPr>
              <a:t>36.7</a:t>
            </a:r>
            <a:endParaRPr i="0" sz="1324" u="none" cap="none" strike="noStrike">
              <a:solidFill>
                <a:schemeClr val="dk1"/>
              </a:solidFill>
              <a:latin typeface="Calibri"/>
              <a:ea typeface="Calibri"/>
              <a:cs typeface="Calibri"/>
              <a:sym typeface="Calibri"/>
            </a:endParaRPr>
          </a:p>
        </p:txBody>
      </p:sp>
      <p:sp>
        <p:nvSpPr>
          <p:cNvPr id="956" name="Google Shape;956;p23"/>
          <p:cNvSpPr/>
          <p:nvPr/>
        </p:nvSpPr>
        <p:spPr>
          <a:xfrm>
            <a:off x="1474456" y="3194080"/>
            <a:ext cx="25437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57" name="Google Shape;957;p23"/>
          <p:cNvSpPr/>
          <p:nvPr/>
        </p:nvSpPr>
        <p:spPr>
          <a:xfrm>
            <a:off x="1575327" y="2904075"/>
            <a:ext cx="2418600" cy="239700"/>
          </a:xfrm>
          <a:prstGeom prst="rect">
            <a:avLst/>
          </a:prstGeom>
          <a:noFill/>
          <a:ln>
            <a:noFill/>
          </a:ln>
        </p:spPr>
        <p:txBody>
          <a:bodyPr anchorCtr="0" anchor="ctr" bIns="16825" lIns="16825" spcFirstLastPara="1" rIns="16825" wrap="square" tIns="16825">
            <a:noAutofit/>
          </a:bodyPr>
          <a:lstStyle/>
          <a:p>
            <a:pPr indent="0" lvl="0" marL="0" marR="0" rtl="0" algn="l">
              <a:spcBef>
                <a:spcPts val="0"/>
              </a:spcBef>
              <a:spcAft>
                <a:spcPts val="0"/>
              </a:spcAft>
              <a:buClr>
                <a:srgbClr val="1A140C"/>
              </a:buClr>
              <a:buSzPts val="1324"/>
              <a:buFont typeface="Times New Roman"/>
              <a:buNone/>
            </a:pPr>
            <a:r>
              <a:rPr i="1" lang="en" sz="1324" u="none" cap="none" strike="noStrike">
                <a:solidFill>
                  <a:srgbClr val="1A140C"/>
                </a:solidFill>
                <a:latin typeface="Calibri"/>
                <a:ea typeface="Calibri"/>
                <a:cs typeface="Calibri"/>
                <a:sym typeface="Calibri"/>
              </a:rPr>
              <a:t>Random</a:t>
            </a:r>
            <a:endParaRPr i="0" sz="1324" u="none" cap="none" strike="noStrike">
              <a:solidFill>
                <a:schemeClr val="dk1"/>
              </a:solidFill>
              <a:latin typeface="Calibri"/>
              <a:ea typeface="Calibri"/>
              <a:cs typeface="Calibri"/>
              <a:sym typeface="Calibri"/>
            </a:endParaRPr>
          </a:p>
        </p:txBody>
      </p:sp>
      <p:sp>
        <p:nvSpPr>
          <p:cNvPr id="958" name="Google Shape;958;p23"/>
          <p:cNvSpPr/>
          <p:nvPr/>
        </p:nvSpPr>
        <p:spPr>
          <a:xfrm>
            <a:off x="4018291" y="3194080"/>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59" name="Google Shape;959;p23"/>
          <p:cNvSpPr/>
          <p:nvPr/>
        </p:nvSpPr>
        <p:spPr>
          <a:xfrm>
            <a:off x="4068727" y="2904075"/>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1A140C"/>
              </a:buClr>
              <a:buSzPts val="1324"/>
              <a:buFont typeface="IBM Plex Mono"/>
              <a:buNone/>
            </a:pPr>
            <a:r>
              <a:rPr i="0" lang="en" sz="1324" u="none" cap="none" strike="noStrike">
                <a:solidFill>
                  <a:srgbClr val="1A140C"/>
                </a:solidFill>
                <a:latin typeface="Calibri"/>
                <a:ea typeface="Calibri"/>
                <a:cs typeface="Calibri"/>
                <a:sym typeface="Calibri"/>
              </a:rPr>
              <a:t>23.7</a:t>
            </a:r>
            <a:endParaRPr i="0" sz="1324" u="none" cap="none" strike="noStrike">
              <a:solidFill>
                <a:schemeClr val="dk1"/>
              </a:solidFill>
              <a:latin typeface="Calibri"/>
              <a:ea typeface="Calibri"/>
              <a:cs typeface="Calibri"/>
              <a:sym typeface="Calibri"/>
            </a:endParaRPr>
          </a:p>
        </p:txBody>
      </p:sp>
      <p:sp>
        <p:nvSpPr>
          <p:cNvPr id="960" name="Google Shape;960;p23"/>
          <p:cNvSpPr/>
          <p:nvPr/>
        </p:nvSpPr>
        <p:spPr>
          <a:xfrm>
            <a:off x="5176138" y="3194080"/>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61" name="Google Shape;961;p23"/>
          <p:cNvSpPr/>
          <p:nvPr/>
        </p:nvSpPr>
        <p:spPr>
          <a:xfrm>
            <a:off x="5226573" y="2904075"/>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1A140C"/>
              </a:buClr>
              <a:buSzPts val="1324"/>
              <a:buFont typeface="IBM Plex Mono"/>
              <a:buNone/>
            </a:pPr>
            <a:r>
              <a:rPr i="0" lang="en" sz="1324" u="none" cap="none" strike="noStrike">
                <a:solidFill>
                  <a:srgbClr val="1A140C"/>
                </a:solidFill>
                <a:latin typeface="Calibri"/>
                <a:ea typeface="Calibri"/>
                <a:cs typeface="Calibri"/>
                <a:sym typeface="Calibri"/>
              </a:rPr>
              <a:t>30.7</a:t>
            </a:r>
            <a:endParaRPr i="0" sz="1324" u="none" cap="none" strike="noStrike">
              <a:solidFill>
                <a:schemeClr val="dk1"/>
              </a:solidFill>
              <a:latin typeface="Calibri"/>
              <a:ea typeface="Calibri"/>
              <a:cs typeface="Calibri"/>
              <a:sym typeface="Calibri"/>
            </a:endParaRPr>
          </a:p>
        </p:txBody>
      </p:sp>
      <p:sp>
        <p:nvSpPr>
          <p:cNvPr id="962" name="Google Shape;962;p23"/>
          <p:cNvSpPr/>
          <p:nvPr/>
        </p:nvSpPr>
        <p:spPr>
          <a:xfrm>
            <a:off x="6333985" y="3194080"/>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63" name="Google Shape;963;p23"/>
          <p:cNvSpPr/>
          <p:nvPr/>
        </p:nvSpPr>
        <p:spPr>
          <a:xfrm>
            <a:off x="6384420" y="2904075"/>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1A140C"/>
              </a:buClr>
              <a:buSzPts val="1324"/>
              <a:buFont typeface="IBM Plex Mono"/>
              <a:buNone/>
            </a:pPr>
            <a:r>
              <a:rPr i="0" lang="en" sz="1324" u="none" cap="none" strike="noStrike">
                <a:solidFill>
                  <a:srgbClr val="1A140C"/>
                </a:solidFill>
                <a:latin typeface="Calibri"/>
                <a:ea typeface="Calibri"/>
                <a:cs typeface="Calibri"/>
                <a:sym typeface="Calibri"/>
              </a:rPr>
              <a:t>32.0</a:t>
            </a:r>
            <a:endParaRPr i="0" sz="1324" u="none" cap="none" strike="noStrike">
              <a:solidFill>
                <a:schemeClr val="dk1"/>
              </a:solidFill>
              <a:latin typeface="Calibri"/>
              <a:ea typeface="Calibri"/>
              <a:cs typeface="Calibri"/>
              <a:sym typeface="Calibri"/>
            </a:endParaRPr>
          </a:p>
        </p:txBody>
      </p:sp>
      <p:sp>
        <p:nvSpPr>
          <p:cNvPr id="964" name="Google Shape;964;p23"/>
          <p:cNvSpPr/>
          <p:nvPr/>
        </p:nvSpPr>
        <p:spPr>
          <a:xfrm>
            <a:off x="1474456" y="3566043"/>
            <a:ext cx="25437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65" name="Google Shape;965;p23"/>
          <p:cNvSpPr/>
          <p:nvPr/>
        </p:nvSpPr>
        <p:spPr>
          <a:xfrm>
            <a:off x="1575327" y="3276038"/>
            <a:ext cx="2418600" cy="239700"/>
          </a:xfrm>
          <a:prstGeom prst="rect">
            <a:avLst/>
          </a:prstGeom>
          <a:noFill/>
          <a:ln>
            <a:noFill/>
          </a:ln>
        </p:spPr>
        <p:txBody>
          <a:bodyPr anchorCtr="0" anchor="ctr" bIns="16825" lIns="16825" spcFirstLastPara="1" rIns="16825" wrap="square" tIns="16825">
            <a:noAutofit/>
          </a:bodyPr>
          <a:lstStyle/>
          <a:p>
            <a:pPr indent="0" lvl="0" marL="0" marR="0" rtl="0" algn="l">
              <a:spcBef>
                <a:spcPts val="0"/>
              </a:spcBef>
              <a:spcAft>
                <a:spcPts val="0"/>
              </a:spcAft>
              <a:buClr>
                <a:srgbClr val="1A140C"/>
              </a:buClr>
              <a:buSzPts val="1324"/>
              <a:buFont typeface="Times New Roman"/>
              <a:buNone/>
            </a:pPr>
            <a:r>
              <a:rPr i="1" lang="en" sz="1324" u="none" cap="none" strike="noStrike">
                <a:solidFill>
                  <a:srgbClr val="1A140C"/>
                </a:solidFill>
                <a:latin typeface="Calibri"/>
                <a:ea typeface="Calibri"/>
                <a:cs typeface="Calibri"/>
                <a:sym typeface="Calibri"/>
              </a:rPr>
              <a:t>PAPIT-CLIP</a:t>
            </a:r>
            <a:endParaRPr i="0" sz="1324" u="none" cap="none" strike="noStrike">
              <a:solidFill>
                <a:schemeClr val="dk1"/>
              </a:solidFill>
              <a:latin typeface="Calibri"/>
              <a:ea typeface="Calibri"/>
              <a:cs typeface="Calibri"/>
              <a:sym typeface="Calibri"/>
            </a:endParaRPr>
          </a:p>
        </p:txBody>
      </p:sp>
      <p:sp>
        <p:nvSpPr>
          <p:cNvPr id="966" name="Google Shape;966;p23"/>
          <p:cNvSpPr/>
          <p:nvPr/>
        </p:nvSpPr>
        <p:spPr>
          <a:xfrm>
            <a:off x="4018291" y="3566043"/>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67" name="Google Shape;967;p23"/>
          <p:cNvSpPr/>
          <p:nvPr/>
        </p:nvSpPr>
        <p:spPr>
          <a:xfrm>
            <a:off x="4068727" y="3276038"/>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1A140C"/>
              </a:buClr>
              <a:buSzPts val="1324"/>
              <a:buFont typeface="IBM Plex Mono"/>
              <a:buNone/>
            </a:pPr>
            <a:r>
              <a:rPr i="0" lang="en" sz="1324" u="none" cap="none" strike="noStrike">
                <a:solidFill>
                  <a:srgbClr val="1A140C"/>
                </a:solidFill>
                <a:latin typeface="Calibri"/>
                <a:ea typeface="Calibri"/>
                <a:cs typeface="Calibri"/>
                <a:sym typeface="Calibri"/>
              </a:rPr>
              <a:t>20.0</a:t>
            </a:r>
            <a:endParaRPr i="0" sz="1324" u="none" cap="none" strike="noStrike">
              <a:solidFill>
                <a:schemeClr val="dk1"/>
              </a:solidFill>
              <a:latin typeface="Calibri"/>
              <a:ea typeface="Calibri"/>
              <a:cs typeface="Calibri"/>
              <a:sym typeface="Calibri"/>
            </a:endParaRPr>
          </a:p>
        </p:txBody>
      </p:sp>
      <p:sp>
        <p:nvSpPr>
          <p:cNvPr id="968" name="Google Shape;968;p23"/>
          <p:cNvSpPr/>
          <p:nvPr/>
        </p:nvSpPr>
        <p:spPr>
          <a:xfrm>
            <a:off x="5176138" y="3566043"/>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69" name="Google Shape;969;p23"/>
          <p:cNvSpPr/>
          <p:nvPr/>
        </p:nvSpPr>
        <p:spPr>
          <a:xfrm>
            <a:off x="5226573" y="3276038"/>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1A140C"/>
              </a:buClr>
              <a:buSzPts val="1324"/>
              <a:buFont typeface="IBM Plex Mono"/>
              <a:buNone/>
            </a:pPr>
            <a:r>
              <a:rPr i="0" lang="en" sz="1324" u="none" cap="none" strike="noStrike">
                <a:solidFill>
                  <a:srgbClr val="1A140C"/>
                </a:solidFill>
                <a:latin typeface="Calibri"/>
                <a:ea typeface="Calibri"/>
                <a:cs typeface="Calibri"/>
                <a:sym typeface="Calibri"/>
              </a:rPr>
              <a:t>28.3</a:t>
            </a:r>
            <a:endParaRPr i="0" sz="1324" u="none" cap="none" strike="noStrike">
              <a:solidFill>
                <a:schemeClr val="dk1"/>
              </a:solidFill>
              <a:latin typeface="Calibri"/>
              <a:ea typeface="Calibri"/>
              <a:cs typeface="Calibri"/>
              <a:sym typeface="Calibri"/>
            </a:endParaRPr>
          </a:p>
        </p:txBody>
      </p:sp>
      <p:sp>
        <p:nvSpPr>
          <p:cNvPr id="970" name="Google Shape;970;p23"/>
          <p:cNvSpPr/>
          <p:nvPr/>
        </p:nvSpPr>
        <p:spPr>
          <a:xfrm>
            <a:off x="6333985" y="3566043"/>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71" name="Google Shape;971;p23"/>
          <p:cNvSpPr/>
          <p:nvPr/>
        </p:nvSpPr>
        <p:spPr>
          <a:xfrm>
            <a:off x="6384420" y="3276038"/>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1A140C"/>
              </a:buClr>
              <a:buSzPts val="1324"/>
              <a:buFont typeface="IBM Plex Mono"/>
              <a:buNone/>
            </a:pPr>
            <a:r>
              <a:rPr i="0" lang="en" sz="1324" u="none" cap="none" strike="noStrike">
                <a:solidFill>
                  <a:srgbClr val="1A140C"/>
                </a:solidFill>
                <a:latin typeface="Calibri"/>
                <a:ea typeface="Calibri"/>
                <a:cs typeface="Calibri"/>
                <a:sym typeface="Calibri"/>
              </a:rPr>
              <a:t>31.7</a:t>
            </a:r>
            <a:endParaRPr i="0" sz="1324" u="none" cap="none" strike="noStrike">
              <a:solidFill>
                <a:schemeClr val="dk1"/>
              </a:solidFill>
              <a:latin typeface="Calibri"/>
              <a:ea typeface="Calibri"/>
              <a:cs typeface="Calibri"/>
              <a:sym typeface="Calibri"/>
            </a:endParaRPr>
          </a:p>
        </p:txBody>
      </p:sp>
      <p:sp>
        <p:nvSpPr>
          <p:cNvPr id="972" name="Google Shape;972;p23"/>
          <p:cNvSpPr/>
          <p:nvPr/>
        </p:nvSpPr>
        <p:spPr>
          <a:xfrm>
            <a:off x="1474456" y="3938006"/>
            <a:ext cx="25437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73" name="Google Shape;973;p23"/>
          <p:cNvSpPr/>
          <p:nvPr/>
        </p:nvSpPr>
        <p:spPr>
          <a:xfrm>
            <a:off x="1575327" y="3648001"/>
            <a:ext cx="2418600" cy="239700"/>
          </a:xfrm>
          <a:prstGeom prst="rect">
            <a:avLst/>
          </a:prstGeom>
          <a:noFill/>
          <a:ln>
            <a:noFill/>
          </a:ln>
        </p:spPr>
        <p:txBody>
          <a:bodyPr anchorCtr="0" anchor="ctr" bIns="16825" lIns="16825" spcFirstLastPara="1" rIns="16825" wrap="square" tIns="16825">
            <a:noAutofit/>
          </a:bodyPr>
          <a:lstStyle/>
          <a:p>
            <a:pPr indent="0" lvl="0" marL="0" marR="0" rtl="0" algn="l">
              <a:spcBef>
                <a:spcPts val="0"/>
              </a:spcBef>
              <a:spcAft>
                <a:spcPts val="0"/>
              </a:spcAft>
              <a:buClr>
                <a:srgbClr val="7A1F10"/>
              </a:buClr>
              <a:buSzPts val="1324"/>
              <a:buFont typeface="Times New Roman"/>
              <a:buNone/>
            </a:pPr>
            <a:r>
              <a:rPr b="1" i="1" lang="en" sz="1324" u="none" cap="none" strike="noStrike">
                <a:solidFill>
                  <a:srgbClr val="7A1F10"/>
                </a:solidFill>
                <a:latin typeface="Calibri"/>
                <a:ea typeface="Calibri"/>
                <a:cs typeface="Calibri"/>
                <a:sym typeface="Calibri"/>
              </a:rPr>
              <a:t>PAPIT-Distill</a:t>
            </a:r>
            <a:endParaRPr i="0" sz="1324" u="none" cap="none" strike="noStrike">
              <a:solidFill>
                <a:schemeClr val="dk1"/>
              </a:solidFill>
              <a:latin typeface="Calibri"/>
              <a:ea typeface="Calibri"/>
              <a:cs typeface="Calibri"/>
              <a:sym typeface="Calibri"/>
            </a:endParaRPr>
          </a:p>
        </p:txBody>
      </p:sp>
      <p:sp>
        <p:nvSpPr>
          <p:cNvPr id="974" name="Google Shape;974;p23"/>
          <p:cNvSpPr/>
          <p:nvPr/>
        </p:nvSpPr>
        <p:spPr>
          <a:xfrm>
            <a:off x="4018291" y="3938006"/>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75" name="Google Shape;975;p23"/>
          <p:cNvSpPr/>
          <p:nvPr/>
        </p:nvSpPr>
        <p:spPr>
          <a:xfrm>
            <a:off x="4068727" y="3648001"/>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7A1F10"/>
              </a:buClr>
              <a:buSzPts val="1324"/>
              <a:buFont typeface="IBM Plex Mono"/>
              <a:buNone/>
            </a:pPr>
            <a:r>
              <a:rPr b="1" i="0" lang="en" sz="1324" u="none" cap="none" strike="noStrike">
                <a:solidFill>
                  <a:srgbClr val="7A1F10"/>
                </a:solidFill>
                <a:latin typeface="Calibri"/>
                <a:ea typeface="Calibri"/>
                <a:cs typeface="Calibri"/>
                <a:sym typeface="Calibri"/>
              </a:rPr>
              <a:t>36.0</a:t>
            </a:r>
            <a:endParaRPr i="0" sz="1324" u="none" cap="none" strike="noStrike">
              <a:solidFill>
                <a:schemeClr val="dk1"/>
              </a:solidFill>
              <a:latin typeface="Calibri"/>
              <a:ea typeface="Calibri"/>
              <a:cs typeface="Calibri"/>
              <a:sym typeface="Calibri"/>
            </a:endParaRPr>
          </a:p>
        </p:txBody>
      </p:sp>
      <p:sp>
        <p:nvSpPr>
          <p:cNvPr id="976" name="Google Shape;976;p23"/>
          <p:cNvSpPr/>
          <p:nvPr/>
        </p:nvSpPr>
        <p:spPr>
          <a:xfrm>
            <a:off x="5176138" y="3938006"/>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77" name="Google Shape;977;p23"/>
          <p:cNvSpPr/>
          <p:nvPr/>
        </p:nvSpPr>
        <p:spPr>
          <a:xfrm>
            <a:off x="5226573" y="3648001"/>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7A1F10"/>
              </a:buClr>
              <a:buSzPts val="1324"/>
              <a:buFont typeface="IBM Plex Mono"/>
              <a:buNone/>
            </a:pPr>
            <a:r>
              <a:rPr b="1" i="0" lang="en" sz="1324" u="none" cap="none" strike="noStrike">
                <a:solidFill>
                  <a:srgbClr val="7A1F10"/>
                </a:solidFill>
                <a:latin typeface="Calibri"/>
                <a:ea typeface="Calibri"/>
                <a:cs typeface="Calibri"/>
                <a:sym typeface="Calibri"/>
              </a:rPr>
              <a:t>36.0</a:t>
            </a:r>
            <a:endParaRPr i="0" sz="1324" u="none" cap="none" strike="noStrike">
              <a:solidFill>
                <a:schemeClr val="dk1"/>
              </a:solidFill>
              <a:latin typeface="Calibri"/>
              <a:ea typeface="Calibri"/>
              <a:cs typeface="Calibri"/>
              <a:sym typeface="Calibri"/>
            </a:endParaRPr>
          </a:p>
        </p:txBody>
      </p:sp>
      <p:sp>
        <p:nvSpPr>
          <p:cNvPr id="978" name="Google Shape;978;p23"/>
          <p:cNvSpPr/>
          <p:nvPr/>
        </p:nvSpPr>
        <p:spPr>
          <a:xfrm>
            <a:off x="6333985" y="3938006"/>
            <a:ext cx="1158000" cy="6300"/>
          </a:xfrm>
          <a:prstGeom prst="rect">
            <a:avLst/>
          </a:prstGeom>
          <a:solidFill>
            <a:srgbClr val="D6C79E"/>
          </a:solidFill>
          <a:ln>
            <a:noFill/>
          </a:ln>
        </p:spPr>
        <p:txBody>
          <a:bodyPr anchorCtr="0" anchor="ctr" bIns="60525" lIns="60525" spcFirstLastPara="1" rIns="60525" wrap="square" tIns="605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79" name="Google Shape;979;p23"/>
          <p:cNvSpPr/>
          <p:nvPr/>
        </p:nvSpPr>
        <p:spPr>
          <a:xfrm>
            <a:off x="6384420" y="3648001"/>
            <a:ext cx="1006500" cy="239700"/>
          </a:xfrm>
          <a:prstGeom prst="rect">
            <a:avLst/>
          </a:prstGeom>
          <a:noFill/>
          <a:ln>
            <a:noFill/>
          </a:ln>
        </p:spPr>
        <p:txBody>
          <a:bodyPr anchorCtr="0" anchor="ctr" bIns="16825" lIns="16825" spcFirstLastPara="1" rIns="16825" wrap="square" tIns="16825">
            <a:noAutofit/>
          </a:bodyPr>
          <a:lstStyle/>
          <a:p>
            <a:pPr indent="0" lvl="0" marL="0" marR="0" rtl="0" algn="r">
              <a:spcBef>
                <a:spcPts val="0"/>
              </a:spcBef>
              <a:spcAft>
                <a:spcPts val="0"/>
              </a:spcAft>
              <a:buClr>
                <a:srgbClr val="7A1F10"/>
              </a:buClr>
              <a:buSzPts val="1324"/>
              <a:buFont typeface="IBM Plex Mono"/>
              <a:buNone/>
            </a:pPr>
            <a:r>
              <a:rPr b="1" i="0" lang="en" sz="1324" u="none" cap="none" strike="noStrike">
                <a:solidFill>
                  <a:srgbClr val="7A1F10"/>
                </a:solidFill>
                <a:latin typeface="Calibri"/>
                <a:ea typeface="Calibri"/>
                <a:cs typeface="Calibri"/>
                <a:sym typeface="Calibri"/>
              </a:rPr>
              <a:t>33.3</a:t>
            </a:r>
            <a:endParaRPr i="0" sz="1324" u="none" cap="none" strike="noStrike">
              <a:solidFill>
                <a:schemeClr val="dk1"/>
              </a:solidFill>
              <a:latin typeface="Calibri"/>
              <a:ea typeface="Calibri"/>
              <a:cs typeface="Calibri"/>
              <a:sym typeface="Calibri"/>
            </a:endParaRPr>
          </a:p>
        </p:txBody>
      </p:sp>
      <p:sp>
        <p:nvSpPr>
          <p:cNvPr id="980" name="Google Shape;980;p23"/>
          <p:cNvSpPr/>
          <p:nvPr/>
        </p:nvSpPr>
        <p:spPr>
          <a:xfrm>
            <a:off x="2363375" y="4027666"/>
            <a:ext cx="6198000" cy="243300"/>
          </a:xfrm>
          <a:prstGeom prst="rect">
            <a:avLst/>
          </a:prstGeom>
          <a:noFill/>
          <a:ln>
            <a:noFill/>
          </a:ln>
        </p:spPr>
        <p:txBody>
          <a:bodyPr anchorCtr="0" anchor="t" bIns="16825" lIns="16825" spcFirstLastPara="1" rIns="16825" wrap="square" tIns="16825">
            <a:noAutofit/>
          </a:bodyPr>
          <a:lstStyle/>
          <a:p>
            <a:pPr indent="0" lvl="0" marL="0" marR="0" rtl="0" algn="l">
              <a:lnSpc>
                <a:spcPct val="140000"/>
              </a:lnSpc>
              <a:spcBef>
                <a:spcPts val="0"/>
              </a:spcBef>
              <a:spcAft>
                <a:spcPts val="0"/>
              </a:spcAft>
              <a:buClr>
                <a:srgbClr val="7A1F10"/>
              </a:buClr>
              <a:buSzPts val="1191"/>
              <a:buFont typeface="IBM Plex Mono"/>
              <a:buNone/>
            </a:pPr>
            <a:r>
              <a:rPr i="0" lang="en" sz="1191" u="none" cap="none" strike="noStrike">
                <a:solidFill>
                  <a:srgbClr val="7A1F10"/>
                </a:solidFill>
                <a:latin typeface="Calibri"/>
                <a:ea typeface="Calibri"/>
                <a:cs typeface="Calibri"/>
                <a:sym typeface="Calibri"/>
              </a:rPr>
              <a:t>Tab. iii </a:t>
            </a:r>
            <a:r>
              <a:rPr i="1" lang="en" sz="1191" u="none" cap="none" strike="noStrike">
                <a:solidFill>
                  <a:srgbClr val="4A3A28"/>
                </a:solidFill>
                <a:latin typeface="Calibri"/>
                <a:ea typeface="Calibri"/>
                <a:cs typeface="Calibri"/>
                <a:sym typeface="Calibri"/>
              </a:rPr>
              <a:t>TextVQA val, soft-accuracy, n = 100. PAPIT-Distill in scarlet.</a:t>
            </a:r>
            <a:endParaRPr i="0" sz="1191" u="none" cap="none" strike="noStrike">
              <a:solidFill>
                <a:schemeClr val="dk1"/>
              </a:solidFill>
              <a:latin typeface="Calibri"/>
              <a:ea typeface="Calibri"/>
              <a:cs typeface="Calibri"/>
              <a:sym typeface="Calibri"/>
            </a:endParaRPr>
          </a:p>
        </p:txBody>
      </p:sp>
      <p:sp>
        <p:nvSpPr>
          <p:cNvPr id="981" name="Google Shape;981;p23"/>
          <p:cNvSpPr/>
          <p:nvPr/>
        </p:nvSpPr>
        <p:spPr>
          <a:xfrm>
            <a:off x="476250" y="4643438"/>
            <a:ext cx="8191500" cy="4800"/>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82" name="Google Shape;982;p23"/>
          <p:cNvSpPr/>
          <p:nvPr/>
        </p:nvSpPr>
        <p:spPr>
          <a:xfrm>
            <a:off x="476250" y="4743450"/>
            <a:ext cx="13758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i="1" lang="en" sz="900" u="none" cap="none" strike="noStrike">
                <a:solidFill>
                  <a:srgbClr val="8A7A64"/>
                </a:solidFill>
                <a:latin typeface="Calibri"/>
                <a:ea typeface="Calibri"/>
                <a:cs typeface="Calibri"/>
                <a:sym typeface="Calibri"/>
              </a:rPr>
              <a:t>PAPIT · an essay in pruning</a:t>
            </a:r>
            <a:endParaRPr i="0" sz="900" u="none" cap="none" strike="noStrike">
              <a:solidFill>
                <a:schemeClr val="dk1"/>
              </a:solidFill>
              <a:latin typeface="Calibri"/>
              <a:ea typeface="Calibri"/>
              <a:cs typeface="Calibri"/>
              <a:sym typeface="Calibri"/>
            </a:endParaRPr>
          </a:p>
        </p:txBody>
      </p:sp>
      <p:sp>
        <p:nvSpPr>
          <p:cNvPr id="983" name="Google Shape;983;p23"/>
          <p:cNvSpPr/>
          <p:nvPr/>
        </p:nvSpPr>
        <p:spPr>
          <a:xfrm>
            <a:off x="7947645" y="4724400"/>
            <a:ext cx="758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IBM Plex Mono"/>
              <a:buNone/>
            </a:pPr>
            <a:r>
              <a:rPr i="0" lang="en" sz="900" u="none" cap="none" strike="noStrike">
                <a:solidFill>
                  <a:srgbClr val="8A7A64"/>
                </a:solidFill>
                <a:latin typeface="Calibri"/>
                <a:ea typeface="Calibri"/>
                <a:cs typeface="Calibri"/>
                <a:sym typeface="Calibri"/>
              </a:rPr>
              <a:t>08 / 10</a:t>
            </a:r>
            <a:endParaRPr i="0" sz="900" u="none" cap="none" strike="noStrike">
              <a:solidFill>
                <a:schemeClr val="dk1"/>
              </a:solidFill>
              <a:latin typeface="Calibri"/>
              <a:ea typeface="Calibri"/>
              <a:cs typeface="Calibri"/>
              <a:sym typeface="Calibri"/>
            </a:endParaRPr>
          </a:p>
        </p:txBody>
      </p:sp>
      <p:sp>
        <p:nvSpPr>
          <p:cNvPr id="984" name="Google Shape;984;p23"/>
          <p:cNvSpPr/>
          <p:nvPr/>
        </p:nvSpPr>
        <p:spPr>
          <a:xfrm>
            <a:off x="447975" y="824250"/>
            <a:ext cx="2793300" cy="480600"/>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A140C"/>
              </a:buClr>
              <a:buSzPts val="3000"/>
              <a:buFont typeface="Times New Roman"/>
              <a:buNone/>
            </a:pPr>
            <a:r>
              <a:rPr lang="en" sz="3000">
                <a:solidFill>
                  <a:srgbClr val="1A140C"/>
                </a:solidFill>
                <a:latin typeface="Calibri"/>
                <a:ea typeface="Calibri"/>
                <a:cs typeface="Calibri"/>
                <a:sym typeface="Calibri"/>
              </a:rPr>
              <a:t>Result: Accuracy</a:t>
            </a:r>
            <a:endParaRPr i="0" sz="3000" u="none" cap="none" strike="noStrike">
              <a:solidFill>
                <a:schemeClr val="dk1"/>
              </a:solidFill>
              <a:latin typeface="Calibri"/>
              <a:ea typeface="Calibri"/>
              <a:cs typeface="Calibri"/>
              <a:sym typeface="Calibri"/>
            </a:endParaRPr>
          </a:p>
        </p:txBody>
      </p:sp>
      <p:pic>
        <p:nvPicPr>
          <p:cNvPr id="985" name="Google Shape;985;p23"/>
          <p:cNvPicPr preferRelativeResize="0"/>
          <p:nvPr/>
        </p:nvPicPr>
        <p:blipFill>
          <a:blip r:embed="rId3">
            <a:alphaModFix/>
          </a:blip>
          <a:stretch>
            <a:fillRect/>
          </a:stretch>
        </p:blipFill>
        <p:spPr>
          <a:xfrm>
            <a:off x="0" y="133945"/>
            <a:ext cx="9144003" cy="487561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0" name="Shape 990"/>
        <p:cNvGrpSpPr/>
        <p:nvPr/>
      </p:nvGrpSpPr>
      <p:grpSpPr>
        <a:xfrm>
          <a:off x="0" y="0"/>
          <a:ext cx="0" cy="0"/>
          <a:chOff x="0" y="0"/>
          <a:chExt cx="0" cy="0"/>
        </a:xfrm>
      </p:grpSpPr>
      <p:sp>
        <p:nvSpPr>
          <p:cNvPr id="991" name="Google Shape;991;p24"/>
          <p:cNvSpPr/>
          <p:nvPr/>
        </p:nvSpPr>
        <p:spPr>
          <a:xfrm>
            <a:off x="476250" y="485775"/>
            <a:ext cx="8191500" cy="4763"/>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92" name="Google Shape;992;p24"/>
          <p:cNvSpPr/>
          <p:nvPr/>
        </p:nvSpPr>
        <p:spPr>
          <a:xfrm>
            <a:off x="476250" y="276225"/>
            <a:ext cx="1277839" cy="147638"/>
          </a:xfrm>
          <a:prstGeom prst="rect">
            <a:avLst/>
          </a:prstGeom>
          <a:noFill/>
          <a:ln>
            <a:noFill/>
          </a:ln>
        </p:spPr>
        <p:txBody>
          <a:bodyPr anchorCtr="0" anchor="t" bIns="12700" lIns="12700" spcFirstLastPara="1" rIns="12700" wrap="square" tIns="12700">
            <a:noAutofit/>
          </a:bodyPr>
          <a:lstStyle/>
          <a:p>
            <a:pPr indent="0" lvl="0" marL="0" rtl="0" algn="l">
              <a:spcBef>
                <a:spcPts val="0"/>
              </a:spcBef>
              <a:spcAft>
                <a:spcPts val="0"/>
              </a:spcAft>
              <a:buClr>
                <a:srgbClr val="8A7A64"/>
              </a:buClr>
              <a:buSzPts val="900"/>
              <a:buFont typeface="Times New Roman"/>
              <a:buNone/>
            </a:pPr>
            <a:r>
              <a:rPr lang="en" sz="1200">
                <a:solidFill>
                  <a:srgbClr val="8A7A64"/>
                </a:solidFill>
                <a:latin typeface="Calibri"/>
                <a:ea typeface="Calibri"/>
                <a:cs typeface="Calibri"/>
                <a:sym typeface="Calibri"/>
              </a:rPr>
              <a:t>Result- PAPIT-Distill</a:t>
            </a:r>
            <a:endParaRPr sz="1200">
              <a:solidFill>
                <a:schemeClr val="dk1"/>
              </a:solidFill>
              <a:latin typeface="Calibri"/>
              <a:ea typeface="Calibri"/>
              <a:cs typeface="Calibri"/>
              <a:sym typeface="Calibri"/>
            </a:endParaRPr>
          </a:p>
          <a:p>
            <a:pPr indent="0" lvl="0" marL="0" rtl="0" algn="l">
              <a:spcBef>
                <a:spcPts val="0"/>
              </a:spcBef>
              <a:spcAft>
                <a:spcPts val="0"/>
              </a:spcAft>
              <a:buClr>
                <a:srgbClr val="8A7A64"/>
              </a:buClr>
              <a:buSzPts val="900"/>
              <a:buFont typeface="Times New Roman"/>
              <a:buNone/>
            </a:pPr>
            <a:r>
              <a:t/>
            </a:r>
            <a:endParaRPr sz="1200">
              <a:solidFill>
                <a:srgbClr val="8A7A64"/>
              </a:solidFill>
              <a:latin typeface="Calibri"/>
              <a:ea typeface="Calibri"/>
              <a:cs typeface="Calibri"/>
              <a:sym typeface="Calibri"/>
            </a:endParaRPr>
          </a:p>
        </p:txBody>
      </p:sp>
      <p:sp>
        <p:nvSpPr>
          <p:cNvPr id="993" name="Google Shape;993;p24"/>
          <p:cNvSpPr/>
          <p:nvPr/>
        </p:nvSpPr>
        <p:spPr>
          <a:xfrm>
            <a:off x="5280375" y="2709549"/>
            <a:ext cx="28995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A1F10"/>
              </a:buClr>
              <a:buSzPts val="900"/>
              <a:buFont typeface="IBM Plex Mono"/>
              <a:buNone/>
            </a:pPr>
            <a:r>
              <a:rPr i="0" lang="en" sz="900" u="none" cap="none" strike="noStrike">
                <a:solidFill>
                  <a:srgbClr val="7A1F10"/>
                </a:solidFill>
                <a:latin typeface="Calibri"/>
                <a:ea typeface="Calibri"/>
                <a:cs typeface="Calibri"/>
                <a:sym typeface="Calibri"/>
              </a:rPr>
              <a:t>WALL-CLOCK LATENCY · A10G · RETENTION 0.5</a:t>
            </a:r>
            <a:endParaRPr i="0" sz="900" u="none" cap="none" strike="noStrike">
              <a:solidFill>
                <a:schemeClr val="dk1"/>
              </a:solidFill>
              <a:latin typeface="Calibri"/>
              <a:ea typeface="Calibri"/>
              <a:cs typeface="Calibri"/>
              <a:sym typeface="Calibri"/>
            </a:endParaRPr>
          </a:p>
        </p:txBody>
      </p:sp>
      <p:sp>
        <p:nvSpPr>
          <p:cNvPr id="994" name="Google Shape;994;p24"/>
          <p:cNvSpPr/>
          <p:nvPr/>
        </p:nvSpPr>
        <p:spPr>
          <a:xfrm>
            <a:off x="447983" y="1756962"/>
            <a:ext cx="1863900" cy="171600"/>
          </a:xfrm>
          <a:prstGeom prst="rect">
            <a:avLst/>
          </a:prstGeom>
          <a:noFill/>
          <a:ln>
            <a:noFill/>
          </a:ln>
        </p:spPr>
        <p:txBody>
          <a:bodyPr anchorCtr="0" anchor="t" bIns="12700" lIns="12700" spcFirstLastPara="1" rIns="12700" wrap="square" tIns="12700">
            <a:noAutofit/>
          </a:bodyPr>
          <a:lstStyle/>
          <a:p>
            <a:pPr indent="0" lvl="0" marL="0" marR="0" rtl="0" algn="r">
              <a:spcBef>
                <a:spcPts val="0"/>
              </a:spcBef>
              <a:spcAft>
                <a:spcPts val="0"/>
              </a:spcAft>
              <a:buClr>
                <a:srgbClr val="1A140C"/>
              </a:buClr>
              <a:buSzPts val="1100"/>
              <a:buFont typeface="Times New Roman"/>
              <a:buNone/>
            </a:pPr>
            <a:r>
              <a:rPr b="1" i="0" lang="en" sz="1100" u="none" cap="none" strike="noStrike">
                <a:solidFill>
                  <a:srgbClr val="1A140C"/>
                </a:solidFill>
                <a:latin typeface="Calibri"/>
                <a:ea typeface="Calibri"/>
                <a:cs typeface="Calibri"/>
                <a:sym typeface="Calibri"/>
              </a:rPr>
              <a:t>Random</a:t>
            </a:r>
            <a:endParaRPr i="0" sz="1100" u="none" cap="none" strike="noStrike">
              <a:solidFill>
                <a:schemeClr val="dk1"/>
              </a:solidFill>
              <a:latin typeface="Calibri"/>
              <a:ea typeface="Calibri"/>
              <a:cs typeface="Calibri"/>
              <a:sym typeface="Calibri"/>
            </a:endParaRPr>
          </a:p>
        </p:txBody>
      </p:sp>
      <p:sp>
        <p:nvSpPr>
          <p:cNvPr id="995" name="Google Shape;995;p24"/>
          <p:cNvSpPr/>
          <p:nvPr/>
        </p:nvSpPr>
        <p:spPr>
          <a:xfrm>
            <a:off x="2426325" y="1892693"/>
            <a:ext cx="5010300" cy="4800"/>
          </a:xfrm>
          <a:prstGeom prst="rect">
            <a:avLst/>
          </a:prstGeom>
          <a:solidFill>
            <a:srgbClr val="1A140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96" name="Google Shape;996;p24"/>
          <p:cNvSpPr/>
          <p:nvPr/>
        </p:nvSpPr>
        <p:spPr>
          <a:xfrm>
            <a:off x="2426325" y="1768868"/>
            <a:ext cx="29400" cy="123900"/>
          </a:xfrm>
          <a:prstGeom prst="rect">
            <a:avLst/>
          </a:prstGeom>
          <a:solidFill>
            <a:srgbClr val="1A140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97" name="Google Shape;997;p24"/>
          <p:cNvSpPr/>
          <p:nvPr/>
        </p:nvSpPr>
        <p:spPr>
          <a:xfrm>
            <a:off x="2446343" y="1768868"/>
            <a:ext cx="9600" cy="123900"/>
          </a:xfrm>
          <a:prstGeom prst="rect">
            <a:avLst/>
          </a:prstGeom>
          <a:solidFill>
            <a:srgbClr val="1A140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998" name="Google Shape;998;p24"/>
          <p:cNvSpPr/>
          <p:nvPr/>
        </p:nvSpPr>
        <p:spPr>
          <a:xfrm>
            <a:off x="7550775" y="1756962"/>
            <a:ext cx="1181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A140C"/>
              </a:buClr>
              <a:buSzPts val="900"/>
              <a:buFont typeface="IBM Plex Mono"/>
              <a:buNone/>
            </a:pPr>
            <a:r>
              <a:rPr i="0" lang="en" sz="900" u="none" cap="none" strike="noStrike">
                <a:solidFill>
                  <a:srgbClr val="1A140C"/>
                </a:solidFill>
                <a:latin typeface="Calibri"/>
                <a:ea typeface="Calibri"/>
                <a:cs typeface="Calibri"/>
                <a:sym typeface="Calibri"/>
              </a:rPr>
              <a:t>0.07 ms</a:t>
            </a:r>
            <a:endParaRPr i="0" sz="900" u="none" cap="none" strike="noStrike">
              <a:solidFill>
                <a:schemeClr val="dk1"/>
              </a:solidFill>
              <a:latin typeface="Calibri"/>
              <a:ea typeface="Calibri"/>
              <a:cs typeface="Calibri"/>
              <a:sym typeface="Calibri"/>
            </a:endParaRPr>
          </a:p>
        </p:txBody>
      </p:sp>
      <p:sp>
        <p:nvSpPr>
          <p:cNvPr id="999" name="Google Shape;999;p24"/>
          <p:cNvSpPr/>
          <p:nvPr/>
        </p:nvSpPr>
        <p:spPr>
          <a:xfrm>
            <a:off x="447983" y="1995087"/>
            <a:ext cx="1863900" cy="171600"/>
          </a:xfrm>
          <a:prstGeom prst="rect">
            <a:avLst/>
          </a:prstGeom>
          <a:noFill/>
          <a:ln>
            <a:noFill/>
          </a:ln>
        </p:spPr>
        <p:txBody>
          <a:bodyPr anchorCtr="0" anchor="t" bIns="12700" lIns="12700" spcFirstLastPara="1" rIns="12700" wrap="square" tIns="12700">
            <a:noAutofit/>
          </a:bodyPr>
          <a:lstStyle/>
          <a:p>
            <a:pPr indent="0" lvl="0" marL="0" marR="0" rtl="0" algn="r">
              <a:spcBef>
                <a:spcPts val="0"/>
              </a:spcBef>
              <a:spcAft>
                <a:spcPts val="0"/>
              </a:spcAft>
              <a:buClr>
                <a:srgbClr val="7A1F10"/>
              </a:buClr>
              <a:buSzPts val="1100"/>
              <a:buFont typeface="Times New Roman"/>
              <a:buNone/>
            </a:pPr>
            <a:r>
              <a:rPr b="1" i="0" lang="en" sz="1100" u="none" cap="none" strike="noStrike">
                <a:solidFill>
                  <a:srgbClr val="7A1F10"/>
                </a:solidFill>
                <a:latin typeface="Calibri"/>
                <a:ea typeface="Calibri"/>
                <a:cs typeface="Calibri"/>
                <a:sym typeface="Calibri"/>
              </a:rPr>
              <a:t>PAPIT-Distill </a:t>
            </a:r>
            <a:r>
              <a:rPr i="1" lang="en" sz="1100" u="none" cap="none" strike="noStrike">
                <a:solidFill>
                  <a:srgbClr val="8A7A64"/>
                </a:solidFill>
                <a:latin typeface="Calibri"/>
                <a:ea typeface="Calibri"/>
                <a:cs typeface="Calibri"/>
                <a:sym typeface="Calibri"/>
              </a:rPr>
              <a:t>(ours)</a:t>
            </a:r>
            <a:endParaRPr i="0" sz="1100" u="none" cap="none" strike="noStrike">
              <a:solidFill>
                <a:schemeClr val="dk1"/>
              </a:solidFill>
              <a:latin typeface="Calibri"/>
              <a:ea typeface="Calibri"/>
              <a:cs typeface="Calibri"/>
              <a:sym typeface="Calibri"/>
            </a:endParaRPr>
          </a:p>
        </p:txBody>
      </p:sp>
      <p:sp>
        <p:nvSpPr>
          <p:cNvPr id="1000" name="Google Shape;1000;p24"/>
          <p:cNvSpPr/>
          <p:nvPr/>
        </p:nvSpPr>
        <p:spPr>
          <a:xfrm>
            <a:off x="2426325" y="2130818"/>
            <a:ext cx="5010300" cy="4800"/>
          </a:xfrm>
          <a:prstGeom prst="rect">
            <a:avLst/>
          </a:prstGeom>
          <a:solidFill>
            <a:srgbClr val="1A140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01" name="Google Shape;1001;p24"/>
          <p:cNvSpPr/>
          <p:nvPr/>
        </p:nvSpPr>
        <p:spPr>
          <a:xfrm>
            <a:off x="2426325" y="2006993"/>
            <a:ext cx="94800" cy="123900"/>
          </a:xfrm>
          <a:prstGeom prst="rect">
            <a:avLst/>
          </a:prstGeom>
          <a:solidFill>
            <a:srgbClr val="7A1F1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02" name="Google Shape;1002;p24"/>
          <p:cNvSpPr/>
          <p:nvPr/>
        </p:nvSpPr>
        <p:spPr>
          <a:xfrm>
            <a:off x="2511455" y="2006993"/>
            <a:ext cx="9600" cy="123900"/>
          </a:xfrm>
          <a:prstGeom prst="rect">
            <a:avLst/>
          </a:prstGeom>
          <a:solidFill>
            <a:srgbClr val="7A1F1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03" name="Google Shape;1003;p24"/>
          <p:cNvSpPr/>
          <p:nvPr/>
        </p:nvSpPr>
        <p:spPr>
          <a:xfrm>
            <a:off x="7550775" y="1995087"/>
            <a:ext cx="1181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A1F10"/>
              </a:buClr>
              <a:buSzPts val="900"/>
              <a:buFont typeface="IBM Plex Mono"/>
              <a:buNone/>
            </a:pPr>
            <a:r>
              <a:rPr b="1" i="0" lang="en" sz="900" u="none" cap="none" strike="noStrike">
                <a:solidFill>
                  <a:srgbClr val="7A1F10"/>
                </a:solidFill>
                <a:latin typeface="Calibri"/>
                <a:ea typeface="Calibri"/>
                <a:cs typeface="Calibri"/>
                <a:sym typeface="Calibri"/>
              </a:rPr>
              <a:t>0.43 ms</a:t>
            </a:r>
            <a:endParaRPr i="0" sz="900" u="none" cap="none" strike="noStrike">
              <a:solidFill>
                <a:schemeClr val="dk1"/>
              </a:solidFill>
              <a:latin typeface="Calibri"/>
              <a:ea typeface="Calibri"/>
              <a:cs typeface="Calibri"/>
              <a:sym typeface="Calibri"/>
            </a:endParaRPr>
          </a:p>
        </p:txBody>
      </p:sp>
      <p:sp>
        <p:nvSpPr>
          <p:cNvPr id="1004" name="Google Shape;1004;p24"/>
          <p:cNvSpPr/>
          <p:nvPr/>
        </p:nvSpPr>
        <p:spPr>
          <a:xfrm>
            <a:off x="447983" y="2233212"/>
            <a:ext cx="1863900" cy="171600"/>
          </a:xfrm>
          <a:prstGeom prst="rect">
            <a:avLst/>
          </a:prstGeom>
          <a:noFill/>
          <a:ln>
            <a:noFill/>
          </a:ln>
        </p:spPr>
        <p:txBody>
          <a:bodyPr anchorCtr="0" anchor="t" bIns="12700" lIns="12700" spcFirstLastPara="1" rIns="12700" wrap="square" tIns="12700">
            <a:noAutofit/>
          </a:bodyPr>
          <a:lstStyle/>
          <a:p>
            <a:pPr indent="0" lvl="0" marL="0" marR="0" rtl="0" algn="r">
              <a:spcBef>
                <a:spcPts val="0"/>
              </a:spcBef>
              <a:spcAft>
                <a:spcPts val="0"/>
              </a:spcAft>
              <a:buClr>
                <a:srgbClr val="1A140C"/>
              </a:buClr>
              <a:buSzPts val="1100"/>
              <a:buFont typeface="Times New Roman"/>
              <a:buNone/>
            </a:pPr>
            <a:r>
              <a:rPr b="1" i="0" lang="en" sz="1100" u="none" cap="none" strike="noStrike">
                <a:solidFill>
                  <a:srgbClr val="1A140C"/>
                </a:solidFill>
                <a:latin typeface="Calibri"/>
                <a:ea typeface="Calibri"/>
                <a:cs typeface="Calibri"/>
                <a:sym typeface="Calibri"/>
              </a:rPr>
              <a:t>PAPIT-CLIP </a:t>
            </a:r>
            <a:r>
              <a:rPr i="1" lang="en" sz="1100" u="none" cap="none" strike="noStrike">
                <a:solidFill>
                  <a:srgbClr val="8A7A64"/>
                </a:solidFill>
                <a:latin typeface="Calibri"/>
                <a:ea typeface="Calibri"/>
                <a:cs typeface="Calibri"/>
                <a:sym typeface="Calibri"/>
              </a:rPr>
              <a:t>(Grad-CAM)</a:t>
            </a:r>
            <a:endParaRPr i="0" sz="1100" u="none" cap="none" strike="noStrike">
              <a:solidFill>
                <a:schemeClr val="dk1"/>
              </a:solidFill>
              <a:latin typeface="Calibri"/>
              <a:ea typeface="Calibri"/>
              <a:cs typeface="Calibri"/>
              <a:sym typeface="Calibri"/>
            </a:endParaRPr>
          </a:p>
        </p:txBody>
      </p:sp>
      <p:sp>
        <p:nvSpPr>
          <p:cNvPr id="1005" name="Google Shape;1005;p24"/>
          <p:cNvSpPr/>
          <p:nvPr/>
        </p:nvSpPr>
        <p:spPr>
          <a:xfrm>
            <a:off x="2426325" y="2368943"/>
            <a:ext cx="5010300" cy="4800"/>
          </a:xfrm>
          <a:prstGeom prst="rect">
            <a:avLst/>
          </a:prstGeom>
          <a:solidFill>
            <a:srgbClr val="1A140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06" name="Google Shape;1006;p24"/>
          <p:cNvSpPr/>
          <p:nvPr/>
        </p:nvSpPr>
        <p:spPr>
          <a:xfrm>
            <a:off x="2426325" y="2245118"/>
            <a:ext cx="1512600" cy="123900"/>
          </a:xfrm>
          <a:prstGeom prst="rect">
            <a:avLst/>
          </a:prstGeom>
          <a:solidFill>
            <a:srgbClr val="1A140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07" name="Google Shape;1007;p24"/>
          <p:cNvSpPr/>
          <p:nvPr/>
        </p:nvSpPr>
        <p:spPr>
          <a:xfrm>
            <a:off x="3929340" y="2245118"/>
            <a:ext cx="9600" cy="123900"/>
          </a:xfrm>
          <a:prstGeom prst="rect">
            <a:avLst/>
          </a:prstGeom>
          <a:solidFill>
            <a:srgbClr val="1A140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08" name="Google Shape;1008;p24"/>
          <p:cNvSpPr/>
          <p:nvPr/>
        </p:nvSpPr>
        <p:spPr>
          <a:xfrm>
            <a:off x="7550775" y="2233212"/>
            <a:ext cx="1181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A140C"/>
              </a:buClr>
              <a:buSzPts val="900"/>
              <a:buFont typeface="IBM Plex Mono"/>
              <a:buNone/>
            </a:pPr>
            <a:r>
              <a:rPr i="0" lang="en" sz="900" u="none" cap="none" strike="noStrike">
                <a:solidFill>
                  <a:srgbClr val="1A140C"/>
                </a:solidFill>
                <a:latin typeface="Calibri"/>
                <a:ea typeface="Calibri"/>
                <a:cs typeface="Calibri"/>
                <a:sym typeface="Calibri"/>
              </a:rPr>
              <a:t>65.23 ms</a:t>
            </a:r>
            <a:endParaRPr i="0" sz="900" u="none" cap="none" strike="noStrike">
              <a:solidFill>
                <a:schemeClr val="dk1"/>
              </a:solidFill>
              <a:latin typeface="Calibri"/>
              <a:ea typeface="Calibri"/>
              <a:cs typeface="Calibri"/>
              <a:sym typeface="Calibri"/>
            </a:endParaRPr>
          </a:p>
        </p:txBody>
      </p:sp>
      <p:sp>
        <p:nvSpPr>
          <p:cNvPr id="1009" name="Google Shape;1009;p24"/>
          <p:cNvSpPr/>
          <p:nvPr/>
        </p:nvSpPr>
        <p:spPr>
          <a:xfrm>
            <a:off x="447983" y="2471337"/>
            <a:ext cx="1863900" cy="171600"/>
          </a:xfrm>
          <a:prstGeom prst="rect">
            <a:avLst/>
          </a:prstGeom>
          <a:noFill/>
          <a:ln>
            <a:noFill/>
          </a:ln>
        </p:spPr>
        <p:txBody>
          <a:bodyPr anchorCtr="0" anchor="t" bIns="12700" lIns="12700" spcFirstLastPara="1" rIns="12700" wrap="square" tIns="12700">
            <a:noAutofit/>
          </a:bodyPr>
          <a:lstStyle/>
          <a:p>
            <a:pPr indent="0" lvl="0" marL="0" marR="0" rtl="0" algn="r">
              <a:spcBef>
                <a:spcPts val="0"/>
              </a:spcBef>
              <a:spcAft>
                <a:spcPts val="0"/>
              </a:spcAft>
              <a:buClr>
                <a:srgbClr val="1A140C"/>
              </a:buClr>
              <a:buSzPts val="1100"/>
              <a:buFont typeface="Times New Roman"/>
              <a:buNone/>
            </a:pPr>
            <a:r>
              <a:rPr b="1" i="0" lang="en" sz="1100" u="none" cap="none" strike="noStrike">
                <a:solidFill>
                  <a:srgbClr val="1A140C"/>
                </a:solidFill>
                <a:latin typeface="Calibri"/>
                <a:ea typeface="Calibri"/>
                <a:cs typeface="Calibri"/>
                <a:sym typeface="Calibri"/>
              </a:rPr>
              <a:t>Two-pass Oracle </a:t>
            </a:r>
            <a:r>
              <a:rPr i="1" lang="en" sz="1100" u="none" cap="none" strike="noStrike">
                <a:solidFill>
                  <a:srgbClr val="8A7A64"/>
                </a:solidFill>
                <a:latin typeface="Calibri"/>
                <a:ea typeface="Calibri"/>
                <a:cs typeface="Calibri"/>
                <a:sym typeface="Calibri"/>
              </a:rPr>
              <a:t>L = 16</a:t>
            </a:r>
            <a:endParaRPr i="0" sz="1100" u="none" cap="none" strike="noStrike">
              <a:solidFill>
                <a:schemeClr val="dk1"/>
              </a:solidFill>
              <a:latin typeface="Calibri"/>
              <a:ea typeface="Calibri"/>
              <a:cs typeface="Calibri"/>
              <a:sym typeface="Calibri"/>
            </a:endParaRPr>
          </a:p>
        </p:txBody>
      </p:sp>
      <p:sp>
        <p:nvSpPr>
          <p:cNvPr id="1010" name="Google Shape;1010;p24"/>
          <p:cNvSpPr/>
          <p:nvPr/>
        </p:nvSpPr>
        <p:spPr>
          <a:xfrm>
            <a:off x="2426325" y="2607068"/>
            <a:ext cx="5010300" cy="4800"/>
          </a:xfrm>
          <a:prstGeom prst="rect">
            <a:avLst/>
          </a:prstGeom>
          <a:solidFill>
            <a:srgbClr val="1A140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11" name="Google Shape;1011;p24"/>
          <p:cNvSpPr/>
          <p:nvPr/>
        </p:nvSpPr>
        <p:spPr>
          <a:xfrm>
            <a:off x="2426325" y="2483243"/>
            <a:ext cx="5019600" cy="123900"/>
          </a:xfrm>
          <a:prstGeom prst="rect">
            <a:avLst/>
          </a:prstGeom>
          <a:solidFill>
            <a:srgbClr val="1A140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12" name="Google Shape;1012;p24"/>
          <p:cNvSpPr/>
          <p:nvPr/>
        </p:nvSpPr>
        <p:spPr>
          <a:xfrm>
            <a:off x="7436475" y="2483243"/>
            <a:ext cx="9600" cy="123900"/>
          </a:xfrm>
          <a:prstGeom prst="rect">
            <a:avLst/>
          </a:prstGeom>
          <a:solidFill>
            <a:srgbClr val="1A140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13" name="Google Shape;1013;p24"/>
          <p:cNvSpPr/>
          <p:nvPr/>
        </p:nvSpPr>
        <p:spPr>
          <a:xfrm>
            <a:off x="7550775" y="2471337"/>
            <a:ext cx="1181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A140C"/>
              </a:buClr>
              <a:buSzPts val="900"/>
              <a:buFont typeface="IBM Plex Mono"/>
              <a:buNone/>
            </a:pPr>
            <a:r>
              <a:rPr i="0" lang="en" sz="900" u="none" cap="none" strike="noStrike">
                <a:solidFill>
                  <a:srgbClr val="1A140C"/>
                </a:solidFill>
                <a:latin typeface="Calibri"/>
                <a:ea typeface="Calibri"/>
                <a:cs typeface="Calibri"/>
                <a:sym typeface="Calibri"/>
              </a:rPr>
              <a:t>216.17 ms</a:t>
            </a:r>
            <a:endParaRPr i="0" sz="900" u="none" cap="none" strike="noStrike">
              <a:solidFill>
                <a:schemeClr val="dk1"/>
              </a:solidFill>
              <a:latin typeface="Calibri"/>
              <a:ea typeface="Calibri"/>
              <a:cs typeface="Calibri"/>
              <a:sym typeface="Calibri"/>
            </a:endParaRPr>
          </a:p>
        </p:txBody>
      </p:sp>
      <p:sp>
        <p:nvSpPr>
          <p:cNvPr id="1014" name="Google Shape;1014;p24"/>
          <p:cNvSpPr/>
          <p:nvPr/>
        </p:nvSpPr>
        <p:spPr>
          <a:xfrm>
            <a:off x="1500333" y="3140963"/>
            <a:ext cx="2492400" cy="747600"/>
          </a:xfrm>
          <a:prstGeom prst="rect">
            <a:avLst/>
          </a:prstGeom>
          <a:noFill/>
          <a:ln>
            <a:noFill/>
          </a:ln>
        </p:spPr>
        <p:txBody>
          <a:bodyPr anchorCtr="0" anchor="t" bIns="12700" lIns="12700" spcFirstLastPara="1" rIns="12700" wrap="square" tIns="12700">
            <a:noAutofit/>
          </a:bodyPr>
          <a:lstStyle/>
          <a:p>
            <a:pPr indent="0" lvl="0" marL="0" marR="0" rtl="0" algn="l">
              <a:lnSpc>
                <a:spcPct val="85000"/>
              </a:lnSpc>
              <a:spcBef>
                <a:spcPts val="0"/>
              </a:spcBef>
              <a:spcAft>
                <a:spcPts val="0"/>
              </a:spcAft>
              <a:buClr>
                <a:srgbClr val="7A1F10"/>
              </a:buClr>
              <a:buSzPts val="6800"/>
              <a:buFont typeface="Times New Roman"/>
              <a:buNone/>
            </a:pPr>
            <a:r>
              <a:rPr i="0" lang="en" sz="6800" u="none" cap="none" strike="noStrike">
                <a:solidFill>
                  <a:srgbClr val="7A1F10"/>
                </a:solidFill>
                <a:latin typeface="Calibri"/>
                <a:ea typeface="Calibri"/>
                <a:cs typeface="Calibri"/>
                <a:sym typeface="Calibri"/>
              </a:rPr>
              <a:t>~150</a:t>
            </a:r>
            <a:r>
              <a:rPr i="1" lang="en" sz="2000" u="none" cap="none" strike="noStrike">
                <a:solidFill>
                  <a:srgbClr val="1A140C"/>
                </a:solidFill>
                <a:latin typeface="Calibri"/>
                <a:ea typeface="Calibri"/>
                <a:cs typeface="Calibri"/>
                <a:sym typeface="Calibri"/>
              </a:rPr>
              <a:t>×</a:t>
            </a:r>
            <a:endParaRPr i="0" sz="6800" u="none" cap="none" strike="noStrike">
              <a:solidFill>
                <a:schemeClr val="dk1"/>
              </a:solidFill>
              <a:latin typeface="Calibri"/>
              <a:ea typeface="Calibri"/>
              <a:cs typeface="Calibri"/>
              <a:sym typeface="Calibri"/>
            </a:endParaRPr>
          </a:p>
        </p:txBody>
      </p:sp>
      <p:sp>
        <p:nvSpPr>
          <p:cNvPr id="1015" name="Google Shape;1015;p24"/>
          <p:cNvSpPr/>
          <p:nvPr/>
        </p:nvSpPr>
        <p:spPr>
          <a:xfrm>
            <a:off x="1500333" y="3973802"/>
            <a:ext cx="24924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A3A28"/>
              </a:buClr>
              <a:buSzPts val="1100"/>
              <a:buFont typeface="Times New Roman"/>
              <a:buNone/>
            </a:pPr>
            <a:r>
              <a:rPr i="1" lang="en" sz="1600" u="none" cap="none" strike="noStrike">
                <a:solidFill>
                  <a:srgbClr val="4A3A28"/>
                </a:solidFill>
                <a:latin typeface="Calibri"/>
                <a:ea typeface="Calibri"/>
                <a:cs typeface="Calibri"/>
                <a:sym typeface="Calibri"/>
              </a:rPr>
              <a:t>faster than CLIP-Grad-CAM</a:t>
            </a:r>
            <a:endParaRPr i="0" sz="1600" u="none" cap="none" strike="noStrike">
              <a:solidFill>
                <a:schemeClr val="dk1"/>
              </a:solidFill>
              <a:latin typeface="Calibri"/>
              <a:ea typeface="Calibri"/>
              <a:cs typeface="Calibri"/>
              <a:sym typeface="Calibri"/>
            </a:endParaRPr>
          </a:p>
        </p:txBody>
      </p:sp>
      <p:sp>
        <p:nvSpPr>
          <p:cNvPr id="1016" name="Google Shape;1016;p24"/>
          <p:cNvSpPr/>
          <p:nvPr/>
        </p:nvSpPr>
        <p:spPr>
          <a:xfrm>
            <a:off x="4999722" y="3143325"/>
            <a:ext cx="2793300" cy="747600"/>
          </a:xfrm>
          <a:prstGeom prst="rect">
            <a:avLst/>
          </a:prstGeom>
          <a:noFill/>
          <a:ln>
            <a:noFill/>
          </a:ln>
        </p:spPr>
        <p:txBody>
          <a:bodyPr anchorCtr="0" anchor="t" bIns="12700" lIns="12700" spcFirstLastPara="1" rIns="12700" wrap="square" tIns="12700">
            <a:noAutofit/>
          </a:bodyPr>
          <a:lstStyle/>
          <a:p>
            <a:pPr indent="0" lvl="0" marL="0" marR="0" rtl="0" algn="l">
              <a:lnSpc>
                <a:spcPct val="85000"/>
              </a:lnSpc>
              <a:spcBef>
                <a:spcPts val="0"/>
              </a:spcBef>
              <a:spcAft>
                <a:spcPts val="0"/>
              </a:spcAft>
              <a:buClr>
                <a:srgbClr val="7A1F10"/>
              </a:buClr>
              <a:buSzPts val="6800"/>
              <a:buFont typeface="Times New Roman"/>
              <a:buNone/>
            </a:pPr>
            <a:r>
              <a:rPr i="0" lang="en" sz="6800" u="none" cap="none" strike="noStrike">
                <a:solidFill>
                  <a:srgbClr val="7A1F10"/>
                </a:solidFill>
                <a:latin typeface="Calibri"/>
                <a:ea typeface="Calibri"/>
                <a:cs typeface="Calibri"/>
                <a:sym typeface="Calibri"/>
              </a:rPr>
              <a:t>~500</a:t>
            </a:r>
            <a:r>
              <a:rPr i="1" lang="en" sz="2000" u="none" cap="none" strike="noStrike">
                <a:solidFill>
                  <a:srgbClr val="1A140C"/>
                </a:solidFill>
                <a:latin typeface="Calibri"/>
                <a:ea typeface="Calibri"/>
                <a:cs typeface="Calibri"/>
                <a:sym typeface="Calibri"/>
              </a:rPr>
              <a:t>×</a:t>
            </a:r>
            <a:endParaRPr i="0" sz="6800" u="none" cap="none" strike="noStrike">
              <a:solidFill>
                <a:schemeClr val="dk1"/>
              </a:solidFill>
              <a:latin typeface="Calibri"/>
              <a:ea typeface="Calibri"/>
              <a:cs typeface="Calibri"/>
              <a:sym typeface="Calibri"/>
            </a:endParaRPr>
          </a:p>
        </p:txBody>
      </p:sp>
      <p:sp>
        <p:nvSpPr>
          <p:cNvPr id="1017" name="Google Shape;1017;p24"/>
          <p:cNvSpPr/>
          <p:nvPr/>
        </p:nvSpPr>
        <p:spPr>
          <a:xfrm>
            <a:off x="4571998" y="3956873"/>
            <a:ext cx="33216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A3A28"/>
              </a:buClr>
              <a:buSzPts val="1100"/>
              <a:buFont typeface="Times New Roman"/>
              <a:buNone/>
            </a:pPr>
            <a:r>
              <a:rPr i="1" lang="en" sz="1600" u="none" cap="none" strike="noStrike">
                <a:solidFill>
                  <a:srgbClr val="4A3A28"/>
                </a:solidFill>
                <a:latin typeface="Calibri"/>
                <a:ea typeface="Calibri"/>
                <a:cs typeface="Calibri"/>
                <a:sym typeface="Calibri"/>
              </a:rPr>
              <a:t>faster than the oracle it learned from</a:t>
            </a:r>
            <a:endParaRPr i="0" sz="1600" u="none" cap="none" strike="noStrike">
              <a:solidFill>
                <a:schemeClr val="dk1"/>
              </a:solidFill>
              <a:latin typeface="Calibri"/>
              <a:ea typeface="Calibri"/>
              <a:cs typeface="Calibri"/>
              <a:sym typeface="Calibri"/>
            </a:endParaRPr>
          </a:p>
        </p:txBody>
      </p:sp>
      <p:sp>
        <p:nvSpPr>
          <p:cNvPr id="1018" name="Google Shape;1018;p24"/>
          <p:cNvSpPr/>
          <p:nvPr/>
        </p:nvSpPr>
        <p:spPr>
          <a:xfrm>
            <a:off x="476250" y="4643438"/>
            <a:ext cx="8191500" cy="4763"/>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19" name="Google Shape;1019;p24"/>
          <p:cNvSpPr/>
          <p:nvPr/>
        </p:nvSpPr>
        <p:spPr>
          <a:xfrm>
            <a:off x="476250" y="4743450"/>
            <a:ext cx="1375728" cy="1476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i="1" lang="en" sz="900" u="none" cap="none" strike="noStrike">
                <a:solidFill>
                  <a:srgbClr val="8A7A64"/>
                </a:solidFill>
                <a:latin typeface="Calibri"/>
                <a:ea typeface="Calibri"/>
                <a:cs typeface="Calibri"/>
                <a:sym typeface="Calibri"/>
              </a:rPr>
              <a:t>PAPIT · an essay in pruning</a:t>
            </a:r>
            <a:endParaRPr i="0" sz="900" u="none" cap="none" strike="noStrike">
              <a:solidFill>
                <a:schemeClr val="dk1"/>
              </a:solidFill>
              <a:latin typeface="Calibri"/>
              <a:ea typeface="Calibri"/>
              <a:cs typeface="Calibri"/>
              <a:sym typeface="Calibri"/>
            </a:endParaRPr>
          </a:p>
        </p:txBody>
      </p:sp>
      <p:sp>
        <p:nvSpPr>
          <p:cNvPr id="1020" name="Google Shape;1020;p24"/>
          <p:cNvSpPr/>
          <p:nvPr/>
        </p:nvSpPr>
        <p:spPr>
          <a:xfrm>
            <a:off x="7947645" y="4724400"/>
            <a:ext cx="758205" cy="1714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IBM Plex Mono"/>
              <a:buNone/>
            </a:pPr>
            <a:r>
              <a:rPr i="0" lang="en" sz="900" u="none" cap="none" strike="noStrike">
                <a:solidFill>
                  <a:srgbClr val="8A7A64"/>
                </a:solidFill>
                <a:latin typeface="Calibri"/>
                <a:ea typeface="Calibri"/>
                <a:cs typeface="Calibri"/>
                <a:sym typeface="Calibri"/>
              </a:rPr>
              <a:t>09 / 10</a:t>
            </a:r>
            <a:endParaRPr i="0" sz="900" u="none" cap="none" strike="noStrike">
              <a:solidFill>
                <a:schemeClr val="dk1"/>
              </a:solidFill>
              <a:latin typeface="Calibri"/>
              <a:ea typeface="Calibri"/>
              <a:cs typeface="Calibri"/>
              <a:sym typeface="Calibri"/>
            </a:endParaRPr>
          </a:p>
        </p:txBody>
      </p:sp>
      <p:sp>
        <p:nvSpPr>
          <p:cNvPr id="1021" name="Google Shape;1021;p24"/>
          <p:cNvSpPr/>
          <p:nvPr/>
        </p:nvSpPr>
        <p:spPr>
          <a:xfrm>
            <a:off x="447975" y="824250"/>
            <a:ext cx="2793300" cy="480600"/>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A140C"/>
              </a:buClr>
              <a:buSzPts val="3000"/>
              <a:buFont typeface="Times New Roman"/>
              <a:buNone/>
            </a:pPr>
            <a:r>
              <a:rPr lang="en" sz="3000">
                <a:solidFill>
                  <a:srgbClr val="1A140C"/>
                </a:solidFill>
                <a:latin typeface="Calibri"/>
                <a:ea typeface="Calibri"/>
                <a:cs typeface="Calibri"/>
                <a:sym typeface="Calibri"/>
              </a:rPr>
              <a:t>Result: Overhead</a:t>
            </a:r>
            <a:endParaRPr i="0" sz="3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6" name="Shape 1026"/>
        <p:cNvGrpSpPr/>
        <p:nvPr/>
      </p:nvGrpSpPr>
      <p:grpSpPr>
        <a:xfrm>
          <a:off x="0" y="0"/>
          <a:ext cx="0" cy="0"/>
          <a:chOff x="0" y="0"/>
          <a:chExt cx="0" cy="0"/>
        </a:xfrm>
      </p:grpSpPr>
      <p:sp>
        <p:nvSpPr>
          <p:cNvPr id="1027" name="Google Shape;1027;p25"/>
          <p:cNvSpPr/>
          <p:nvPr/>
        </p:nvSpPr>
        <p:spPr>
          <a:xfrm>
            <a:off x="476250" y="485775"/>
            <a:ext cx="8191500" cy="4800"/>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28" name="Google Shape;1028;p25"/>
          <p:cNvSpPr/>
          <p:nvPr/>
        </p:nvSpPr>
        <p:spPr>
          <a:xfrm>
            <a:off x="476250" y="276225"/>
            <a:ext cx="8613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lang="en" sz="1200">
                <a:solidFill>
                  <a:srgbClr val="8A7A64"/>
                </a:solidFill>
                <a:latin typeface="Calibri"/>
                <a:ea typeface="Calibri"/>
                <a:cs typeface="Calibri"/>
                <a:sym typeface="Calibri"/>
              </a:rPr>
              <a:t>Conclusion</a:t>
            </a:r>
            <a:endParaRPr i="0" sz="1200" u="none" cap="none" strike="noStrike">
              <a:solidFill>
                <a:schemeClr val="dk1"/>
              </a:solidFill>
              <a:latin typeface="Calibri"/>
              <a:ea typeface="Calibri"/>
              <a:cs typeface="Calibri"/>
              <a:sym typeface="Calibri"/>
            </a:endParaRPr>
          </a:p>
        </p:txBody>
      </p:sp>
      <p:sp>
        <p:nvSpPr>
          <p:cNvPr id="1029" name="Google Shape;1029;p25"/>
          <p:cNvSpPr/>
          <p:nvPr/>
        </p:nvSpPr>
        <p:spPr>
          <a:xfrm>
            <a:off x="476250" y="1357225"/>
            <a:ext cx="8437200" cy="771900"/>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A140C"/>
              </a:buClr>
              <a:buSzPts val="2900"/>
              <a:buFont typeface="Times New Roman"/>
              <a:buNone/>
            </a:pPr>
            <a:r>
              <a:rPr i="0" lang="en" sz="2400" u="none" cap="none" strike="noStrike">
                <a:solidFill>
                  <a:srgbClr val="1A140C"/>
                </a:solidFill>
                <a:latin typeface="Calibri"/>
                <a:ea typeface="Calibri"/>
                <a:cs typeface="Calibri"/>
                <a:sym typeface="Calibri"/>
              </a:rPr>
              <a:t>A negative result, a quiet diagnostic, and a tiny </a:t>
            </a:r>
            <a:r>
              <a:rPr i="1" lang="en" sz="2400" u="none" cap="none" strike="noStrike">
                <a:solidFill>
                  <a:srgbClr val="7A1F10"/>
                </a:solidFill>
                <a:latin typeface="Calibri"/>
                <a:ea typeface="Calibri"/>
                <a:cs typeface="Calibri"/>
                <a:sym typeface="Calibri"/>
              </a:rPr>
              <a:t>positive resolution</a:t>
            </a:r>
            <a:r>
              <a:rPr i="0" lang="en" sz="2400" u="none" cap="none" strike="noStrike">
                <a:solidFill>
                  <a:srgbClr val="1A140C"/>
                </a:solidFill>
                <a:latin typeface="Calibri"/>
                <a:ea typeface="Calibri"/>
                <a:cs typeface="Calibri"/>
                <a:sym typeface="Calibri"/>
              </a:rPr>
              <a:t>.</a:t>
            </a:r>
            <a:endParaRPr i="0" sz="2400" u="none" cap="none" strike="noStrike">
              <a:solidFill>
                <a:schemeClr val="dk1"/>
              </a:solidFill>
              <a:latin typeface="Calibri"/>
              <a:ea typeface="Calibri"/>
              <a:cs typeface="Calibri"/>
              <a:sym typeface="Calibri"/>
            </a:endParaRPr>
          </a:p>
        </p:txBody>
      </p:sp>
      <p:sp>
        <p:nvSpPr>
          <p:cNvPr id="1030" name="Google Shape;1030;p25"/>
          <p:cNvSpPr/>
          <p:nvPr/>
        </p:nvSpPr>
        <p:spPr>
          <a:xfrm>
            <a:off x="1448217" y="1938162"/>
            <a:ext cx="3540900" cy="644700"/>
          </a:xfrm>
          <a:prstGeom prst="rect">
            <a:avLst/>
          </a:prstGeom>
          <a:noFill/>
          <a:ln>
            <a:noFill/>
          </a:ln>
        </p:spPr>
        <p:txBody>
          <a:bodyPr anchorCtr="0" anchor="t" bIns="17200" lIns="17200" spcFirstLastPara="1" rIns="17200" wrap="square" tIns="17200">
            <a:noAutofit/>
          </a:bodyPr>
          <a:lstStyle/>
          <a:p>
            <a:pPr indent="0" lvl="0" marL="0" marR="0" rtl="0" algn="l">
              <a:lnSpc>
                <a:spcPct val="100000"/>
              </a:lnSpc>
              <a:spcBef>
                <a:spcPts val="0"/>
              </a:spcBef>
              <a:spcAft>
                <a:spcPts val="0"/>
              </a:spcAft>
              <a:buClr>
                <a:srgbClr val="7A1F10"/>
              </a:buClr>
              <a:buSzPts val="4873"/>
              <a:buFont typeface="Times New Roman"/>
              <a:buNone/>
            </a:pPr>
            <a:r>
              <a:rPr i="0" lang="en" sz="4873" u="none" cap="none" strike="noStrike">
                <a:solidFill>
                  <a:srgbClr val="7A1F10"/>
                </a:solidFill>
                <a:latin typeface="Calibri"/>
                <a:ea typeface="Calibri"/>
                <a:cs typeface="Calibri"/>
                <a:sym typeface="Calibri"/>
              </a:rPr>
              <a:t>i</a:t>
            </a:r>
            <a:r>
              <a:rPr i="0" lang="en" sz="4873" u="none" cap="none" strike="noStrike">
                <a:solidFill>
                  <a:srgbClr val="7A1F10"/>
                </a:solidFill>
                <a:latin typeface="Calibri"/>
                <a:ea typeface="Calibri"/>
                <a:cs typeface="Calibri"/>
                <a:sym typeface="Calibri"/>
              </a:rPr>
              <a:t>. </a:t>
            </a:r>
            <a:endParaRPr i="0" sz="4873" u="none" cap="none" strike="noStrike">
              <a:solidFill>
                <a:schemeClr val="dk1"/>
              </a:solidFill>
              <a:latin typeface="Calibri"/>
              <a:ea typeface="Calibri"/>
              <a:cs typeface="Calibri"/>
              <a:sym typeface="Calibri"/>
            </a:endParaRPr>
          </a:p>
        </p:txBody>
      </p:sp>
      <p:sp>
        <p:nvSpPr>
          <p:cNvPr id="1031" name="Google Shape;1031;p25"/>
          <p:cNvSpPr/>
          <p:nvPr/>
        </p:nvSpPr>
        <p:spPr>
          <a:xfrm>
            <a:off x="2076497" y="2044752"/>
            <a:ext cx="5768700" cy="613200"/>
          </a:xfrm>
          <a:prstGeom prst="rect">
            <a:avLst/>
          </a:prstGeom>
          <a:noFill/>
          <a:ln>
            <a:noFill/>
          </a:ln>
        </p:spPr>
        <p:txBody>
          <a:bodyPr anchorCtr="0" anchor="t" bIns="17200" lIns="17200" spcFirstLastPara="1" rIns="17200" wrap="square" tIns="17200">
            <a:noAutofit/>
          </a:bodyPr>
          <a:lstStyle/>
          <a:p>
            <a:pPr indent="0" lvl="0" marL="0" marR="0" rtl="0" algn="l">
              <a:lnSpc>
                <a:spcPct val="120000"/>
              </a:lnSpc>
              <a:spcBef>
                <a:spcPts val="0"/>
              </a:spcBef>
              <a:spcAft>
                <a:spcPts val="0"/>
              </a:spcAft>
              <a:buClr>
                <a:srgbClr val="1A140C"/>
              </a:buClr>
              <a:buSzPts val="1895"/>
              <a:buFont typeface="Times New Roman"/>
              <a:buNone/>
            </a:pPr>
            <a:r>
              <a:rPr i="1" lang="en" sz="1895" u="none" cap="none" strike="noStrike">
                <a:solidFill>
                  <a:srgbClr val="1A140C"/>
                </a:solidFill>
                <a:latin typeface="Calibri"/>
                <a:ea typeface="Calibri"/>
                <a:cs typeface="Calibri"/>
                <a:sym typeface="Calibri"/>
              </a:rPr>
              <a:t>Training-free CLIP saliency cannot predict LLM attention.</a:t>
            </a:r>
            <a:endParaRPr i="1" sz="1895" u="none" cap="none" strike="noStrike">
              <a:solidFill>
                <a:srgbClr val="1A140C"/>
              </a:solidFill>
              <a:latin typeface="Calibri"/>
              <a:ea typeface="Calibri"/>
              <a:cs typeface="Calibri"/>
              <a:sym typeface="Calibri"/>
            </a:endParaRPr>
          </a:p>
          <a:p>
            <a:pPr indent="0" lvl="0" marL="0" rtl="0" algn="l">
              <a:lnSpc>
                <a:spcPct val="145000"/>
              </a:lnSpc>
              <a:spcBef>
                <a:spcPts val="0"/>
              </a:spcBef>
              <a:spcAft>
                <a:spcPts val="0"/>
              </a:spcAft>
              <a:buClr>
                <a:srgbClr val="4A3A28"/>
              </a:buClr>
              <a:buSzPts val="1353"/>
              <a:buFont typeface="Times New Roman"/>
              <a:buNone/>
            </a:pPr>
            <a:r>
              <a:rPr lang="en" sz="1353">
                <a:solidFill>
                  <a:srgbClr val="4A3A28"/>
                </a:solidFill>
                <a:latin typeface="Calibri"/>
                <a:ea typeface="Calibri"/>
                <a:cs typeface="Calibri"/>
                <a:sym typeface="Calibri"/>
              </a:rPr>
              <a:t>A clean cross-dataset negative result that rules out a whole family of pruners.</a:t>
            </a:r>
            <a:endParaRPr sz="1353">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1A140C"/>
              </a:buClr>
              <a:buSzPts val="1895"/>
              <a:buFont typeface="Times New Roman"/>
              <a:buNone/>
            </a:pPr>
            <a:r>
              <a:t/>
            </a:r>
            <a:endParaRPr i="1" sz="1895">
              <a:solidFill>
                <a:srgbClr val="1A140C"/>
              </a:solidFill>
              <a:latin typeface="Calibri"/>
              <a:ea typeface="Calibri"/>
              <a:cs typeface="Calibri"/>
              <a:sym typeface="Calibri"/>
            </a:endParaRPr>
          </a:p>
        </p:txBody>
      </p:sp>
      <p:sp>
        <p:nvSpPr>
          <p:cNvPr id="1032" name="Google Shape;1032;p25"/>
          <p:cNvSpPr/>
          <p:nvPr/>
        </p:nvSpPr>
        <p:spPr>
          <a:xfrm>
            <a:off x="7096125" y="4333875"/>
            <a:ext cx="1618800" cy="157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A3A28"/>
              </a:buClr>
              <a:buSzPts val="800"/>
              <a:buFont typeface="IBM Plex Mono"/>
              <a:buNone/>
            </a:pPr>
            <a:r>
              <a:rPr i="0" lang="en" sz="800" u="none" cap="none" strike="noStrike">
                <a:solidFill>
                  <a:srgbClr val="4A3A28"/>
                </a:solidFill>
                <a:latin typeface="Calibri"/>
                <a:ea typeface="Calibri"/>
                <a:cs typeface="Calibri"/>
                <a:sym typeface="Calibri"/>
              </a:rPr>
              <a:t>github.com/yarikama/PAPIT</a:t>
            </a:r>
            <a:endParaRPr i="0" sz="800" u="none" cap="none" strike="noStrike">
              <a:solidFill>
                <a:schemeClr val="dk1"/>
              </a:solidFill>
              <a:latin typeface="Calibri"/>
              <a:ea typeface="Calibri"/>
              <a:cs typeface="Calibri"/>
              <a:sym typeface="Calibri"/>
            </a:endParaRPr>
          </a:p>
        </p:txBody>
      </p:sp>
      <p:sp>
        <p:nvSpPr>
          <p:cNvPr id="1033" name="Google Shape;1033;p25"/>
          <p:cNvSpPr/>
          <p:nvPr/>
        </p:nvSpPr>
        <p:spPr>
          <a:xfrm>
            <a:off x="476250" y="4643438"/>
            <a:ext cx="8191500" cy="4800"/>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34" name="Google Shape;1034;p25"/>
          <p:cNvSpPr/>
          <p:nvPr/>
        </p:nvSpPr>
        <p:spPr>
          <a:xfrm>
            <a:off x="476250" y="4743450"/>
            <a:ext cx="13758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i="1" lang="en" sz="900" u="none" cap="none" strike="noStrike">
                <a:solidFill>
                  <a:srgbClr val="8A7A64"/>
                </a:solidFill>
                <a:latin typeface="Calibri"/>
                <a:ea typeface="Calibri"/>
                <a:cs typeface="Calibri"/>
                <a:sym typeface="Calibri"/>
              </a:rPr>
              <a:t>PAPIT · an essay in pruning</a:t>
            </a:r>
            <a:endParaRPr i="0" sz="900" u="none" cap="none" strike="noStrike">
              <a:solidFill>
                <a:schemeClr val="dk1"/>
              </a:solidFill>
              <a:latin typeface="Calibri"/>
              <a:ea typeface="Calibri"/>
              <a:cs typeface="Calibri"/>
              <a:sym typeface="Calibri"/>
            </a:endParaRPr>
          </a:p>
        </p:txBody>
      </p:sp>
      <p:sp>
        <p:nvSpPr>
          <p:cNvPr id="1035" name="Google Shape;1035;p25"/>
          <p:cNvSpPr/>
          <p:nvPr/>
        </p:nvSpPr>
        <p:spPr>
          <a:xfrm>
            <a:off x="7947645" y="4724400"/>
            <a:ext cx="758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IBM Plex Mono"/>
              <a:buNone/>
            </a:pPr>
            <a:r>
              <a:rPr i="0" lang="en" sz="900" u="none" cap="none" strike="noStrike">
                <a:solidFill>
                  <a:srgbClr val="8A7A64"/>
                </a:solidFill>
                <a:latin typeface="Calibri"/>
                <a:ea typeface="Calibri"/>
                <a:cs typeface="Calibri"/>
                <a:sym typeface="Calibri"/>
              </a:rPr>
              <a:t>10 / 10</a:t>
            </a:r>
            <a:endParaRPr i="0" sz="900" u="none" cap="none" strike="noStrike">
              <a:solidFill>
                <a:schemeClr val="dk1"/>
              </a:solidFill>
              <a:latin typeface="Calibri"/>
              <a:ea typeface="Calibri"/>
              <a:cs typeface="Calibri"/>
              <a:sym typeface="Calibri"/>
            </a:endParaRPr>
          </a:p>
        </p:txBody>
      </p:sp>
      <p:sp>
        <p:nvSpPr>
          <p:cNvPr id="1036" name="Google Shape;1036;p25"/>
          <p:cNvSpPr/>
          <p:nvPr/>
        </p:nvSpPr>
        <p:spPr>
          <a:xfrm>
            <a:off x="447975" y="824250"/>
            <a:ext cx="2793300" cy="480600"/>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A140C"/>
              </a:buClr>
              <a:buSzPts val="3000"/>
              <a:buFont typeface="Times New Roman"/>
              <a:buNone/>
            </a:pPr>
            <a:r>
              <a:rPr lang="en" sz="3000">
                <a:solidFill>
                  <a:srgbClr val="1A140C"/>
                </a:solidFill>
                <a:latin typeface="Calibri"/>
                <a:ea typeface="Calibri"/>
                <a:cs typeface="Calibri"/>
                <a:sym typeface="Calibri"/>
              </a:rPr>
              <a:t>3 Takeaways</a:t>
            </a:r>
            <a:endParaRPr i="0" sz="3000" u="none" cap="none" strike="noStrike">
              <a:solidFill>
                <a:schemeClr val="dk1"/>
              </a:solidFill>
              <a:latin typeface="Calibri"/>
              <a:ea typeface="Calibri"/>
              <a:cs typeface="Calibri"/>
              <a:sym typeface="Calibri"/>
            </a:endParaRPr>
          </a:p>
        </p:txBody>
      </p:sp>
      <p:sp>
        <p:nvSpPr>
          <p:cNvPr id="1037" name="Google Shape;1037;p25"/>
          <p:cNvSpPr/>
          <p:nvPr/>
        </p:nvSpPr>
        <p:spPr>
          <a:xfrm>
            <a:off x="1448200" y="2694161"/>
            <a:ext cx="3540900" cy="644700"/>
          </a:xfrm>
          <a:prstGeom prst="rect">
            <a:avLst/>
          </a:prstGeom>
          <a:noFill/>
          <a:ln>
            <a:noFill/>
          </a:ln>
        </p:spPr>
        <p:txBody>
          <a:bodyPr anchorCtr="0" anchor="t" bIns="17200" lIns="17200" spcFirstLastPara="1" rIns="17200" wrap="square" tIns="17200">
            <a:noAutofit/>
          </a:bodyPr>
          <a:lstStyle/>
          <a:p>
            <a:pPr indent="0" lvl="0" marL="0" marR="0" rtl="0" algn="l">
              <a:lnSpc>
                <a:spcPct val="100000"/>
              </a:lnSpc>
              <a:spcBef>
                <a:spcPts val="0"/>
              </a:spcBef>
              <a:spcAft>
                <a:spcPts val="0"/>
              </a:spcAft>
              <a:buClr>
                <a:srgbClr val="7A1F10"/>
              </a:buClr>
              <a:buSzPts val="4873"/>
              <a:buFont typeface="Times New Roman"/>
              <a:buNone/>
            </a:pPr>
            <a:r>
              <a:rPr i="0" lang="en" sz="4873" u="none" cap="none" strike="noStrike">
                <a:solidFill>
                  <a:srgbClr val="7A1F10"/>
                </a:solidFill>
                <a:latin typeface="Calibri"/>
                <a:ea typeface="Calibri"/>
                <a:cs typeface="Calibri"/>
                <a:sym typeface="Calibri"/>
              </a:rPr>
              <a:t>i</a:t>
            </a:r>
            <a:r>
              <a:rPr lang="en" sz="4873">
                <a:solidFill>
                  <a:srgbClr val="7A1F10"/>
                </a:solidFill>
                <a:latin typeface="Calibri"/>
                <a:ea typeface="Calibri"/>
                <a:cs typeface="Calibri"/>
                <a:sym typeface="Calibri"/>
              </a:rPr>
              <a:t>i</a:t>
            </a:r>
            <a:r>
              <a:rPr i="0" lang="en" sz="4873" u="none" cap="none" strike="noStrike">
                <a:solidFill>
                  <a:srgbClr val="7A1F10"/>
                </a:solidFill>
                <a:latin typeface="Calibri"/>
                <a:ea typeface="Calibri"/>
                <a:cs typeface="Calibri"/>
                <a:sym typeface="Calibri"/>
              </a:rPr>
              <a:t>. </a:t>
            </a:r>
            <a:endParaRPr i="0" sz="4873" u="none" cap="none" strike="noStrike">
              <a:solidFill>
                <a:schemeClr val="dk1"/>
              </a:solidFill>
              <a:latin typeface="Calibri"/>
              <a:ea typeface="Calibri"/>
              <a:cs typeface="Calibri"/>
              <a:sym typeface="Calibri"/>
            </a:endParaRPr>
          </a:p>
        </p:txBody>
      </p:sp>
      <p:sp>
        <p:nvSpPr>
          <p:cNvPr id="1038" name="Google Shape;1038;p25"/>
          <p:cNvSpPr/>
          <p:nvPr/>
        </p:nvSpPr>
        <p:spPr>
          <a:xfrm>
            <a:off x="2076485" y="2800750"/>
            <a:ext cx="5768700" cy="613200"/>
          </a:xfrm>
          <a:prstGeom prst="rect">
            <a:avLst/>
          </a:prstGeom>
          <a:noFill/>
          <a:ln>
            <a:noFill/>
          </a:ln>
        </p:spPr>
        <p:txBody>
          <a:bodyPr anchorCtr="0" anchor="t" bIns="17200" lIns="17200" spcFirstLastPara="1" rIns="17200" wrap="square" tIns="17200">
            <a:noAutofit/>
          </a:bodyPr>
          <a:lstStyle/>
          <a:p>
            <a:pPr indent="0" lvl="0" marL="0" rtl="0" algn="l">
              <a:lnSpc>
                <a:spcPct val="120000"/>
              </a:lnSpc>
              <a:spcBef>
                <a:spcPts val="0"/>
              </a:spcBef>
              <a:spcAft>
                <a:spcPts val="0"/>
              </a:spcAft>
              <a:buClr>
                <a:srgbClr val="1A140C"/>
              </a:buClr>
              <a:buSzPts val="1895"/>
              <a:buFont typeface="Times New Roman"/>
              <a:buNone/>
            </a:pPr>
            <a:r>
              <a:rPr i="1" lang="en" sz="1895">
                <a:solidFill>
                  <a:srgbClr val="1A140C"/>
                </a:solidFill>
                <a:latin typeface="Calibri"/>
                <a:ea typeface="Calibri"/>
                <a:cs typeface="Calibri"/>
                <a:sym typeface="Calibri"/>
              </a:rPr>
              <a:t>The signal lives mid-layer, inside the LLM itself.</a:t>
            </a:r>
            <a:endParaRPr sz="1895">
              <a:solidFill>
                <a:schemeClr val="dk1"/>
              </a:solidFill>
              <a:latin typeface="Calibri"/>
              <a:ea typeface="Calibri"/>
              <a:cs typeface="Calibri"/>
              <a:sym typeface="Calibri"/>
            </a:endParaRPr>
          </a:p>
          <a:p>
            <a:pPr indent="0" lvl="0" marL="0" rtl="0" algn="l">
              <a:lnSpc>
                <a:spcPct val="145000"/>
              </a:lnSpc>
              <a:spcBef>
                <a:spcPts val="0"/>
              </a:spcBef>
              <a:spcAft>
                <a:spcPts val="0"/>
              </a:spcAft>
              <a:buClr>
                <a:srgbClr val="4A3A28"/>
              </a:buClr>
              <a:buSzPts val="1353"/>
              <a:buFont typeface="Times New Roman"/>
              <a:buNone/>
            </a:pPr>
            <a:r>
              <a:rPr lang="en" sz="1353">
                <a:solidFill>
                  <a:srgbClr val="4A3A28"/>
                </a:solidFill>
                <a:latin typeface="Calibri"/>
                <a:ea typeface="Calibri"/>
                <a:cs typeface="Calibri"/>
                <a:sym typeface="Calibri"/>
              </a:rPr>
              <a:t>Layers 8–24 of LLaVA's attention beat random pruning, where layer 2 fails.</a:t>
            </a:r>
            <a:endParaRPr sz="1353">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1A140C"/>
              </a:buClr>
              <a:buSzPts val="1895"/>
              <a:buFont typeface="Times New Roman"/>
              <a:buNone/>
            </a:pPr>
            <a:r>
              <a:t/>
            </a:r>
            <a:endParaRPr i="1" sz="1895">
              <a:solidFill>
                <a:srgbClr val="1A140C"/>
              </a:solidFill>
              <a:latin typeface="Calibri"/>
              <a:ea typeface="Calibri"/>
              <a:cs typeface="Calibri"/>
              <a:sym typeface="Calibri"/>
            </a:endParaRPr>
          </a:p>
        </p:txBody>
      </p:sp>
      <p:sp>
        <p:nvSpPr>
          <p:cNvPr id="1039" name="Google Shape;1039;p25"/>
          <p:cNvSpPr/>
          <p:nvPr/>
        </p:nvSpPr>
        <p:spPr>
          <a:xfrm>
            <a:off x="1448217" y="3521115"/>
            <a:ext cx="3540900" cy="644700"/>
          </a:xfrm>
          <a:prstGeom prst="rect">
            <a:avLst/>
          </a:prstGeom>
          <a:noFill/>
          <a:ln>
            <a:noFill/>
          </a:ln>
        </p:spPr>
        <p:txBody>
          <a:bodyPr anchorCtr="0" anchor="t" bIns="17200" lIns="17200" spcFirstLastPara="1" rIns="17200" wrap="square" tIns="17200">
            <a:noAutofit/>
          </a:bodyPr>
          <a:lstStyle/>
          <a:p>
            <a:pPr indent="0" lvl="0" marL="0" marR="0" rtl="0" algn="l">
              <a:lnSpc>
                <a:spcPct val="100000"/>
              </a:lnSpc>
              <a:spcBef>
                <a:spcPts val="0"/>
              </a:spcBef>
              <a:spcAft>
                <a:spcPts val="0"/>
              </a:spcAft>
              <a:buClr>
                <a:srgbClr val="7A1F10"/>
              </a:buClr>
              <a:buSzPts val="4873"/>
              <a:buFont typeface="Times New Roman"/>
              <a:buNone/>
            </a:pPr>
            <a:r>
              <a:rPr i="0" lang="en" sz="4873" u="none" cap="none" strike="noStrike">
                <a:solidFill>
                  <a:srgbClr val="7A1F10"/>
                </a:solidFill>
                <a:latin typeface="Calibri"/>
                <a:ea typeface="Calibri"/>
                <a:cs typeface="Calibri"/>
                <a:sym typeface="Calibri"/>
              </a:rPr>
              <a:t>i</a:t>
            </a:r>
            <a:r>
              <a:rPr lang="en" sz="4873">
                <a:solidFill>
                  <a:srgbClr val="7A1F10"/>
                </a:solidFill>
                <a:latin typeface="Calibri"/>
                <a:ea typeface="Calibri"/>
                <a:cs typeface="Calibri"/>
                <a:sym typeface="Calibri"/>
              </a:rPr>
              <a:t>ii</a:t>
            </a:r>
            <a:r>
              <a:rPr i="0" lang="en" sz="4873" u="none" cap="none" strike="noStrike">
                <a:solidFill>
                  <a:srgbClr val="7A1F10"/>
                </a:solidFill>
                <a:latin typeface="Calibri"/>
                <a:ea typeface="Calibri"/>
                <a:cs typeface="Calibri"/>
                <a:sym typeface="Calibri"/>
              </a:rPr>
              <a:t>. </a:t>
            </a:r>
            <a:endParaRPr i="0" sz="4873" u="none" cap="none" strike="noStrike">
              <a:solidFill>
                <a:schemeClr val="dk1"/>
              </a:solidFill>
              <a:latin typeface="Calibri"/>
              <a:ea typeface="Calibri"/>
              <a:cs typeface="Calibri"/>
              <a:sym typeface="Calibri"/>
            </a:endParaRPr>
          </a:p>
        </p:txBody>
      </p:sp>
      <p:sp>
        <p:nvSpPr>
          <p:cNvPr id="1040" name="Google Shape;1040;p25"/>
          <p:cNvSpPr/>
          <p:nvPr/>
        </p:nvSpPr>
        <p:spPr>
          <a:xfrm>
            <a:off x="2076497" y="3627704"/>
            <a:ext cx="5768700" cy="613200"/>
          </a:xfrm>
          <a:prstGeom prst="rect">
            <a:avLst/>
          </a:prstGeom>
          <a:noFill/>
          <a:ln>
            <a:noFill/>
          </a:ln>
        </p:spPr>
        <p:txBody>
          <a:bodyPr anchorCtr="0" anchor="t" bIns="17200" lIns="17200" spcFirstLastPara="1" rIns="17200" wrap="square" tIns="17200">
            <a:noAutofit/>
          </a:bodyPr>
          <a:lstStyle/>
          <a:p>
            <a:pPr indent="0" lvl="0" marL="0" rtl="0" algn="l">
              <a:lnSpc>
                <a:spcPct val="120000"/>
              </a:lnSpc>
              <a:spcBef>
                <a:spcPts val="0"/>
              </a:spcBef>
              <a:spcAft>
                <a:spcPts val="0"/>
              </a:spcAft>
              <a:buClr>
                <a:srgbClr val="1A140C"/>
              </a:buClr>
              <a:buSzPts val="1895"/>
              <a:buFont typeface="Times New Roman"/>
              <a:buNone/>
            </a:pPr>
            <a:r>
              <a:rPr i="1" lang="en" sz="1895">
                <a:solidFill>
                  <a:srgbClr val="1A140C"/>
                </a:solidFill>
                <a:latin typeface="Calibri"/>
                <a:ea typeface="Calibri"/>
                <a:cs typeface="Calibri"/>
                <a:sym typeface="Calibri"/>
              </a:rPr>
              <a:t>A 1.3 M MLP can imitate that signal in 0.43 ms.</a:t>
            </a:r>
            <a:endParaRPr i="1" sz="1895">
              <a:solidFill>
                <a:srgbClr val="1A140C"/>
              </a:solidFill>
              <a:latin typeface="Calibri"/>
              <a:ea typeface="Calibri"/>
              <a:cs typeface="Calibri"/>
              <a:sym typeface="Calibri"/>
            </a:endParaRPr>
          </a:p>
          <a:p>
            <a:pPr indent="0" lvl="0" marL="0" rtl="0" algn="l">
              <a:lnSpc>
                <a:spcPct val="145000"/>
              </a:lnSpc>
              <a:spcBef>
                <a:spcPts val="0"/>
              </a:spcBef>
              <a:spcAft>
                <a:spcPts val="0"/>
              </a:spcAft>
              <a:buClr>
                <a:srgbClr val="4A3A28"/>
              </a:buClr>
              <a:buSzPts val="1353"/>
              <a:buFont typeface="Times New Roman"/>
              <a:buNone/>
            </a:pPr>
            <a:r>
              <a:rPr lang="en" sz="1353">
                <a:solidFill>
                  <a:srgbClr val="4A3A28"/>
                </a:solidFill>
                <a:latin typeface="Calibri"/>
                <a:ea typeface="Calibri"/>
                <a:cs typeface="Calibri"/>
                <a:sym typeface="Calibri"/>
              </a:rPr>
              <a:t>Recovers the unpruned baseline at one tenth the attention FLOPs, single-pass.</a:t>
            </a:r>
            <a:endParaRPr sz="1353">
              <a:solidFill>
                <a:schemeClr val="dk1"/>
              </a:solidFill>
              <a:latin typeface="Calibri"/>
              <a:ea typeface="Calibri"/>
              <a:cs typeface="Calibri"/>
              <a:sym typeface="Calibri"/>
            </a:endParaRPr>
          </a:p>
          <a:p>
            <a:pPr indent="0" lvl="0" marL="0" rtl="0" algn="l">
              <a:lnSpc>
                <a:spcPct val="145000"/>
              </a:lnSpc>
              <a:spcBef>
                <a:spcPts val="0"/>
              </a:spcBef>
              <a:spcAft>
                <a:spcPts val="0"/>
              </a:spcAft>
              <a:buClr>
                <a:srgbClr val="4A3A28"/>
              </a:buClr>
              <a:buSzPts val="1353"/>
              <a:buFont typeface="Times New Roman"/>
              <a:buNone/>
            </a:pPr>
            <a:r>
              <a:t/>
            </a:r>
            <a:endParaRPr sz="1353">
              <a:solidFill>
                <a:srgbClr val="4A3A28"/>
              </a:solidFill>
              <a:latin typeface="Calibri"/>
              <a:ea typeface="Calibri"/>
              <a:cs typeface="Calibri"/>
              <a:sym typeface="Calibri"/>
            </a:endParaRPr>
          </a:p>
          <a:p>
            <a:pPr indent="0" lvl="0" marL="0" marR="0" rtl="0" algn="l">
              <a:lnSpc>
                <a:spcPct val="120000"/>
              </a:lnSpc>
              <a:spcBef>
                <a:spcPts val="0"/>
              </a:spcBef>
              <a:spcAft>
                <a:spcPts val="0"/>
              </a:spcAft>
              <a:buClr>
                <a:srgbClr val="1A140C"/>
              </a:buClr>
              <a:buSzPts val="1895"/>
              <a:buFont typeface="Times New Roman"/>
              <a:buNone/>
            </a:pPr>
            <a:r>
              <a:t/>
            </a:r>
            <a:endParaRPr i="1" sz="1895">
              <a:solidFill>
                <a:srgbClr val="1A140C"/>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5" name="Shape 1045"/>
        <p:cNvGrpSpPr/>
        <p:nvPr/>
      </p:nvGrpSpPr>
      <p:grpSpPr>
        <a:xfrm>
          <a:off x="0" y="0"/>
          <a:ext cx="0" cy="0"/>
          <a:chOff x="0" y="0"/>
          <a:chExt cx="0" cy="0"/>
        </a:xfrm>
      </p:grpSpPr>
      <p:sp>
        <p:nvSpPr>
          <p:cNvPr id="1046" name="Google Shape;1046;p26"/>
          <p:cNvSpPr/>
          <p:nvPr/>
        </p:nvSpPr>
        <p:spPr>
          <a:xfrm>
            <a:off x="476250" y="485775"/>
            <a:ext cx="8191500" cy="4800"/>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47" name="Google Shape;1047;p26"/>
          <p:cNvSpPr/>
          <p:nvPr/>
        </p:nvSpPr>
        <p:spPr>
          <a:xfrm>
            <a:off x="476250" y="276225"/>
            <a:ext cx="8613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lang="en" sz="1200">
                <a:solidFill>
                  <a:srgbClr val="8A7A64"/>
                </a:solidFill>
                <a:latin typeface="Calibri"/>
                <a:ea typeface="Calibri"/>
                <a:cs typeface="Calibri"/>
                <a:sym typeface="Calibri"/>
              </a:rPr>
              <a:t>Demo</a:t>
            </a:r>
            <a:endParaRPr i="0" sz="1200" u="none" cap="none" strike="noStrike">
              <a:solidFill>
                <a:schemeClr val="dk1"/>
              </a:solidFill>
              <a:latin typeface="Calibri"/>
              <a:ea typeface="Calibri"/>
              <a:cs typeface="Calibri"/>
              <a:sym typeface="Calibri"/>
            </a:endParaRPr>
          </a:p>
        </p:txBody>
      </p:sp>
      <p:sp>
        <p:nvSpPr>
          <p:cNvPr id="1048" name="Google Shape;1048;p26"/>
          <p:cNvSpPr/>
          <p:nvPr/>
        </p:nvSpPr>
        <p:spPr>
          <a:xfrm>
            <a:off x="476250" y="4643438"/>
            <a:ext cx="8191500" cy="4800"/>
          </a:xfrm>
          <a:prstGeom prst="rect">
            <a:avLst/>
          </a:prstGeom>
          <a:solidFill>
            <a:srgbClr val="B8A47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049" name="Google Shape;1049;p26"/>
          <p:cNvSpPr/>
          <p:nvPr/>
        </p:nvSpPr>
        <p:spPr>
          <a:xfrm>
            <a:off x="476250" y="4743450"/>
            <a:ext cx="1375800" cy="147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Times New Roman"/>
              <a:buNone/>
            </a:pPr>
            <a:r>
              <a:rPr i="1" lang="en" sz="900" u="none" cap="none" strike="noStrike">
                <a:solidFill>
                  <a:srgbClr val="8A7A64"/>
                </a:solidFill>
                <a:latin typeface="Calibri"/>
                <a:ea typeface="Calibri"/>
                <a:cs typeface="Calibri"/>
                <a:sym typeface="Calibri"/>
              </a:rPr>
              <a:t>PAPIT · an essay in pruning</a:t>
            </a:r>
            <a:endParaRPr i="0" sz="900" u="none" cap="none" strike="noStrike">
              <a:solidFill>
                <a:schemeClr val="dk1"/>
              </a:solidFill>
              <a:latin typeface="Calibri"/>
              <a:ea typeface="Calibri"/>
              <a:cs typeface="Calibri"/>
              <a:sym typeface="Calibri"/>
            </a:endParaRPr>
          </a:p>
        </p:txBody>
      </p:sp>
      <p:sp>
        <p:nvSpPr>
          <p:cNvPr id="1050" name="Google Shape;1050;p26"/>
          <p:cNvSpPr/>
          <p:nvPr/>
        </p:nvSpPr>
        <p:spPr>
          <a:xfrm>
            <a:off x="7947645" y="4724400"/>
            <a:ext cx="758100" cy="1716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8A7A64"/>
              </a:buClr>
              <a:buSzPts val="900"/>
              <a:buFont typeface="IBM Plex Mono"/>
              <a:buNone/>
            </a:pPr>
            <a:r>
              <a:rPr i="0" lang="en" sz="900" u="none" cap="none" strike="noStrike">
                <a:solidFill>
                  <a:srgbClr val="8A7A64"/>
                </a:solidFill>
                <a:latin typeface="Calibri"/>
                <a:ea typeface="Calibri"/>
                <a:cs typeface="Calibri"/>
                <a:sym typeface="Calibri"/>
              </a:rPr>
              <a:t>10 / 10</a:t>
            </a:r>
            <a:endParaRPr i="0" sz="900" u="none" cap="none" strike="noStrike">
              <a:solidFill>
                <a:schemeClr val="dk1"/>
              </a:solidFill>
              <a:latin typeface="Calibri"/>
              <a:ea typeface="Calibri"/>
              <a:cs typeface="Calibri"/>
              <a:sym typeface="Calibri"/>
            </a:endParaRPr>
          </a:p>
        </p:txBody>
      </p:sp>
      <p:pic>
        <p:nvPicPr>
          <p:cNvPr id="1051" name="Google Shape;1051;p26" title="Screen Recording 2026-04-30 at 11.17.23 PM.mov">
            <a:hlinkClick r:id="rId3"/>
          </p:cNvPr>
          <p:cNvPicPr preferRelativeResize="0"/>
          <p:nvPr/>
        </p:nvPicPr>
        <p:blipFill>
          <a:blip r:embed="rId4">
            <a:alphaModFix/>
          </a:blip>
          <a:stretch>
            <a:fillRect/>
          </a:stretch>
        </p:blipFill>
        <p:spPr>
          <a:xfrm>
            <a:off x="1352325" y="490513"/>
            <a:ext cx="6439357" cy="41624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1"/>
                                        </p:tgtEl>
                                        <p:attrNameLst>
                                          <p:attrName>style.visibility</p:attrName>
                                        </p:attrNameLst>
                                      </p:cBhvr>
                                      <p:to>
                                        <p:strVal val="visible"/>
                                      </p:to>
                                    </p:set>
                                    <p:animEffect filter="fade" transition="in">
                                      <p:cBhvr>
                                        <p:cTn dur="1000"/>
                                        <p:tgtEl>
                                          <p:spTgt spid="10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